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4"/>
  </p:sldMasterIdLst>
  <p:notesMasterIdLst>
    <p:notesMasterId r:id="rId19"/>
  </p:notesMasterIdLst>
  <p:sldIdLst>
    <p:sldId id="274" r:id="rId5"/>
    <p:sldId id="256" r:id="rId6"/>
    <p:sldId id="257" r:id="rId7"/>
    <p:sldId id="269" r:id="rId8"/>
    <p:sldId id="268" r:id="rId9"/>
    <p:sldId id="273" r:id="rId10"/>
    <p:sldId id="275" r:id="rId11"/>
    <p:sldId id="277" r:id="rId12"/>
    <p:sldId id="276" r:id="rId13"/>
    <p:sldId id="272" r:id="rId14"/>
    <p:sldId id="271" r:id="rId15"/>
    <p:sldId id="270" r:id="rId16"/>
    <p:sldId id="265" r:id="rId17"/>
    <p:sldId id="266"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7" d="100"/>
          <a:sy n="77" d="100"/>
        </p:scale>
        <p:origin x="163"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399B6F38-D768-A670-DEF3-8469058A8BC5}"/>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ABCA4031-CC8F-236D-A27B-EA7F87420E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85DF2172-DEF1-9770-F577-039FE97135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77616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517255E8-76FD-C420-1987-D13B1E67A4A6}"/>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29260288-5C20-329D-9AB3-D8C410F70E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17C5EB74-31E0-ABB2-15A4-4FB1F28C8EE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36653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95D514E0-B1BE-2630-77D3-31C095E36194}"/>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99E4099B-7B1F-A0FA-3ABB-CE9838C0278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6E08A7C6-D14D-41A9-F2DD-738662370A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33383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1_Title Slide">
    <p:spTree>
      <p:nvGrpSpPr>
        <p:cNvPr id="1" name=""/>
        <p:cNvGrpSpPr/>
        <p:nvPr/>
      </p:nvGrpSpPr>
      <p:grpSpPr>
        <a:xfrm>
          <a:off x="0" y="0"/>
          <a:ext cx="0" cy="0"/>
          <a:chOff x="0" y="0"/>
          <a:chExt cx="0" cy="0"/>
        </a:xfrm>
      </p:grpSpPr>
      <p:sp>
        <p:nvSpPr>
          <p:cNvPr id="14" name="Slide Number"/>
          <p:cNvSpPr txBox="1">
            <a:spLocks noGrp="1"/>
          </p:cNvSpPr>
          <p:nvPr>
            <p:ph type="sldNum" sz="quarter" idx="2"/>
          </p:nvPr>
        </p:nvSpPr>
        <p:spPr>
          <a:prstGeom prst="rect">
            <a:avLst/>
          </a:prstGeom>
        </p:spPr>
        <p:txBody>
          <a:bodyPr/>
          <a:lstStyle/>
          <a:p>
            <a:fld id="{86CB4B4D-7CA3-9044-876B-883B54F8677D}" type="slidenum">
              <a:t>‹#›</a:t>
            </a:fld>
            <a:endParaRPr/>
          </a:p>
        </p:txBody>
      </p:sp>
      <p:pic>
        <p:nvPicPr>
          <p:cNvPr id="9" name="Picture 8">
            <a:extLst>
              <a:ext uri="{FF2B5EF4-FFF2-40B4-BE49-F238E27FC236}">
                <a16:creationId xmlns:a16="http://schemas.microsoft.com/office/drawing/2014/main" id="{FDA50E9A-5B29-3F48-C37D-89C17238E29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391275"/>
            <a:ext cx="12192000" cy="466725"/>
          </a:xfrm>
          <a:prstGeom prst="rect">
            <a:avLst/>
          </a:prstGeom>
        </p:spPr>
      </p:pic>
    </p:spTree>
    <p:extLst>
      <p:ext uri="{BB962C8B-B14F-4D97-AF65-F5344CB8AC3E}">
        <p14:creationId xmlns:p14="http://schemas.microsoft.com/office/powerpoint/2010/main" val="2148158555"/>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4">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github.com/HarshilxAI/Emergency-Shelter-Allocation-Platfor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doi.org/10.1109/MIS.2015.39" TargetMode="External"/><Relationship Id="rId4" Type="http://schemas.openxmlformats.org/officeDocument/2006/relationships/hyperlink" Target="https://doi.org/10.1109/TC.2016.2601331" TargetMode="External"/><Relationship Id="rId5" Type="http://schemas.openxmlformats.org/officeDocument/2006/relationships/hyperlink" Target="https://doi.org/10.1109/ACCESS.2020.2991865" TargetMode="External"/><Relationship Id="rId6" Type="http://schemas.openxmlformats.org/officeDocument/2006/relationships/hyperlink" Target="https://doi.org/10.1109/ACCESS.2025.3573207" TargetMode="External"/><Relationship Id="rId7" Type="http://schemas.openxmlformats.org/officeDocument/2006/relationships/hyperlink" Target="https://doi.org/10.1109/TEM.2020.3015775" TargetMode="External"/><Relationship Id="rId8" Type="http://schemas.openxmlformats.org/officeDocument/2006/relationships/hyperlink" Target="https://doi.org/10.1109/SSME.2009.80" TargetMode="External"/><Relationship Id="rId9" Type="http://schemas.openxmlformats.org/officeDocument/2006/relationships/hyperlink" Target="https://doi.org/10.1109/ICORIS56080.2022.10031495" TargetMode="External"/><Relationship Id="rId10" Type="http://schemas.openxmlformats.org/officeDocument/2006/relationships/hyperlink" Target="https://doi.org/10.1109/ICITM.2019.8710729" TargetMode="External"/><Relationship Id="rId11" Type="http://schemas.openxmlformats.org/officeDocument/2006/relationships/hyperlink" Target="https://doi.org/10.1109/TEM.2022.3227329" TargetMode="External"/><Relationship Id="rId12" Type="http://schemas.openxmlformats.org/officeDocument/2006/relationships/hyperlink" Target="https://doi.org/10.1109/ICSCAI61790.2024.10866107" TargetMode="External"/><Relationship Id="rId13" Type="http://schemas.openxmlformats.org/officeDocument/2006/relationships/hyperlink" Target="https://www.indeed.com/career-advice/career-development/how-to-cite-a-research-paper"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CC2DD66-7A7B-3141-248C-33B219894259}"/>
              </a:ext>
            </a:extLst>
          </p:cNvPr>
          <p:cNvPicPr>
            <a:picLocks noChangeAspect="1"/>
          </p:cNvPicPr>
          <p:nvPr/>
        </p:nvPicPr>
        <p:blipFill>
          <a:blip r:embed="rId2"/>
          <a:stretch>
            <a:fillRect/>
          </a:stretch>
        </p:blipFill>
        <p:spPr>
          <a:xfrm>
            <a:off x="-72887" y="-20500"/>
            <a:ext cx="12264887" cy="6898999"/>
          </a:xfrm>
          <a:prstGeom prst="rect">
            <a:avLst/>
          </a:prstGeom>
        </p:spPr>
      </p:pic>
      <p:sp>
        <p:nvSpPr>
          <p:cNvPr id="200" name="TextBox 5"/>
          <p:cNvSpPr txBox="1">
            <a:spLocks noGrp="1"/>
          </p:cNvSpPr>
          <p:nvPr>
            <p:ph type="sldNum" sz="quarter" idx="2"/>
          </p:nvPr>
        </p:nvSpPr>
        <p:spPr>
          <a:xfrm>
            <a:off x="11396678" y="454968"/>
            <a:ext cx="162863" cy="24622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a:t>
            </a:fld>
            <a:endParaRPr/>
          </a:p>
        </p:txBody>
      </p:sp>
      <p:pic>
        <p:nvPicPr>
          <p:cNvPr id="3" name="Picture 2">
            <a:extLst>
              <a:ext uri="{FF2B5EF4-FFF2-40B4-BE49-F238E27FC236}">
                <a16:creationId xmlns:a16="http://schemas.microsoft.com/office/drawing/2014/main" id="{99BBA17B-3BC2-6BF3-E9AA-D4BFBC2AD5B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6283" y="380240"/>
            <a:ext cx="1378341" cy="298744"/>
          </a:xfrm>
          <a:prstGeom prst="rect">
            <a:avLst/>
          </a:prstGeom>
        </p:spPr>
      </p:pic>
      <p:pic>
        <p:nvPicPr>
          <p:cNvPr id="10" name="Picture 9">
            <a:extLst>
              <a:ext uri="{FF2B5EF4-FFF2-40B4-BE49-F238E27FC236}">
                <a16:creationId xmlns:a16="http://schemas.microsoft.com/office/drawing/2014/main" id="{379FE14F-095F-73F1-B975-3CCBF67C0CA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440771"/>
            <a:ext cx="12192000" cy="469900"/>
          </a:xfrm>
          <a:prstGeom prst="rect">
            <a:avLst/>
          </a:prstGeom>
        </p:spPr>
      </p:pic>
      <p:pic>
        <p:nvPicPr>
          <p:cNvPr id="6" name="Graphic 5">
            <a:extLst>
              <a:ext uri="{FF2B5EF4-FFF2-40B4-BE49-F238E27FC236}">
                <a16:creationId xmlns:a16="http://schemas.microsoft.com/office/drawing/2014/main" id="{75EEC80A-389A-0914-B331-80471CDD528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81615" y="52673"/>
            <a:ext cx="7779079" cy="1309350"/>
          </a:xfrm>
          <a:prstGeom prst="rect">
            <a:avLst/>
          </a:prstGeom>
        </p:spPr>
      </p:pic>
      <p:sp>
        <p:nvSpPr>
          <p:cNvPr id="16" name="Rounded Rectangle 2">
            <a:extLst>
              <a:ext uri="{FF2B5EF4-FFF2-40B4-BE49-F238E27FC236}">
                <a16:creationId xmlns:a16="http://schemas.microsoft.com/office/drawing/2014/main" id="{EC0F06BD-D995-B09D-2B28-06CD559DF695}"/>
              </a:ext>
            </a:extLst>
          </p:cNvPr>
          <p:cNvSpPr/>
          <p:nvPr/>
        </p:nvSpPr>
        <p:spPr>
          <a:xfrm>
            <a:off x="-72888" y="5569149"/>
            <a:ext cx="12264887" cy="1309350"/>
          </a:xfrm>
          <a:prstGeom prst="roundRect">
            <a:avLst/>
          </a:prstGeom>
          <a:solidFill>
            <a:srgbClr val="08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18" name="TextBox 17">
            <a:extLst>
              <a:ext uri="{FF2B5EF4-FFF2-40B4-BE49-F238E27FC236}">
                <a16:creationId xmlns:a16="http://schemas.microsoft.com/office/drawing/2014/main" id="{25FAE776-B1B4-1F6F-0EE9-2D02B291CE9E}"/>
              </a:ext>
            </a:extLst>
          </p:cNvPr>
          <p:cNvSpPr txBox="1"/>
          <p:nvPr/>
        </p:nvSpPr>
        <p:spPr>
          <a:xfrm>
            <a:off x="4748252" y="5447308"/>
            <a:ext cx="2860077" cy="769441"/>
          </a:xfrm>
          <a:prstGeom prst="rect">
            <a:avLst/>
          </a:prstGeom>
          <a:noFill/>
        </p:spPr>
        <p:txBody>
          <a:bodyPr wrap="none" anchor="ctr">
            <a:spAutoFit/>
          </a:bodyPr>
          <a:lstStyle/>
          <a:p>
            <a:pPr algn="ctr">
              <a:defRPr sz="3100" b="1">
                <a:solidFill>
                  <a:srgbClr val="FFFFFF"/>
                </a:solidFill>
                <a:latin typeface="Aptos Display"/>
              </a:defRPr>
            </a:pPr>
            <a:r>
              <a:rPr sz="4400" dirty="0"/>
              <a:t>Presidency</a:t>
            </a:r>
          </a:p>
        </p:txBody>
      </p:sp>
      <p:sp>
        <p:nvSpPr>
          <p:cNvPr id="20" name="Rectangle 19">
            <a:extLst>
              <a:ext uri="{FF2B5EF4-FFF2-40B4-BE49-F238E27FC236}">
                <a16:creationId xmlns:a16="http://schemas.microsoft.com/office/drawing/2014/main" id="{540268FC-2D4B-1595-4CC0-BF00B3A0E047}"/>
              </a:ext>
            </a:extLst>
          </p:cNvPr>
          <p:cNvSpPr/>
          <p:nvPr/>
        </p:nvSpPr>
        <p:spPr>
          <a:xfrm>
            <a:off x="4837363" y="6139774"/>
            <a:ext cx="2646802" cy="45719"/>
          </a:xfrm>
          <a:prstGeom prst="rect">
            <a:avLst/>
          </a:prstGeom>
          <a:solidFill>
            <a:srgbClr val="F4B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C3EFB6EA-449F-B759-D837-A2CDBD5E10E2}"/>
              </a:ext>
            </a:extLst>
          </p:cNvPr>
          <p:cNvSpPr txBox="1"/>
          <p:nvPr/>
        </p:nvSpPr>
        <p:spPr>
          <a:xfrm>
            <a:off x="2353623" y="6178261"/>
            <a:ext cx="7961243" cy="584775"/>
          </a:xfrm>
          <a:prstGeom prst="rect">
            <a:avLst/>
          </a:prstGeom>
          <a:noFill/>
        </p:spPr>
        <p:txBody>
          <a:bodyPr wrap="square" anchor="ctr">
            <a:spAutoFit/>
          </a:bodyPr>
          <a:lstStyle/>
          <a:p>
            <a:pPr algn="l">
              <a:defRPr sz="2000" b="1">
                <a:solidFill>
                  <a:srgbClr val="FFFFFF"/>
                </a:solidFill>
                <a:latin typeface="Aptos Display"/>
              </a:defRPr>
            </a:pPr>
            <a:r>
              <a:rPr sz="3200" dirty="0"/>
              <a:t>School of Computer Science</a:t>
            </a:r>
            <a:r>
              <a:rPr lang="en-IN" sz="3200" dirty="0"/>
              <a:t> </a:t>
            </a:r>
            <a:r>
              <a:rPr sz="3200" dirty="0"/>
              <a:t>and Engineering</a:t>
            </a:r>
          </a:p>
        </p:txBody>
      </p:sp>
      <p:sp>
        <p:nvSpPr>
          <p:cNvPr id="24" name="Rectangle 23">
            <a:extLst>
              <a:ext uri="{FF2B5EF4-FFF2-40B4-BE49-F238E27FC236}">
                <a16:creationId xmlns:a16="http://schemas.microsoft.com/office/drawing/2014/main" id="{84E6A419-D98D-646B-0945-71577D3C9949}"/>
              </a:ext>
            </a:extLst>
          </p:cNvPr>
          <p:cNvSpPr/>
          <p:nvPr/>
        </p:nvSpPr>
        <p:spPr>
          <a:xfrm flipV="1">
            <a:off x="2477862" y="6717317"/>
            <a:ext cx="7712764" cy="45719"/>
          </a:xfrm>
          <a:prstGeom prst="rect">
            <a:avLst/>
          </a:prstGeom>
          <a:solidFill>
            <a:srgbClr val="F4B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BD844D43-4EA8-BF96-7FC3-15A05CEA246A}"/>
              </a:ext>
            </a:extLst>
          </p:cNvPr>
          <p:cNvSpPr txBox="1"/>
          <p:nvPr/>
        </p:nvSpPr>
        <p:spPr>
          <a:xfrm>
            <a:off x="4072463" y="1168079"/>
            <a:ext cx="4240263" cy="1569660"/>
          </a:xfrm>
          <a:prstGeom prst="rect">
            <a:avLst/>
          </a:prstGeom>
          <a:noFill/>
        </p:spPr>
        <p:txBody>
          <a:bodyPr wrap="none" anchor="ctr">
            <a:spAutoFit/>
          </a:bodyPr>
          <a:lstStyle/>
          <a:p>
            <a:pPr algn="ctr">
              <a:defRPr sz="3100" b="1">
                <a:solidFill>
                  <a:srgbClr val="FFFFFF"/>
                </a:solidFill>
                <a:latin typeface="Aptos Display"/>
              </a:defRPr>
            </a:pPr>
            <a:r>
              <a:rPr lang="en-IN" sz="3200" dirty="0">
                <a:solidFill>
                  <a:srgbClr val="002060"/>
                </a:solidFill>
              </a:rPr>
              <a:t>Mini Project (CSE7102)</a:t>
            </a:r>
          </a:p>
          <a:p>
            <a:pPr algn="ctr">
              <a:defRPr sz="3100" b="1">
                <a:solidFill>
                  <a:srgbClr val="FFFFFF"/>
                </a:solidFill>
                <a:latin typeface="Aptos Display"/>
              </a:defRPr>
            </a:pPr>
            <a:r>
              <a:rPr lang="en-IN" sz="3200" dirty="0">
                <a:solidFill>
                  <a:srgbClr val="002060"/>
                </a:solidFill>
              </a:rPr>
              <a:t>REVIEW-1</a:t>
            </a:r>
          </a:p>
          <a:p>
            <a:pPr algn="ctr">
              <a:defRPr sz="3100" b="1">
                <a:solidFill>
                  <a:srgbClr val="FFFFFF"/>
                </a:solidFill>
                <a:latin typeface="Aptos Display"/>
              </a:defRPr>
            </a:pPr>
            <a:r>
              <a:rPr lang="en-IN" sz="3200" dirty="0">
                <a:solidFill>
                  <a:srgbClr val="002060"/>
                </a:solidFill>
              </a:rPr>
              <a:t>29-08-2026</a:t>
            </a:r>
            <a:endParaRPr sz="3200" dirty="0">
              <a:solidFill>
                <a:srgbClr val="002060"/>
              </a:solidFill>
            </a:endParaRPr>
          </a:p>
        </p:txBody>
      </p:sp>
    </p:spTree>
    <p:extLst>
      <p:ext uri="{BB962C8B-B14F-4D97-AF65-F5344CB8AC3E}">
        <p14:creationId xmlns:p14="http://schemas.microsoft.com/office/powerpoint/2010/main" val="1466048090"/>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51140" y="951239"/>
            <a:ext cx="10363200" cy="898047"/>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sz="2600" b="1">
                <a:solidFill>
                  <a:srgbClr val="000000"/>
                </a:solidFill>
                <a:latin typeface="Cambria"/>
              </a:rPr>
              <a:t>EMERGENCY SHELTER ALLOCATION PLATFORM</a:t>
            </a:r>
            <a:endParaRPr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553347" y="1709355"/>
            <a:ext cx="3970500"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sz="1800" b="1">
                <a:solidFill>
                  <a:srgbClr val="0C365C"/>
                </a:solidFill>
                <a:latin typeface="Cambria"/>
              </a:rPr>
              <a:t>Project ID:</a:t>
            </a:r>
            <a:endParaRPr dirty="0">
              <a:latin typeface="Cambria" panose="02040503050406030204" pitchFamily="18" charset="0"/>
              <a:ea typeface="Cambria" panose="02040503050406030204" pitchFamily="18" charset="0"/>
            </a:endParaRPr>
          </a:p>
        </p:txBody>
      </p:sp>
      <p:graphicFrame>
        <p:nvGraphicFramePr>
          <p:cNvPr id="89" name="Google Shape;89;p13"/>
          <p:cNvGraphicFramePr/>
          <p:nvPr>
            <p:extLst>
              <p:ext uri="{D42A27DB-BD31-4B8C-83A1-F6EECF244321}">
                <p14:modId xmlns:p14="http://schemas.microsoft.com/office/powerpoint/2010/main" val="599362439"/>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sz="1700" b="1">
                <a:solidFill>
                  <a:srgbClr val="0C365C"/>
                </a:solidFill>
                <a:latin typeface="Cambria"/>
              </a:rPr>
              <a:t>Under the Supervision of,
Irfan Rajab Bhatt
Associate Professor
School of Computer Science and Engineering
Presidency University</a:t>
            </a:r>
            <a:endParaRPr dirty="0">
              <a:latin typeface="Cambria" panose="02040503050406030204" pitchFamily="18" charset="0"/>
              <a:ea typeface="Cambria" panose="02040503050406030204" pitchFamily="18" charset="0"/>
            </a:endParaRPr>
          </a:p>
        </p:txBody>
      </p:sp>
      <p:sp>
        <p:nvSpPr>
          <p:cNvPr id="91" name="Google Shape;91;p13"/>
          <p:cNvSpPr txBox="1"/>
          <p:nvPr/>
        </p:nvSpPr>
        <p:spPr>
          <a:xfrm>
            <a:off x="3986771" y="334089"/>
            <a:ext cx="5425083" cy="552300"/>
          </a:xfrm>
          <a:prstGeom prst="rect">
            <a:avLst/>
          </a:prstGeom>
          <a:noFill/>
          <a:ln>
            <a:noFill/>
          </a:ln>
        </p:spPr>
        <p:txBody>
          <a:bodyPr spcFirstLastPara="1" wrap="square" lIns="91425" tIns="45700" rIns="91425" bIns="45700" anchor="t" anchorCtr="0">
            <a:normAutofit/>
          </a:bodyPr>
          <a:lstStyle/>
          <a:p>
            <a:pPr marL="0" marR="0" lvl="0" indent="0" rtl="0">
              <a:spcBef>
                <a:spcPts val="0"/>
              </a:spcBef>
              <a:spcAft>
                <a:spcPts val="0"/>
              </a:spcAft>
              <a:buClr>
                <a:srgbClr val="17365D"/>
              </a:buClr>
              <a:buSzPct val="100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CSS7102- Mini  Project Review-1</a:t>
            </a: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199449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sz="1500" b="1">
                <a:solidFill>
                  <a:srgbClr val="4B7EBE"/>
                </a:solidFill>
                <a:latin typeface="Cambria"/>
              </a:rPr>
              <a:t>Name of the Program(s): Emergency Shelter Allocation Platform
Name of the HoD (Team Leader’s): Dr. Gopal K Shyam
Name of the Program Project Coordinator (Team Leader’s):
Name of the School Project Coordinators: Mr. Muthuraju V</a:t>
            </a:r>
          </a:p>
        </p:txBody>
      </p:sp>
      <p:graphicFrame>
        <p:nvGraphicFramePr>
          <p:cNvPr id="2" name="Table 1">
            <a:extLst>
              <a:ext uri="{FF2B5EF4-FFF2-40B4-BE49-F238E27FC236}">
                <a16:creationId xmlns:a16="http://schemas.microsoft.com/office/drawing/2014/main" id="{67669B82-28E1-6B84-884A-EF2B68034CD5}"/>
              </a:ext>
            </a:extLst>
          </p:cNvPr>
          <p:cNvGraphicFramePr>
            <a:graphicFrameLocks noGrp="1"/>
          </p:cNvGraphicFramePr>
          <p:nvPr>
            <p:extLst>
              <p:ext uri="{D42A27DB-BD31-4B8C-83A1-F6EECF244321}">
                <p14:modId xmlns:p14="http://schemas.microsoft.com/office/powerpoint/2010/main" val="4238291382"/>
              </p:ext>
            </p:extLst>
          </p:nvPr>
        </p:nvGraphicFramePr>
        <p:xfrm>
          <a:off x="429369" y="2820448"/>
          <a:ext cx="5542653" cy="1483360"/>
        </p:xfrm>
        <a:graphic>
          <a:graphicData uri="http://schemas.openxmlformats.org/drawingml/2006/table">
            <a:tbl>
              <a:tblPr firstRow="1" bandRow="1"/>
              <a:tblGrid>
                <a:gridCol w="659051">
                  <a:extLst>
                    <a:ext uri="{9D8B030D-6E8A-4147-A177-3AD203B41FA5}">
                      <a16:colId xmlns:a16="http://schemas.microsoft.com/office/drawing/2014/main" val="3892496743"/>
                    </a:ext>
                  </a:extLst>
                </a:gridCol>
                <a:gridCol w="2897486">
                  <a:extLst>
                    <a:ext uri="{9D8B030D-6E8A-4147-A177-3AD203B41FA5}">
                      <a16:colId xmlns:a16="http://schemas.microsoft.com/office/drawing/2014/main" val="1797090138"/>
                    </a:ext>
                  </a:extLst>
                </a:gridCol>
                <a:gridCol w="1986116">
                  <a:extLst>
                    <a:ext uri="{9D8B030D-6E8A-4147-A177-3AD203B41FA5}">
                      <a16:colId xmlns:a16="http://schemas.microsoft.com/office/drawing/2014/main" val="2191578378"/>
                    </a:ext>
                  </a:extLst>
                </a:gridCol>
              </a:tblGrid>
              <a:tr h="370840">
                <a:tc>
                  <a:txBody>
                    <a:bodyPr/>
                    <a:lstStyle/>
                    <a:p>
                      <a:pPr algn="ctr"/>
                      <a:r>
                        <a:rPr lang="en-IN" b="1" dirty="0" err="1"/>
                        <a:t>Sl.No</a:t>
                      </a:r>
                      <a:endParaRPr lang="en-GB" b="1" dirty="0"/>
                    </a:p>
                  </a:txBody>
                  <a:tcPr/>
                </a:tc>
                <a:tc>
                  <a:txBody>
                    <a:bodyPr/>
                    <a:lstStyle/>
                    <a:p>
                      <a:pPr algn="ctr"/>
                      <a:r>
                        <a:rPr lang="en-IN" b="1" dirty="0"/>
                        <a:t>Student Name</a:t>
                      </a:r>
                      <a:endParaRPr lang="en-GB" b="1" dirty="0"/>
                    </a:p>
                  </a:txBody>
                  <a:tcPr/>
                </a:tc>
                <a:tc>
                  <a:txBody>
                    <a:bodyPr/>
                    <a:lstStyle/>
                    <a:p>
                      <a:pPr algn="ctr"/>
                      <a:r>
                        <a:rPr lang="en-IN" b="1" dirty="0"/>
                        <a:t>Roll Number</a:t>
                      </a:r>
                      <a:endParaRPr lang="en-GB" b="1" dirty="0"/>
                    </a:p>
                  </a:txBody>
                  <a:tcPr/>
                </a:tc>
                <a:extLst>
                  <a:ext uri="{0D108BD9-81ED-4DB2-BD59-A6C34878D82A}">
                    <a16:rowId xmlns:a16="http://schemas.microsoft.com/office/drawing/2014/main" val="3700901227"/>
                  </a:ext>
                </a:extLst>
              </a:tr>
              <a:tr h="370840">
                <a:tc>
                  <a:txBody>
                    <a:bodyPr/>
                    <a:lstStyle/>
                    <a:p>
                      <a:pPr algn="ctr"/>
                      <a:r>
                        <a:rPr sz="1200" b="0">
                          <a:latin typeface="Cambria"/>
                        </a:rPr>
                        <a:t>1</a:t>
                      </a:r>
                    </a:p>
                  </a:txBody>
                  <a:tcPr/>
                </a:tc>
                <a:tc>
                  <a:txBody>
                    <a:bodyPr/>
                    <a:lstStyle/>
                    <a:p>
                      <a:pPr algn="l"/>
                      <a:r>
                        <a:rPr sz="1200" b="0">
                          <a:latin typeface="Cambria"/>
                        </a:rPr>
                        <a:t>Sharan Poojari</a:t>
                      </a:r>
                    </a:p>
                  </a:txBody>
                  <a:tcPr/>
                </a:tc>
                <a:tc>
                  <a:txBody>
                    <a:bodyPr/>
                    <a:lstStyle/>
                    <a:p>
                      <a:pPr algn="ctr"/>
                      <a:r>
                        <a:rPr sz="1200" b="0">
                          <a:latin typeface="Cambria"/>
                        </a:rPr>
                        <a:t>20231ISE0089</a:t>
                      </a:r>
                    </a:p>
                  </a:txBody>
                  <a:tcPr/>
                </a:tc>
                <a:extLst>
                  <a:ext uri="{0D108BD9-81ED-4DB2-BD59-A6C34878D82A}">
                    <a16:rowId xmlns:a16="http://schemas.microsoft.com/office/drawing/2014/main" val="2510047620"/>
                  </a:ext>
                </a:extLst>
              </a:tr>
              <a:tr h="370840">
                <a:tc>
                  <a:txBody>
                    <a:bodyPr/>
                    <a:lstStyle/>
                    <a:p>
                      <a:pPr algn="ctr"/>
                      <a:r>
                        <a:rPr sz="1200" b="0">
                          <a:latin typeface="Cambria"/>
                        </a:rPr>
                        <a:t>2</a:t>
                      </a:r>
                    </a:p>
                  </a:txBody>
                  <a:tcPr/>
                </a:tc>
                <a:tc>
                  <a:txBody>
                    <a:bodyPr/>
                    <a:lstStyle/>
                    <a:p>
                      <a:pPr algn="l"/>
                      <a:r>
                        <a:rPr sz="1200" b="0">
                          <a:latin typeface="Cambria"/>
                        </a:rPr>
                        <a:t>Suhas S Kattimani</a:t>
                      </a:r>
                    </a:p>
                  </a:txBody>
                  <a:tcPr/>
                </a:tc>
                <a:tc>
                  <a:txBody>
                    <a:bodyPr/>
                    <a:lstStyle/>
                    <a:p>
                      <a:pPr algn="ctr"/>
                      <a:r>
                        <a:rPr sz="1200" b="0">
                          <a:latin typeface="Cambria"/>
                        </a:rPr>
                        <a:t>20231ISE0090</a:t>
                      </a:r>
                    </a:p>
                  </a:txBody>
                  <a:tcPr/>
                </a:tc>
                <a:extLst>
                  <a:ext uri="{0D108BD9-81ED-4DB2-BD59-A6C34878D82A}">
                    <a16:rowId xmlns:a16="http://schemas.microsoft.com/office/drawing/2014/main" val="1024758356"/>
                  </a:ext>
                </a:extLst>
              </a:tr>
              <a:tr h="370840">
                <a:tc>
                  <a:txBody>
                    <a:bodyPr/>
                    <a:lstStyle/>
                    <a:p>
                      <a:pPr algn="ctr"/>
                      <a:r>
                        <a:rPr sz="1200" b="0">
                          <a:latin typeface="Cambria"/>
                        </a:rPr>
                        <a:t>3</a:t>
                      </a:r>
                    </a:p>
                  </a:txBody>
                  <a:tcPr/>
                </a:tc>
                <a:tc>
                  <a:txBody>
                    <a:bodyPr/>
                    <a:lstStyle/>
                    <a:p>
                      <a:pPr algn="l"/>
                      <a:r>
                        <a:rPr sz="1200" b="0">
                          <a:latin typeface="Cambria"/>
                        </a:rPr>
                        <a:t>Harshil Gurjar</a:t>
                      </a:r>
                    </a:p>
                  </a:txBody>
                  <a:tcPr/>
                </a:tc>
                <a:tc>
                  <a:txBody>
                    <a:bodyPr/>
                    <a:lstStyle/>
                    <a:p>
                      <a:pPr algn="ctr"/>
                      <a:r>
                        <a:rPr sz="1200" b="0">
                          <a:latin typeface="Cambria"/>
                        </a:rPr>
                        <a:t>20231ISE0056</a:t>
                      </a:r>
                    </a:p>
                  </a:txBody>
                  <a:tcPr/>
                </a:tc>
                <a:extLst>
                  <a:ext uri="{0D108BD9-81ED-4DB2-BD59-A6C34878D82A}">
                    <a16:rowId xmlns:a16="http://schemas.microsoft.com/office/drawing/2014/main" val="2664575553"/>
                  </a:ext>
                </a:extLst>
              </a:tr>
            </a:tbl>
          </a:graphicData>
        </a:graphic>
      </p:graphicFrame>
      <p:sp>
        <p:nvSpPr>
          <p:cNvPr id="4" name="TextBox 3">
            <a:extLst>
              <a:ext uri="{FF2B5EF4-FFF2-40B4-BE49-F238E27FC236}">
                <a16:creationId xmlns:a16="http://schemas.microsoft.com/office/drawing/2014/main" id="{8ADAAE0D-9E2B-1BC4-51AE-E3E0CC59230D}"/>
              </a:ext>
            </a:extLst>
          </p:cNvPr>
          <p:cNvSpPr txBox="1"/>
          <p:nvPr/>
        </p:nvSpPr>
        <p:spPr>
          <a:xfrm>
            <a:off x="429369" y="2330214"/>
            <a:ext cx="6159910" cy="400110"/>
          </a:xfrm>
          <a:prstGeom prst="rect">
            <a:avLst/>
          </a:prstGeom>
          <a:noFill/>
        </p:spPr>
        <p:txBody>
          <a:bodyPr wrap="square">
            <a:spAutoFit/>
          </a:bodyPr>
          <a:lstStyle/>
          <a:p>
            <a:pPr marL="0" lvl="0" indent="0" algn="l" rtl="0">
              <a:spcBef>
                <a:spcPts val="0"/>
              </a:spcBef>
              <a:spcAft>
                <a:spcPts val="0"/>
              </a:spcAft>
              <a:buClr>
                <a:srgbClr val="17365D"/>
              </a:buClr>
              <a:buSzPts val="2000"/>
              <a:buNone/>
            </a:pPr>
            <a:r>
              <a:rPr sz="1700" b="1">
                <a:solidFill>
                  <a:srgbClr val="0C365C"/>
                </a:solidFill>
                <a:latin typeface="Cambria"/>
              </a:rPr>
              <a:t>Group members details:</a:t>
            </a:r>
          </a:p>
        </p:txBody>
      </p:sp>
      <p:sp>
        <p:nvSpPr>
          <p:cNvPr id="5" name="Google Shape;88;p13">
            <a:extLst>
              <a:ext uri="{FF2B5EF4-FFF2-40B4-BE49-F238E27FC236}">
                <a16:creationId xmlns:a16="http://schemas.microsoft.com/office/drawing/2014/main" id="{C68A9A96-FA24-D641-CFDC-9A25FFD27478}"/>
              </a:ext>
            </a:extLst>
          </p:cNvPr>
          <p:cNvSpPr txBox="1">
            <a:spLocks/>
          </p:cNvSpPr>
          <p:nvPr/>
        </p:nvSpPr>
        <p:spPr>
          <a:xfrm>
            <a:off x="7668155" y="1709355"/>
            <a:ext cx="3970500" cy="552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ctr" rtl="0">
              <a:lnSpc>
                <a:spcPct val="100000"/>
              </a:lnSpc>
              <a:spcBef>
                <a:spcPts val="400"/>
              </a:spcBef>
              <a:spcAft>
                <a:spcPts val="0"/>
              </a:spcAft>
              <a:buClr>
                <a:srgbClr val="17365D"/>
              </a:buClr>
              <a:buSzPts val="2000"/>
              <a:buFont typeface="Arial"/>
              <a:buNone/>
              <a:defRPr sz="2000" b="1" i="0" u="none" strike="noStrike" cap="none">
                <a:solidFill>
                  <a:srgbClr val="17365D"/>
                </a:solidFill>
                <a:latin typeface="Verdana"/>
                <a:ea typeface="Verdana"/>
                <a:cs typeface="Verdana"/>
                <a:sym typeface="Verdana"/>
              </a:defRPr>
            </a:lvl1pPr>
            <a:lvl2pPr marL="914400" marR="0" lvl="1"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Verdana"/>
                <a:ea typeface="Verdana"/>
                <a:cs typeface="Verdana"/>
                <a:sym typeface="Verdana"/>
              </a:defRPr>
            </a:lvl2pPr>
            <a:lvl3pPr marL="1371600" marR="0" lvl="2" indent="-342900" algn="ctr"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Verdana"/>
                <a:ea typeface="Verdana"/>
                <a:cs typeface="Verdana"/>
                <a:sym typeface="Verdana"/>
              </a:defRPr>
            </a:lvl3pPr>
            <a:lvl4pPr marL="1828800" marR="0" lvl="3" indent="-330200" algn="ctr" rtl="0">
              <a:lnSpc>
                <a:spcPct val="100000"/>
              </a:lnSpc>
              <a:spcBef>
                <a:spcPts val="320"/>
              </a:spcBef>
              <a:spcAft>
                <a:spcPts val="0"/>
              </a:spcAft>
              <a:buClr>
                <a:srgbClr val="888888"/>
              </a:buClr>
              <a:buSzPts val="1600"/>
              <a:buFont typeface="Arial"/>
              <a:buNone/>
              <a:defRPr sz="1600" b="0" i="0" u="none" strike="noStrike" cap="none">
                <a:solidFill>
                  <a:srgbClr val="888888"/>
                </a:solidFill>
                <a:latin typeface="Verdana"/>
                <a:ea typeface="Verdana"/>
                <a:cs typeface="Verdana"/>
                <a:sym typeface="Verdana"/>
              </a:defRPr>
            </a:lvl4pPr>
            <a:lvl5pPr marL="2286000" marR="0" lvl="4" indent="-330200" algn="ctr" rtl="0">
              <a:lnSpc>
                <a:spcPct val="100000"/>
              </a:lnSpc>
              <a:spcBef>
                <a:spcPts val="320"/>
              </a:spcBef>
              <a:spcAft>
                <a:spcPts val="0"/>
              </a:spcAft>
              <a:buClr>
                <a:srgbClr val="888888"/>
              </a:buClr>
              <a:buSzPts val="1600"/>
              <a:buFont typeface="Arial"/>
              <a:buNone/>
              <a:defRPr sz="1600" b="0" i="0" u="none" strike="noStrike" cap="none">
                <a:solidFill>
                  <a:srgbClr val="888888"/>
                </a:solidFill>
                <a:latin typeface="Verdana"/>
                <a:ea typeface="Verdana"/>
                <a:cs typeface="Verdana"/>
                <a:sym typeface="Verdana"/>
              </a:defRPr>
            </a:lvl5pPr>
            <a:lvl6pPr marL="2743200" marR="0" lvl="5"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Bookman Old Style"/>
                <a:ea typeface="Bookman Old Style"/>
                <a:cs typeface="Bookman Old Style"/>
                <a:sym typeface="Bookman Old Style"/>
              </a:defRPr>
            </a:lvl6pPr>
            <a:lvl7pPr marL="3200400" marR="0" lvl="6"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Bookman Old Style"/>
                <a:ea typeface="Bookman Old Style"/>
                <a:cs typeface="Bookman Old Style"/>
                <a:sym typeface="Bookman Old Style"/>
              </a:defRPr>
            </a:lvl7pPr>
            <a:lvl8pPr marL="3657600" marR="0" lvl="7"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Bookman Old Style"/>
                <a:ea typeface="Bookman Old Style"/>
                <a:cs typeface="Bookman Old Style"/>
                <a:sym typeface="Bookman Old Style"/>
              </a:defRPr>
            </a:lvl8pPr>
            <a:lvl9pPr marL="4114800" marR="0" lvl="8"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Bookman Old Style"/>
                <a:ea typeface="Bookman Old Style"/>
                <a:cs typeface="Bookman Old Style"/>
                <a:sym typeface="Bookman Old Style"/>
              </a:defRPr>
            </a:lvl9pPr>
          </a:lstStyle>
          <a:p>
            <a:pPr marL="0" indent="0" algn="l">
              <a:spcBef>
                <a:spcPts val="0"/>
              </a:spcBef>
            </a:pPr>
            <a:r>
              <a:rPr sz="1800" b="1">
                <a:solidFill>
                  <a:srgbClr val="0C365C"/>
                </a:solidFill>
                <a:latin typeface="Cambria"/>
              </a:rPr>
              <a:t>Panel No: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IN" dirty="0">
                <a:latin typeface="Cambria" panose="02040503050406030204" pitchFamily="18" charset="0"/>
                <a:ea typeface="Cambria" panose="02040503050406030204" pitchFamily="18" charset="0"/>
              </a:rPr>
              <a:t>I</a:t>
            </a:r>
            <a:r>
              <a:rPr lang="en-GB" dirty="0">
                <a:latin typeface="Cambria" panose="02040503050406030204" pitchFamily="18" charset="0"/>
                <a:ea typeface="Cambria" panose="02040503050406030204" pitchFamily="18" charset="0"/>
              </a:rPr>
              <a:t>NDEX</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3924299"/>
          </a:xfrm>
          <a:prstGeom prst="rect">
            <a:avLst/>
          </a:prstGeom>
          <a:noFill/>
          <a:ln>
            <a:noFill/>
          </a:ln>
        </p:spPr>
        <p:txBody>
          <a:bodyPr spcFirstLastPara="1" wrap="square" lIns="91425" tIns="45700" rIns="91425" bIns="45700" anchor="t" anchorCtr="0">
            <a:normAutofit fontScale="70000" lnSpcReduction="20000"/>
          </a:bodyPr>
          <a:lstStyle/>
          <a:p>
            <a:pPr marL="49530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Git Hub Link</a:t>
            </a:r>
          </a:p>
          <a:p>
            <a:pPr marL="49530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Introduction</a:t>
            </a:r>
          </a:p>
          <a:p>
            <a:pPr marL="49530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Literature Review</a:t>
            </a:r>
          </a:p>
          <a:p>
            <a:pPr marL="49530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Architecture Diagram</a:t>
            </a:r>
          </a:p>
          <a:p>
            <a:pPr marL="495300" lvl="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Analysis of Problem Statement/Output Expected</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US" dirty="0">
                <a:latin typeface="Cambria" panose="02040503050406030204" pitchFamily="18" charset="0"/>
                <a:ea typeface="Cambria" panose="02040503050406030204" pitchFamily="18" charset="0"/>
              </a:rPr>
              <a:t>Timeline of the Project(Gantt Chart)</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sz="1800" b="1">
                <a:solidFill>
                  <a:srgbClr val="0C365C"/>
                </a:solidFill>
                <a:latin typeface="Cambria"/>
              </a:rPr>
              <a:t>Problem Statement Number:</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a:lnSpc>
                <a:spcPct val="200000"/>
              </a:lnSpc>
              <a:spcBef>
                <a:spcPts val="0"/>
              </a:spcBef>
              <a:buNone/>
            </a:pPr>
            <a:r>
              <a:rPr sz="1500" b="0">
                <a:solidFill>
                  <a:srgbClr val="000000"/>
                </a:solidFill>
                <a:latin typeface="Cambria"/>
              </a:rPr>
              <a:t>Category (Hardware / Software / Both) : Software
Problem Description:
During disasters, affected people may not have a reliable way to identify suitable shelters based on location, available capacity, accessibility, facilities and current conditions. Manual or simple nearest-shelter selection can cause overcrowding, longer travel and inefficient use of shelter capacity. The proposed platform centralizes shelter information and recommends suitable shelters by filtering and ranking available options using location, capacity and suitability criteria.
Difficulty Level: Moderate</a:t>
            </a:r>
          </a:p>
        </p:txBody>
      </p:sp>
    </p:spTree>
    <p:extLst>
      <p:ext uri="{BB962C8B-B14F-4D97-AF65-F5344CB8AC3E}">
        <p14:creationId xmlns:p14="http://schemas.microsoft.com/office/powerpoint/2010/main" val="2143451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sz="1500" b="1">
                <a:solidFill>
                  <a:srgbClr val="4B7EBE"/>
                </a:solidFill>
                <a:latin typeface="Cambria"/>
                <a:hlinkClick r:id="rId3"/>
              </a:rPr>
              <a:t>The Github link provided should have public access permission.
Github Link
https://github.com/HarshilxAI/Emergency-Shelter-Allocation-Platform</a:t>
            </a: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r>
              <a:rPr lang="en-US" b="1" dirty="0">
                <a:solidFill>
                  <a:schemeClr val="accent2">
                    <a:lumMod val="75000"/>
                  </a:schemeClr>
                </a:solidFill>
                <a:latin typeface="Cambria" panose="02040503050406030204" pitchFamily="18" charset="0"/>
                <a:ea typeface="Cambria" panose="02040503050406030204" pitchFamily="18" charset="0"/>
              </a:rPr>
              <a:t>Github Link</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gn="just">
              <a:lnSpc>
                <a:spcPct val="200000"/>
              </a:lnSpc>
            </a:pPr>
            <a:r>
              <a:rPr lang="en-US" dirty="0">
                <a:latin typeface="Cambria" panose="02040503050406030204" pitchFamily="18" charset="0"/>
                <a:ea typeface="Cambria" panose="02040503050406030204" pitchFamily="18" charset="0"/>
              </a:rPr>
              <a:t>Introduction</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sz="1500" b="0">
                <a:solidFill>
                  <a:srgbClr val="000000"/>
                </a:solidFill>
                <a:latin typeface="Cambria"/>
              </a:rPr>
              <a:t>About the project:
Emergency Shelter Allocation Platform is a software-based web application designed to help affected people and emergency administrators identify and allocate suitable shelters during disaster situations.
The platform maintains shelter information such as location, capacity, occupancy, facilities and status. A user provides a current location and basic requirements; the system filters unavailable or unsuitable shelters, ranks eligible shelters using distance, capacity and suitability, and presents the recommended shelter with route and key details. Administrators can manage shelter records and occupancy information.
Primary objectives: faster shelter discovery, capacity-aware allocation, reduced overcrowding, centralized information and clear decision support during emergency response.</a:t>
            </a:r>
          </a:p>
        </p:txBody>
      </p:sp>
    </p:spTree>
    <p:extLst>
      <p:ext uri="{BB962C8B-B14F-4D97-AF65-F5344CB8AC3E}">
        <p14:creationId xmlns:p14="http://schemas.microsoft.com/office/powerpoint/2010/main" val="1030816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20CF3E6C-9D22-F1F7-4C96-42BCE8ACBD17}"/>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395F6BE3-C2E7-E383-C049-39CB89CBDC3C}"/>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gn="just">
              <a:lnSpc>
                <a:spcPct val="200000"/>
              </a:lnSpc>
            </a:pPr>
            <a:r>
              <a:rPr lang="en-US" dirty="0">
                <a:latin typeface="Cambria" panose="02040503050406030204" pitchFamily="18" charset="0"/>
                <a:ea typeface="Cambria" panose="02040503050406030204" pitchFamily="18" charset="0"/>
              </a:rPr>
              <a:t>Literature Review</a:t>
            </a:r>
          </a:p>
        </p:txBody>
      </p:sp>
      <p:graphicFrame>
        <p:nvGraphicFramePr>
          <p:cNvPr id="115" name="Table 114"/>
          <p:cNvGraphicFramePr>
            <a:graphicFrameLocks noGrp="1"/>
          </p:cNvGraphicFramePr>
          <p:nvPr/>
        </p:nvGraphicFramePr>
        <p:xfrm>
          <a:off x="813816" y="1078992"/>
          <a:ext cx="10671048" cy="5074920"/>
        </p:xfrm>
        <a:graphic>
          <a:graphicData uri="http://schemas.openxmlformats.org/drawingml/2006/table">
            <a:tbl>
              <a:tblPr firstRow="1" bandRow="1">
                <a:tableStyleId>{5C22544A-7EE6-4342-B048-85BDC9FD1C3A}</a:tableStyleId>
              </a:tblPr>
              <a:tblGrid>
                <a:gridCol w="411480"/>
                <a:gridCol w="4160520"/>
                <a:gridCol w="6099048"/>
              </a:tblGrid>
              <a:tr h="461356">
                <a:tc>
                  <a:txBody>
                    <a:bodyPr/>
                    <a:lstStyle/>
                    <a:p>
                      <a:pPr algn="ctr"/>
                      <a:r>
                        <a:rPr sz="1100" b="1">
                          <a:solidFill>
                            <a:srgbClr val="FFFFFF"/>
                          </a:solidFill>
                          <a:latin typeface="Cambria"/>
                        </a:rPr>
                        <a:t>No.</a:t>
                      </a:r>
                    </a:p>
                  </a:txBody>
                  <a:tcPr>
                    <a:solidFill>
                      <a:srgbClr val="0C365C"/>
                    </a:solidFill>
                  </a:tcPr>
                </a:tc>
                <a:tc>
                  <a:txBody>
                    <a:bodyPr/>
                    <a:lstStyle/>
                    <a:p>
                      <a:pPr algn="ctr"/>
                      <a:r>
                        <a:rPr sz="1100" b="1">
                          <a:solidFill>
                            <a:srgbClr val="FFFFFF"/>
                          </a:solidFill>
                          <a:latin typeface="Cambria"/>
                        </a:rPr>
                        <a:t>Paper referred</a:t>
                      </a:r>
                    </a:p>
                  </a:txBody>
                  <a:tcPr>
                    <a:solidFill>
                      <a:srgbClr val="0C365C"/>
                    </a:solidFill>
                  </a:tcPr>
                </a:tc>
                <a:tc>
                  <a:txBody>
                    <a:bodyPr/>
                    <a:lstStyle/>
                    <a:p>
                      <a:pPr algn="ctr"/>
                      <a:r>
                        <a:rPr sz="1100" b="1">
                          <a:solidFill>
                            <a:srgbClr val="FFFFFF"/>
                          </a:solidFill>
                          <a:latin typeface="Cambria"/>
                        </a:rPr>
                        <a:t>Contribution / relevance to project</a:t>
                      </a:r>
                    </a:p>
                  </a:txBody>
                  <a:tcPr>
                    <a:solidFill>
                      <a:srgbClr val="0C365C"/>
                    </a:solidFill>
                  </a:tcPr>
                </a:tc>
              </a:tr>
              <a:tr h="461356">
                <a:tc>
                  <a:txBody>
                    <a:bodyPr/>
                    <a:lstStyle/>
                    <a:p>
                      <a:pPr algn="ctr"/>
                      <a:r>
                        <a:rPr sz="950" b="0">
                          <a:solidFill>
                            <a:srgbClr val="000000"/>
                          </a:solidFill>
                          <a:latin typeface="Cambria"/>
                        </a:rPr>
                        <a:t>1</a:t>
                      </a:r>
                    </a:p>
                  </a:txBody>
                  <a:tcPr>
                    <a:solidFill>
                      <a:srgbClr val="FFFFFF"/>
                    </a:solidFill>
                  </a:tcPr>
                </a:tc>
                <a:tc>
                  <a:txBody>
                    <a:bodyPr/>
                    <a:lstStyle/>
                    <a:p>
                      <a:pPr algn="l"/>
                      <a:r>
                        <a:rPr sz="950" b="1">
                          <a:solidFill>
                            <a:srgbClr val="000000"/>
                          </a:solidFill>
                          <a:latin typeface="Cambria"/>
                        </a:rPr>
                        <a:t>Yang et al. (2015) — Intelligent Shelter Allotment for Emergency Evacuation Planning</a:t>
                      </a:r>
                    </a:p>
                  </a:txBody>
                  <a:tcPr>
                    <a:solidFill>
                      <a:srgbClr val="FFFFFF"/>
                    </a:solidFill>
                  </a:tcPr>
                </a:tc>
                <a:tc>
                  <a:txBody>
                    <a:bodyPr/>
                    <a:lstStyle/>
                    <a:p>
                      <a:pPr algn="l"/>
                      <a:r>
                        <a:rPr sz="950" b="0">
                          <a:solidFill>
                            <a:srgbClr val="000000"/>
                          </a:solidFill>
                          <a:latin typeface="Cambria"/>
                        </a:rPr>
                        <a:t>Introduces CARES for assigning routes, exits and shelters while reducing crowd movement conflicts.</a:t>
                      </a:r>
                    </a:p>
                  </a:txBody>
                  <a:tcPr>
                    <a:solidFill>
                      <a:srgbClr val="FFFFFF"/>
                    </a:solidFill>
                  </a:tcPr>
                </a:tc>
              </a:tr>
              <a:tr h="461356">
                <a:tc>
                  <a:txBody>
                    <a:bodyPr/>
                    <a:lstStyle/>
                    <a:p>
                      <a:pPr algn="ctr"/>
                      <a:r>
                        <a:rPr sz="950" b="0">
                          <a:solidFill>
                            <a:srgbClr val="000000"/>
                          </a:solidFill>
                          <a:latin typeface="Cambria"/>
                        </a:rPr>
                        <a:t>2</a:t>
                      </a:r>
                    </a:p>
                  </a:txBody>
                  <a:tcPr>
                    <a:solidFill>
                      <a:srgbClr val="F1F5F9"/>
                    </a:solidFill>
                  </a:tcPr>
                </a:tc>
                <a:tc>
                  <a:txBody>
                    <a:bodyPr/>
                    <a:lstStyle/>
                    <a:p>
                      <a:pPr algn="l"/>
                      <a:r>
                        <a:rPr sz="950" b="1">
                          <a:solidFill>
                            <a:srgbClr val="000000"/>
                          </a:solidFill>
                          <a:latin typeface="Cambria"/>
                        </a:rPr>
                        <a:t>Zhang et al. (2016/17) — Optimal Resource Allocation in Emergency Management</a:t>
                      </a:r>
                    </a:p>
                  </a:txBody>
                  <a:tcPr>
                    <a:solidFill>
                      <a:srgbClr val="F1F5F9"/>
                    </a:solidFill>
                  </a:tcPr>
                </a:tc>
                <a:tc>
                  <a:txBody>
                    <a:bodyPr/>
                    <a:lstStyle/>
                    <a:p>
                      <a:pPr algn="l"/>
                      <a:r>
                        <a:rPr sz="950" b="0">
                          <a:solidFill>
                            <a:srgbClr val="000000"/>
                          </a:solidFill>
                          <a:latin typeface="Cambria"/>
                        </a:rPr>
                        <a:t>Uses decentralized multi-agent allocation to assign emergency resources under time and cost constraints.</a:t>
                      </a:r>
                    </a:p>
                  </a:txBody>
                  <a:tcPr>
                    <a:solidFill>
                      <a:srgbClr val="F1F5F9"/>
                    </a:solidFill>
                  </a:tcPr>
                </a:tc>
              </a:tr>
              <a:tr h="461356">
                <a:tc>
                  <a:txBody>
                    <a:bodyPr/>
                    <a:lstStyle/>
                    <a:p>
                      <a:pPr algn="ctr"/>
                      <a:r>
                        <a:rPr sz="950" b="0">
                          <a:solidFill>
                            <a:srgbClr val="000000"/>
                          </a:solidFill>
                          <a:latin typeface="Cambria"/>
                        </a:rPr>
                        <a:t>3</a:t>
                      </a:r>
                    </a:p>
                  </a:txBody>
                  <a:tcPr>
                    <a:solidFill>
                      <a:srgbClr val="FFFFFF"/>
                    </a:solidFill>
                  </a:tcPr>
                </a:tc>
                <a:tc>
                  <a:txBody>
                    <a:bodyPr/>
                    <a:lstStyle/>
                    <a:p>
                      <a:pPr algn="l"/>
                      <a:r>
                        <a:rPr sz="950" b="1">
                          <a:solidFill>
                            <a:srgbClr val="000000"/>
                          </a:solidFill>
                          <a:latin typeface="Cambria"/>
                        </a:rPr>
                        <a:t>Wang et al. (2020) — Emergency Resource Allocation for Multi-Period Post-Disaster</a:t>
                      </a:r>
                    </a:p>
                  </a:txBody>
                  <a:tcPr>
                    <a:solidFill>
                      <a:srgbClr val="FFFFFF"/>
                    </a:solidFill>
                  </a:tcPr>
                </a:tc>
                <a:tc>
                  <a:txBody>
                    <a:bodyPr/>
                    <a:lstStyle/>
                    <a:p>
                      <a:pPr algn="l"/>
                      <a:r>
                        <a:rPr sz="950" b="0">
                          <a:solidFill>
                            <a:srgbClr val="000000"/>
                          </a:solidFill>
                          <a:latin typeface="Cambria"/>
                        </a:rPr>
                        <a:t>Models uncertain, multi-period relief allocation and routing using multi-objective optimization.</a:t>
                      </a:r>
                    </a:p>
                  </a:txBody>
                  <a:tcPr>
                    <a:solidFill>
                      <a:srgbClr val="FFFFFF"/>
                    </a:solidFill>
                  </a:tcPr>
                </a:tc>
              </a:tr>
              <a:tr h="461356">
                <a:tc>
                  <a:txBody>
                    <a:bodyPr/>
                    <a:lstStyle/>
                    <a:p>
                      <a:pPr algn="ctr"/>
                      <a:r>
                        <a:rPr sz="950" b="0">
                          <a:solidFill>
                            <a:srgbClr val="000000"/>
                          </a:solidFill>
                          <a:latin typeface="Cambria"/>
                        </a:rPr>
                        <a:t>4</a:t>
                      </a:r>
                    </a:p>
                  </a:txBody>
                  <a:tcPr>
                    <a:solidFill>
                      <a:srgbClr val="F1F5F9"/>
                    </a:solidFill>
                  </a:tcPr>
                </a:tc>
                <a:tc>
                  <a:txBody>
                    <a:bodyPr/>
                    <a:lstStyle/>
                    <a:p>
                      <a:pPr algn="l"/>
                      <a:r>
                        <a:rPr sz="950" b="1">
                          <a:solidFill>
                            <a:srgbClr val="000000"/>
                          </a:solidFill>
                          <a:latin typeface="Cambria"/>
                        </a:rPr>
                        <a:t>Amiran et al. (2025) — ML for Earthquake Emergency Evacuation</a:t>
                      </a:r>
                    </a:p>
                  </a:txBody>
                  <a:tcPr>
                    <a:solidFill>
                      <a:srgbClr val="F1F5F9"/>
                    </a:solidFill>
                  </a:tcPr>
                </a:tc>
                <a:tc>
                  <a:txBody>
                    <a:bodyPr/>
                    <a:lstStyle/>
                    <a:p>
                      <a:pPr algn="l"/>
                      <a:r>
                        <a:rPr sz="950" b="0">
                          <a:solidFill>
                            <a:srgbClr val="000000"/>
                          </a:solidFill>
                          <a:latin typeface="Cambria"/>
                        </a:rPr>
                        <a:t>Applies machine learning to emergency evacuation-center site selection and neighborhood navigation.</a:t>
                      </a:r>
                    </a:p>
                  </a:txBody>
                  <a:tcPr>
                    <a:solidFill>
                      <a:srgbClr val="F1F5F9"/>
                    </a:solidFill>
                  </a:tcPr>
                </a:tc>
              </a:tr>
              <a:tr h="461356">
                <a:tc>
                  <a:txBody>
                    <a:bodyPr/>
                    <a:lstStyle/>
                    <a:p>
                      <a:pPr algn="ctr"/>
                      <a:r>
                        <a:rPr sz="950" b="0">
                          <a:solidFill>
                            <a:srgbClr val="000000"/>
                          </a:solidFill>
                          <a:latin typeface="Cambria"/>
                        </a:rPr>
                        <a:t>5</a:t>
                      </a:r>
                    </a:p>
                  </a:txBody>
                  <a:tcPr>
                    <a:solidFill>
                      <a:srgbClr val="FFFFFF"/>
                    </a:solidFill>
                  </a:tcPr>
                </a:tc>
                <a:tc>
                  <a:txBody>
                    <a:bodyPr/>
                    <a:lstStyle/>
                    <a:p>
                      <a:pPr algn="l"/>
                      <a:r>
                        <a:rPr sz="950" b="1">
                          <a:solidFill>
                            <a:srgbClr val="000000"/>
                          </a:solidFill>
                          <a:latin typeface="Cambria"/>
                        </a:rPr>
                        <a:t>Sarma et al. (2020/2022) — Cost Minimization Resource Allocation for Disaster Relief</a:t>
                      </a:r>
                    </a:p>
                  </a:txBody>
                  <a:tcPr>
                    <a:solidFill>
                      <a:srgbClr val="FFFFFF"/>
                    </a:solidFill>
                  </a:tcPr>
                </a:tc>
                <a:tc>
                  <a:txBody>
                    <a:bodyPr/>
                    <a:lstStyle/>
                    <a:p>
                      <a:pPr algn="l"/>
                      <a:r>
                        <a:rPr sz="950" b="0">
                          <a:solidFill>
                            <a:srgbClr val="000000"/>
                          </a:solidFill>
                          <a:latin typeface="Cambria"/>
                        </a:rPr>
                        <a:t>Combines crowdsourced information, MCDM and optimization to improve disaster-relief resource allocation.</a:t>
                      </a:r>
                    </a:p>
                  </a:txBody>
                  <a:tcPr>
                    <a:solidFill>
                      <a:srgbClr val="FFFFFF"/>
                    </a:solidFill>
                  </a:tcPr>
                </a:tc>
              </a:tr>
              <a:tr h="461356">
                <a:tc>
                  <a:txBody>
                    <a:bodyPr/>
                    <a:lstStyle/>
                    <a:p>
                      <a:pPr algn="ctr"/>
                      <a:r>
                        <a:rPr sz="950" b="0">
                          <a:solidFill>
                            <a:srgbClr val="000000"/>
                          </a:solidFill>
                          <a:latin typeface="Cambria"/>
                        </a:rPr>
                        <a:t>6</a:t>
                      </a:r>
                    </a:p>
                  </a:txBody>
                  <a:tcPr>
                    <a:solidFill>
                      <a:srgbClr val="F1F5F9"/>
                    </a:solidFill>
                  </a:tcPr>
                </a:tc>
                <a:tc>
                  <a:txBody>
                    <a:bodyPr/>
                    <a:lstStyle/>
                    <a:p>
                      <a:pPr algn="l"/>
                      <a:r>
                        <a:rPr sz="950" b="1">
                          <a:solidFill>
                            <a:srgbClr val="000000"/>
                          </a:solidFill>
                          <a:latin typeface="Cambria"/>
                        </a:rPr>
                        <a:t>Li, Li &amp; Wang (2009) — Emergency Service Facility Location</a:t>
                      </a:r>
                    </a:p>
                  </a:txBody>
                  <a:tcPr>
                    <a:solidFill>
                      <a:srgbClr val="F1F5F9"/>
                    </a:solidFill>
                  </a:tcPr>
                </a:tc>
                <a:tc>
                  <a:txBody>
                    <a:bodyPr/>
                    <a:lstStyle/>
                    <a:p>
                      <a:pPr algn="l"/>
                      <a:r>
                        <a:rPr sz="950" b="0">
                          <a:solidFill>
                            <a:srgbClr val="000000"/>
                          </a:solidFill>
                          <a:latin typeface="Cambria"/>
                        </a:rPr>
                        <a:t>Formulates facility-location and algorithmic approaches relevant to locating emergency service facilities.</a:t>
                      </a:r>
                    </a:p>
                  </a:txBody>
                  <a:tcPr>
                    <a:solidFill>
                      <a:srgbClr val="F1F5F9"/>
                    </a:solidFill>
                  </a:tcPr>
                </a:tc>
              </a:tr>
              <a:tr h="461356">
                <a:tc>
                  <a:txBody>
                    <a:bodyPr/>
                    <a:lstStyle/>
                    <a:p>
                      <a:pPr algn="ctr"/>
                      <a:r>
                        <a:rPr sz="950" b="0">
                          <a:solidFill>
                            <a:srgbClr val="000000"/>
                          </a:solidFill>
                          <a:latin typeface="Cambria"/>
                        </a:rPr>
                        <a:t>7</a:t>
                      </a:r>
                    </a:p>
                  </a:txBody>
                  <a:tcPr>
                    <a:solidFill>
                      <a:srgbClr val="FFFFFF"/>
                    </a:solidFill>
                  </a:tcPr>
                </a:tc>
                <a:tc>
                  <a:txBody>
                    <a:bodyPr/>
                    <a:lstStyle/>
                    <a:p>
                      <a:pPr algn="l"/>
                      <a:r>
                        <a:rPr sz="950" b="1">
                          <a:solidFill>
                            <a:srgbClr val="000000"/>
                          </a:solidFill>
                          <a:latin typeface="Cambria"/>
                        </a:rPr>
                        <a:t>Tanti et al. (2022) — Dynamic Facility-Location After Disaster</a:t>
                      </a:r>
                    </a:p>
                  </a:txBody>
                  <a:tcPr>
                    <a:solidFill>
                      <a:srgbClr val="FFFFFF"/>
                    </a:solidFill>
                  </a:tcPr>
                </a:tc>
                <a:tc>
                  <a:txBody>
                    <a:bodyPr/>
                    <a:lstStyle/>
                    <a:p>
                      <a:pPr algn="l"/>
                      <a:r>
                        <a:rPr sz="950" b="0">
                          <a:solidFill>
                            <a:srgbClr val="000000"/>
                          </a:solidFill>
                          <a:latin typeface="Cambria"/>
                        </a:rPr>
                        <a:t>Considers uncertain demand, capacity, cost and travel time for dynamic emergency facility location and routing.</a:t>
                      </a:r>
                    </a:p>
                  </a:txBody>
                  <a:tcPr>
                    <a:solidFill>
                      <a:srgbClr val="FFFFFF"/>
                    </a:solidFill>
                  </a:tcPr>
                </a:tc>
              </a:tr>
              <a:tr h="461356">
                <a:tc>
                  <a:txBody>
                    <a:bodyPr/>
                    <a:lstStyle/>
                    <a:p>
                      <a:pPr algn="ctr"/>
                      <a:r>
                        <a:rPr sz="950" b="0">
                          <a:solidFill>
                            <a:srgbClr val="000000"/>
                          </a:solidFill>
                          <a:latin typeface="Cambria"/>
                        </a:rPr>
                        <a:t>8</a:t>
                      </a:r>
                    </a:p>
                  </a:txBody>
                  <a:tcPr>
                    <a:solidFill>
                      <a:srgbClr val="F1F5F9"/>
                    </a:solidFill>
                  </a:tcPr>
                </a:tc>
                <a:tc>
                  <a:txBody>
                    <a:bodyPr/>
                    <a:lstStyle/>
                    <a:p>
                      <a:pPr algn="l"/>
                      <a:r>
                        <a:rPr sz="950" b="1">
                          <a:solidFill>
                            <a:srgbClr val="000000"/>
                          </a:solidFill>
                          <a:latin typeface="Cambria"/>
                        </a:rPr>
                        <a:t>Cui et al. (2019) — Emergency Material Allocation After Disaster</a:t>
                      </a:r>
                    </a:p>
                  </a:txBody>
                  <a:tcPr>
                    <a:solidFill>
                      <a:srgbClr val="F1F5F9"/>
                    </a:solidFill>
                  </a:tcPr>
                </a:tc>
                <a:tc>
                  <a:txBody>
                    <a:bodyPr/>
                    <a:lstStyle/>
                    <a:p>
                      <a:pPr algn="l"/>
                      <a:r>
                        <a:rPr sz="950" b="0">
                          <a:solidFill>
                            <a:srgbClr val="000000"/>
                          </a:solidFill>
                          <a:latin typeface="Cambria"/>
                        </a:rPr>
                        <a:t>Considers disrupted supply chains and route risk; optimizes transport time and cost.</a:t>
                      </a:r>
                    </a:p>
                  </a:txBody>
                  <a:tcPr>
                    <a:solidFill>
                      <a:srgbClr val="F1F5F9"/>
                    </a:solidFill>
                  </a:tcPr>
                </a:tc>
              </a:tr>
              <a:tr h="461356">
                <a:tc>
                  <a:txBody>
                    <a:bodyPr/>
                    <a:lstStyle/>
                    <a:p>
                      <a:pPr algn="ctr"/>
                      <a:r>
                        <a:rPr sz="950" b="0">
                          <a:solidFill>
                            <a:srgbClr val="000000"/>
                          </a:solidFill>
                          <a:latin typeface="Cambria"/>
                        </a:rPr>
                        <a:t>9</a:t>
                      </a:r>
                    </a:p>
                  </a:txBody>
                  <a:tcPr>
                    <a:solidFill>
                      <a:srgbClr val="FFFFFF"/>
                    </a:solidFill>
                  </a:tcPr>
                </a:tc>
                <a:tc>
                  <a:txBody>
                    <a:bodyPr/>
                    <a:lstStyle/>
                    <a:p>
                      <a:pPr algn="l"/>
                      <a:r>
                        <a:rPr sz="950" b="1">
                          <a:solidFill>
                            <a:srgbClr val="000000"/>
                          </a:solidFill>
                          <a:latin typeface="Cambria"/>
                        </a:rPr>
                        <a:t>Rodríguez-Espíndola (2022/2024) — Multi-Period Disaster Management</a:t>
                      </a:r>
                    </a:p>
                  </a:txBody>
                  <a:tcPr>
                    <a:solidFill>
                      <a:srgbClr val="FFFFFF"/>
                    </a:solidFill>
                  </a:tcPr>
                </a:tc>
                <a:tc>
                  <a:txBody>
                    <a:bodyPr/>
                    <a:lstStyle/>
                    <a:p>
                      <a:pPr algn="l"/>
                      <a:r>
                        <a:rPr sz="950" b="0">
                          <a:solidFill>
                            <a:srgbClr val="000000"/>
                          </a:solidFill>
                          <a:latin typeface="Cambria"/>
                        </a:rPr>
                        <a:t>Jointly considers facility location, resource allocation and distribution across multiple disaster periods.</a:t>
                      </a:r>
                    </a:p>
                  </a:txBody>
                  <a:tcPr>
                    <a:solidFill>
                      <a:srgbClr val="FFFFFF"/>
                    </a:solidFill>
                  </a:tcPr>
                </a:tc>
              </a:tr>
              <a:tr h="461360">
                <a:tc>
                  <a:txBody>
                    <a:bodyPr/>
                    <a:lstStyle/>
                    <a:p>
                      <a:pPr algn="ctr"/>
                      <a:r>
                        <a:rPr sz="950" b="0">
                          <a:solidFill>
                            <a:srgbClr val="000000"/>
                          </a:solidFill>
                          <a:latin typeface="Cambria"/>
                        </a:rPr>
                        <a:t>10</a:t>
                      </a:r>
                    </a:p>
                  </a:txBody>
                  <a:tcPr>
                    <a:solidFill>
                      <a:srgbClr val="F1F5F9"/>
                    </a:solidFill>
                  </a:tcPr>
                </a:tc>
                <a:tc>
                  <a:txBody>
                    <a:bodyPr/>
                    <a:lstStyle/>
                    <a:p>
                      <a:pPr algn="l"/>
                      <a:r>
                        <a:rPr sz="950" b="1">
                          <a:solidFill>
                            <a:srgbClr val="000000"/>
                          </a:solidFill>
                          <a:latin typeface="Cambria"/>
                        </a:rPr>
                        <a:t>Rajalakshmi et al. (2024) — AI for Resource Allocation in Humanitarian Aid</a:t>
                      </a:r>
                    </a:p>
                  </a:txBody>
                  <a:tcPr>
                    <a:solidFill>
                      <a:srgbClr val="F1F5F9"/>
                    </a:solidFill>
                  </a:tcPr>
                </a:tc>
                <a:tc>
                  <a:txBody>
                    <a:bodyPr/>
                    <a:lstStyle/>
                    <a:p>
                      <a:pPr algn="l"/>
                      <a:r>
                        <a:rPr sz="950" b="0">
                          <a:solidFill>
                            <a:srgbClr val="000000"/>
                          </a:solidFill>
                          <a:latin typeface="Cambria"/>
                        </a:rPr>
                        <a:t>Highlights AI-supported demand analysis, logistics and resource-allocation decision making.</a:t>
                      </a:r>
                    </a:p>
                  </a:txBody>
                  <a:tcPr>
                    <a:solidFill>
                      <a:srgbClr val="F1F5F9"/>
                    </a:solidFill>
                  </a:tcPr>
                </a:tc>
              </a:tr>
            </a:tbl>
          </a:graphicData>
        </a:graphic>
      </p:graphicFrame>
    </p:spTree>
    <p:extLst>
      <p:ext uri="{BB962C8B-B14F-4D97-AF65-F5344CB8AC3E}">
        <p14:creationId xmlns:p14="http://schemas.microsoft.com/office/powerpoint/2010/main" val="18136542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66D0BC35-19ED-73A9-EE75-1137E39454A8}"/>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2BB17B24-7E10-E0D9-F0F4-797FC7D4A35D}"/>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gn="just">
              <a:lnSpc>
                <a:spcPct val="200000"/>
              </a:lnSpc>
            </a:pPr>
            <a:r>
              <a:rPr lang="en-US" dirty="0">
                <a:latin typeface="Cambria" panose="02040503050406030204" pitchFamily="18" charset="0"/>
                <a:ea typeface="Cambria" panose="02040503050406030204" pitchFamily="18" charset="0"/>
              </a:rPr>
              <a:t>Architecture Diagram</a:t>
            </a:r>
          </a:p>
        </p:txBody>
      </p:sp>
      <p:sp>
        <p:nvSpPr>
          <p:cNvPr id="115" name="Google Shape;115;p17">
            <a:extLst>
              <a:ext uri="{FF2B5EF4-FFF2-40B4-BE49-F238E27FC236}">
                <a16:creationId xmlns:a16="http://schemas.microsoft.com/office/drawing/2014/main" id="{B656EE7D-C165-CFED-D8E1-B5E966F08961}"/>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116" name="Rounded Rectangle 115"/>
          <p:cNvSpPr/>
          <p:nvPr/>
        </p:nvSpPr>
        <p:spPr>
          <a:xfrm>
            <a:off x="914400" y="1234440"/>
            <a:ext cx="1920240" cy="685800"/>
          </a:xfrm>
          <a:prstGeom prst="roundRect">
            <a:avLst/>
          </a:prstGeom>
          <a:solidFill>
            <a:srgbClr val="F1F5F9"/>
          </a:solidFill>
          <a:ln w="19050">
            <a:solidFill>
              <a:srgbClr val="0C365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0C365C"/>
                </a:solidFill>
                <a:latin typeface="Cambria"/>
              </a:rPr>
              <a:t>Affected User</a:t>
            </a:r>
          </a:p>
        </p:txBody>
      </p:sp>
      <p:sp>
        <p:nvSpPr>
          <p:cNvPr id="117" name="Rounded Rectangle 116"/>
          <p:cNvSpPr/>
          <p:nvPr/>
        </p:nvSpPr>
        <p:spPr>
          <a:xfrm>
            <a:off x="914400" y="2148840"/>
            <a:ext cx="1920240" cy="685800"/>
          </a:xfrm>
          <a:prstGeom prst="roundRect">
            <a:avLst/>
          </a:prstGeom>
          <a:solidFill>
            <a:srgbClr val="F1F5F9"/>
          </a:solidFill>
          <a:ln w="19050">
            <a:solidFill>
              <a:srgbClr val="0C365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0C365C"/>
                </a:solidFill>
                <a:latin typeface="Cambria"/>
              </a:rPr>
              <a:t>Administrator</a:t>
            </a:r>
          </a:p>
        </p:txBody>
      </p:sp>
      <p:sp>
        <p:nvSpPr>
          <p:cNvPr id="118" name="Rounded Rectangle 117"/>
          <p:cNvSpPr/>
          <p:nvPr/>
        </p:nvSpPr>
        <p:spPr>
          <a:xfrm>
            <a:off x="9144000" y="1234440"/>
            <a:ext cx="1920240" cy="685800"/>
          </a:xfrm>
          <a:prstGeom prst="roundRect">
            <a:avLst/>
          </a:prstGeom>
          <a:solidFill>
            <a:srgbClr val="F1F5F9"/>
          </a:solidFill>
          <a:ln w="19050">
            <a:solidFill>
              <a:srgbClr val="0C365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C365C"/>
                </a:solidFill>
                <a:latin typeface="Cambria"/>
              </a:rPr>
              <a:t>Map / Routing
Service</a:t>
            </a:r>
          </a:p>
        </p:txBody>
      </p:sp>
      <p:sp>
        <p:nvSpPr>
          <p:cNvPr id="119" name="Rounded Rectangle 118"/>
          <p:cNvSpPr/>
          <p:nvPr/>
        </p:nvSpPr>
        <p:spPr>
          <a:xfrm>
            <a:off x="3291840" y="1051560"/>
            <a:ext cx="4846320" cy="1051560"/>
          </a:xfrm>
          <a:prstGeom prst="roundRect">
            <a:avLst/>
          </a:prstGeom>
          <a:solidFill>
            <a:srgbClr val="FFFFFF"/>
          </a:solidFill>
          <a:ln w="19050">
            <a:solidFill>
              <a:srgbClr val="4B7EB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4B7EBE"/>
                </a:solidFill>
                <a:latin typeface="Cambria"/>
              </a:rPr>
              <a:t>Web Frontend
User &amp; Admin Interface
Shelter Search • Map • Allocation Result</a:t>
            </a:r>
          </a:p>
        </p:txBody>
      </p:sp>
      <p:sp>
        <p:nvSpPr>
          <p:cNvPr id="120" name="Rounded Rectangle 119"/>
          <p:cNvSpPr/>
          <p:nvPr/>
        </p:nvSpPr>
        <p:spPr>
          <a:xfrm>
            <a:off x="3291840" y="2606040"/>
            <a:ext cx="4846320" cy="1051560"/>
          </a:xfrm>
          <a:prstGeom prst="roundRect">
            <a:avLst/>
          </a:prstGeom>
          <a:solidFill>
            <a:srgbClr val="FFFFFF"/>
          </a:solidFill>
          <a:ln w="19050">
            <a:solidFill>
              <a:srgbClr val="4B7EB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4B7EBE"/>
                </a:solidFill>
                <a:latin typeface="Cambria"/>
              </a:rPr>
              <a:t>Application / API Layer
Authentication • Shelter Management • Allocation Logic • REST APIs</a:t>
            </a:r>
          </a:p>
        </p:txBody>
      </p:sp>
      <p:sp>
        <p:nvSpPr>
          <p:cNvPr id="121" name="Rounded Rectangle 120"/>
          <p:cNvSpPr/>
          <p:nvPr/>
        </p:nvSpPr>
        <p:spPr>
          <a:xfrm>
            <a:off x="3291840" y="4160520"/>
            <a:ext cx="4846320" cy="960120"/>
          </a:xfrm>
          <a:prstGeom prst="roundRect">
            <a:avLst/>
          </a:prstGeom>
          <a:solidFill>
            <a:srgbClr val="F1F5F9"/>
          </a:solidFill>
          <a:ln w="19050">
            <a:solidFill>
              <a:srgbClr val="0C365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0C365C"/>
                </a:solidFill>
                <a:latin typeface="Cambria"/>
              </a:rPr>
              <a:t>Database
Shelter • Capacity • Occupancy • User • Allocation Records</a:t>
            </a:r>
          </a:p>
        </p:txBody>
      </p:sp>
      <p:sp>
        <p:nvSpPr>
          <p:cNvPr id="122" name="Rounded Rectangle 121"/>
          <p:cNvSpPr/>
          <p:nvPr/>
        </p:nvSpPr>
        <p:spPr>
          <a:xfrm>
            <a:off x="9052560" y="2514600"/>
            <a:ext cx="2057400" cy="960120"/>
          </a:xfrm>
          <a:prstGeom prst="roundRect">
            <a:avLst/>
          </a:prstGeom>
          <a:solidFill>
            <a:srgbClr val="FFFFFF"/>
          </a:solidFill>
          <a:ln w="19050">
            <a:solidFill>
              <a:srgbClr val="4B7EB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4B7EBE"/>
                </a:solidFill>
                <a:latin typeface="Cambria"/>
              </a:rPr>
              <a:t>Routing &amp;
Geospatial Service</a:t>
            </a:r>
          </a:p>
        </p:txBody>
      </p:sp>
      <p:sp>
        <p:nvSpPr>
          <p:cNvPr id="123" name="Rounded Rectangle 122"/>
          <p:cNvSpPr/>
          <p:nvPr/>
        </p:nvSpPr>
        <p:spPr>
          <a:xfrm>
            <a:off x="9052560" y="4069080"/>
            <a:ext cx="2057400" cy="960120"/>
          </a:xfrm>
          <a:prstGeom prst="roundRect">
            <a:avLst/>
          </a:prstGeom>
          <a:solidFill>
            <a:srgbClr val="F1F5F9"/>
          </a:solidFill>
          <a:ln w="19050">
            <a:solidFill>
              <a:srgbClr val="0C365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C365C"/>
                </a:solidFill>
                <a:latin typeface="Cambria"/>
              </a:rPr>
              <a:t>Recommended Shelter
+ Route + Capacity</a:t>
            </a:r>
          </a:p>
        </p:txBody>
      </p:sp>
      <p:cxnSp>
        <p:nvCxnSpPr>
          <p:cNvPr id="124" name="Connector 123"/>
          <p:cNvCxnSpPr/>
          <p:nvPr/>
        </p:nvCxnSpPr>
        <p:spPr>
          <a:xfrm>
            <a:off x="2834640" y="1572768"/>
            <a:ext cx="457200" cy="0"/>
          </a:xfrm>
          <a:prstGeom prst="line">
            <a:avLst/>
          </a:prstGeom>
          <a:ln w="19050">
            <a:solidFill>
              <a:srgbClr val="0C365C"/>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2834640" y="1572768"/>
            <a:ext cx="457200" cy="914400"/>
          </a:xfrm>
          <a:prstGeom prst="line">
            <a:avLst/>
          </a:prstGeom>
          <a:ln w="19050">
            <a:solidFill>
              <a:srgbClr val="0C365C"/>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5715000" y="2103120"/>
            <a:ext cx="0" cy="502920"/>
          </a:xfrm>
          <a:prstGeom prst="line">
            <a:avLst/>
          </a:prstGeom>
          <a:ln w="19050">
            <a:solidFill>
              <a:srgbClr val="0C365C"/>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5715000" y="3657600"/>
            <a:ext cx="0" cy="502920"/>
          </a:xfrm>
          <a:prstGeom prst="line">
            <a:avLst/>
          </a:prstGeom>
          <a:ln w="19050">
            <a:solidFill>
              <a:srgbClr val="0C365C"/>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8138160" y="2990088"/>
            <a:ext cx="914400" cy="137160"/>
          </a:xfrm>
          <a:prstGeom prst="line">
            <a:avLst/>
          </a:prstGeom>
          <a:ln w="19050">
            <a:solidFill>
              <a:srgbClr val="0C365C"/>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H="1">
            <a:off x="8138160" y="1572768"/>
            <a:ext cx="914400" cy="0"/>
          </a:xfrm>
          <a:prstGeom prst="line">
            <a:avLst/>
          </a:prstGeom>
          <a:ln w="19050">
            <a:solidFill>
              <a:srgbClr val="0C365C"/>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H="1" flipV="1">
            <a:off x="8138160" y="3127248"/>
            <a:ext cx="914400" cy="347472"/>
          </a:xfrm>
          <a:prstGeom prst="line">
            <a:avLst/>
          </a:prstGeom>
          <a:ln w="19050">
            <a:solidFill>
              <a:srgbClr val="0C365C"/>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8138160" y="3127248"/>
            <a:ext cx="914400" cy="1426464"/>
          </a:xfrm>
          <a:prstGeom prst="line">
            <a:avLst/>
          </a:prstGeom>
          <a:ln w="19050">
            <a:solidFill>
              <a:srgbClr val="0C365C"/>
            </a:solidFill>
          </a:ln>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960120" y="5440680"/>
            <a:ext cx="10241280" cy="502920"/>
          </a:xfrm>
          <a:prstGeom prst="rect">
            <a:avLst/>
          </a:prstGeom>
          <a:noFill/>
        </p:spPr>
        <p:txBody>
          <a:bodyPr wrap="square" anchor="t">
            <a:spAutoFit/>
          </a:bodyPr>
          <a:lstStyle/>
          <a:p>
            <a:pPr algn="ctr"/>
            <a:r>
              <a:rPr sz="1200" b="1">
                <a:solidFill>
                  <a:srgbClr val="0C365C"/>
                </a:solidFill>
                <a:latin typeface="Cambria"/>
              </a:rPr>
              <a:t>Flow: User/Admin → Web Interface → API &amp; Allocation Logic → Database / Routing Service → Ranked Shelter &amp; Route</a:t>
            </a:r>
          </a:p>
        </p:txBody>
      </p:sp>
    </p:spTree>
    <p:extLst>
      <p:ext uri="{BB962C8B-B14F-4D97-AF65-F5344CB8AC3E}">
        <p14:creationId xmlns:p14="http://schemas.microsoft.com/office/powerpoint/2010/main" val="39663537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1C8B1B47-DF01-E1F4-26F3-14B9F826E2F5}"/>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73128998-8B2C-F90B-C9A2-EF57AD968224}"/>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/Output Expected</a:t>
            </a:r>
          </a:p>
        </p:txBody>
      </p:sp>
      <p:sp>
        <p:nvSpPr>
          <p:cNvPr id="115" name="Google Shape;115;p17">
            <a:extLst>
              <a:ext uri="{FF2B5EF4-FFF2-40B4-BE49-F238E27FC236}">
                <a16:creationId xmlns:a16="http://schemas.microsoft.com/office/drawing/2014/main" id="{5B056FAF-9BF2-46B4-CC0B-9C32D2D94626}"/>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sz="1500">
                <a:solidFill>
                  <a:srgbClr val="000000"/>
                </a:solidFill>
                <a:latin typeface="Cambria"/>
              </a:rPr>
              <a:t>1. Shelter discovery: Display shelters that are currently available and relevant to the user’s location.
2. Smart ranking: Rank eligible shelters using distance, remaining capacity, suitability and facility criteria.
3. Allocation result: Show the selected/recommended shelter, available capacity, occupancy, facilities and contact details.
4. Route guidance: Present the recommended route and distance/time through the map interface.
5. Administrator view: Provide shelter registration, status/occupancy updates and allocation monitoring.
6. Decision support: Reduce manual searching and help distribute users across suitable shelters instead of overloading a single location.
Expected overall outcome: a usable web platform that converts shelter and user information into a clear, capacity-aware shelter recommendation.</a:t>
            </a:r>
          </a:p>
        </p:txBody>
      </p:sp>
    </p:spTree>
    <p:extLst>
      <p:ext uri="{BB962C8B-B14F-4D97-AF65-F5344CB8AC3E}">
        <p14:creationId xmlns:p14="http://schemas.microsoft.com/office/powerpoint/2010/main" val="3858192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lnSpc>
                <a:spcPct val="200000"/>
              </a:lnSpc>
              <a:spcBef>
                <a:spcPts val="0"/>
              </a:spcBef>
              <a:spcAft>
                <a:spcPts val="0"/>
              </a:spcAft>
              <a:buClr>
                <a:schemeClr val="dk1"/>
              </a:buClr>
              <a:buSzPct val="100000"/>
              <a:buNone/>
            </a:pPr>
            <a:r>
              <a:rPr sz="1450" b="0">
                <a:solidFill>
                  <a:srgbClr val="000000"/>
                </a:solidFill>
                <a:latin typeface="Cambria"/>
              </a:rPr>
              <a:t>Software and Hardware Requirements:
Software Requirements
• Frontend: React.js, HTML5, CSS3 / responsive UI
• Backend: Node.js with Express.js and REST APIs
• Database: PostgreSQL (PostGIS-ready for geospatial data)
• Maps &amp; routing: OpenStreetMap with Leaflet; routing API/service
• Authentication: JWT / role-based access control
• Development tools: Visual Studio Code, Git, GitHub, npm
• Testing: Postman and browser developer tools
• Deployment: GitHub-based workflow with a cloud hosting platform
Hardware Requirements
• No dedicated hardware is required.
• Development/testing can be performed on a standard laptop/desktop with internet access.</a:t>
            </a:r>
          </a:p>
        </p:txBody>
      </p:sp>
    </p:spTree>
    <p:extLst>
      <p:ext uri="{BB962C8B-B14F-4D97-AF65-F5344CB8AC3E}">
        <p14:creationId xmlns:p14="http://schemas.microsoft.com/office/powerpoint/2010/main" val="33388325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116" name="TextBox 115"/>
          <p:cNvSpPr txBox="1"/>
          <p:nvPr/>
        </p:nvSpPr>
        <p:spPr>
          <a:xfrm>
            <a:off x="868680" y="1143000"/>
            <a:ext cx="10515600" cy="457200"/>
          </a:xfrm>
          <a:prstGeom prst="rect">
            <a:avLst/>
          </a:prstGeom>
          <a:noFill/>
        </p:spPr>
        <p:txBody>
          <a:bodyPr wrap="square" anchor="t">
            <a:spAutoFit/>
          </a:bodyPr>
          <a:lstStyle/>
          <a:p>
            <a:pPr algn="ctr"/>
            <a:r>
              <a:rPr sz="2000" b="1">
                <a:solidFill>
                  <a:srgbClr val="0C365C"/>
                </a:solidFill>
                <a:latin typeface="Cambria"/>
              </a:rPr>
              <a:t>Proposed Functional Workflow</a:t>
            </a:r>
          </a:p>
        </p:txBody>
      </p:sp>
      <p:sp>
        <p:nvSpPr>
          <p:cNvPr id="117" name="Rounded Rectangle 116"/>
          <p:cNvSpPr/>
          <p:nvPr/>
        </p:nvSpPr>
        <p:spPr>
          <a:xfrm>
            <a:off x="868680" y="1965960"/>
            <a:ext cx="1417320" cy="1143000"/>
          </a:xfrm>
          <a:prstGeom prst="roundRect">
            <a:avLst/>
          </a:prstGeom>
          <a:solidFill>
            <a:srgbClr val="F1F5F9"/>
          </a:solidFill>
          <a:ln w="19050">
            <a:solidFill>
              <a:srgbClr val="0C365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C365C"/>
                </a:solidFill>
                <a:latin typeface="Cambria"/>
              </a:rPr>
              <a:t>1
User / Admin
Login or access</a:t>
            </a:r>
          </a:p>
        </p:txBody>
      </p:sp>
      <p:cxnSp>
        <p:nvCxnSpPr>
          <p:cNvPr id="118" name="Connector 117"/>
          <p:cNvCxnSpPr/>
          <p:nvPr/>
        </p:nvCxnSpPr>
        <p:spPr>
          <a:xfrm>
            <a:off x="2286000" y="2542032"/>
            <a:ext cx="246888" cy="0"/>
          </a:xfrm>
          <a:prstGeom prst="line">
            <a:avLst/>
          </a:prstGeom>
          <a:ln w="19050">
            <a:solidFill>
              <a:srgbClr val="0C365C"/>
            </a:solidFill>
          </a:ln>
        </p:spPr>
        <p:style>
          <a:lnRef idx="2">
            <a:schemeClr val="accent1"/>
          </a:lnRef>
          <a:fillRef idx="0">
            <a:schemeClr val="accent1"/>
          </a:fillRef>
          <a:effectRef idx="1">
            <a:schemeClr val="accent1"/>
          </a:effectRef>
          <a:fontRef idx="minor">
            <a:schemeClr val="tx1"/>
          </a:fontRef>
        </p:style>
      </p:cxnSp>
      <p:sp>
        <p:nvSpPr>
          <p:cNvPr id="119" name="Rounded Rectangle 118"/>
          <p:cNvSpPr/>
          <p:nvPr/>
        </p:nvSpPr>
        <p:spPr>
          <a:xfrm>
            <a:off x="2496312" y="1965960"/>
            <a:ext cx="1417320" cy="1143000"/>
          </a:xfrm>
          <a:prstGeom prst="roundRect">
            <a:avLst/>
          </a:prstGeom>
          <a:solidFill>
            <a:srgbClr val="FFFFFF"/>
          </a:solidFill>
          <a:ln w="19050">
            <a:solidFill>
              <a:srgbClr val="0C365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C365C"/>
                </a:solidFill>
                <a:latin typeface="Cambria"/>
              </a:rPr>
              <a:t>2
Enter location
&amp; requirements</a:t>
            </a:r>
          </a:p>
        </p:txBody>
      </p:sp>
      <p:cxnSp>
        <p:nvCxnSpPr>
          <p:cNvPr id="120" name="Connector 119"/>
          <p:cNvCxnSpPr/>
          <p:nvPr/>
        </p:nvCxnSpPr>
        <p:spPr>
          <a:xfrm>
            <a:off x="3913632" y="2542032"/>
            <a:ext cx="246888" cy="0"/>
          </a:xfrm>
          <a:prstGeom prst="line">
            <a:avLst/>
          </a:prstGeom>
          <a:ln w="19050">
            <a:solidFill>
              <a:srgbClr val="0C365C"/>
            </a:solidFill>
          </a:ln>
        </p:spPr>
        <p:style>
          <a:lnRef idx="2">
            <a:schemeClr val="accent1"/>
          </a:lnRef>
          <a:fillRef idx="0">
            <a:schemeClr val="accent1"/>
          </a:fillRef>
          <a:effectRef idx="1">
            <a:schemeClr val="accent1"/>
          </a:effectRef>
          <a:fontRef idx="minor">
            <a:schemeClr val="tx1"/>
          </a:fontRef>
        </p:style>
      </p:cxnSp>
      <p:sp>
        <p:nvSpPr>
          <p:cNvPr id="121" name="Rounded Rectangle 120"/>
          <p:cNvSpPr/>
          <p:nvPr/>
        </p:nvSpPr>
        <p:spPr>
          <a:xfrm>
            <a:off x="4123944" y="1965960"/>
            <a:ext cx="1417320" cy="1143000"/>
          </a:xfrm>
          <a:prstGeom prst="roundRect">
            <a:avLst/>
          </a:prstGeom>
          <a:solidFill>
            <a:srgbClr val="F1F5F9"/>
          </a:solidFill>
          <a:ln w="19050">
            <a:solidFill>
              <a:srgbClr val="0C365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C365C"/>
                </a:solidFill>
                <a:latin typeface="Cambria"/>
              </a:rPr>
              <a:t>3
Fetch shelters
&amp; current status</a:t>
            </a:r>
          </a:p>
        </p:txBody>
      </p:sp>
      <p:cxnSp>
        <p:nvCxnSpPr>
          <p:cNvPr id="122" name="Connector 121"/>
          <p:cNvCxnSpPr/>
          <p:nvPr/>
        </p:nvCxnSpPr>
        <p:spPr>
          <a:xfrm>
            <a:off x="5541264" y="2542032"/>
            <a:ext cx="246888" cy="0"/>
          </a:xfrm>
          <a:prstGeom prst="line">
            <a:avLst/>
          </a:prstGeom>
          <a:ln w="19050">
            <a:solidFill>
              <a:srgbClr val="0C365C"/>
            </a:solidFill>
          </a:ln>
        </p:spPr>
        <p:style>
          <a:lnRef idx="2">
            <a:schemeClr val="accent1"/>
          </a:lnRef>
          <a:fillRef idx="0">
            <a:schemeClr val="accent1"/>
          </a:fillRef>
          <a:effectRef idx="1">
            <a:schemeClr val="accent1"/>
          </a:effectRef>
          <a:fontRef idx="minor">
            <a:schemeClr val="tx1"/>
          </a:fontRef>
        </p:style>
      </p:cxnSp>
      <p:sp>
        <p:nvSpPr>
          <p:cNvPr id="123" name="Rounded Rectangle 122"/>
          <p:cNvSpPr/>
          <p:nvPr/>
        </p:nvSpPr>
        <p:spPr>
          <a:xfrm>
            <a:off x="5751576" y="1965960"/>
            <a:ext cx="1417320" cy="1143000"/>
          </a:xfrm>
          <a:prstGeom prst="roundRect">
            <a:avLst/>
          </a:prstGeom>
          <a:solidFill>
            <a:srgbClr val="FFFFFF"/>
          </a:solidFill>
          <a:ln w="19050">
            <a:solidFill>
              <a:srgbClr val="0C365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C365C"/>
                </a:solidFill>
                <a:latin typeface="Cambria"/>
              </a:rPr>
              <a:t>4
Filter by
capacity / suitability</a:t>
            </a:r>
          </a:p>
        </p:txBody>
      </p:sp>
      <p:cxnSp>
        <p:nvCxnSpPr>
          <p:cNvPr id="124" name="Connector 123"/>
          <p:cNvCxnSpPr/>
          <p:nvPr/>
        </p:nvCxnSpPr>
        <p:spPr>
          <a:xfrm>
            <a:off x="7168896" y="2542032"/>
            <a:ext cx="246887" cy="0"/>
          </a:xfrm>
          <a:prstGeom prst="line">
            <a:avLst/>
          </a:prstGeom>
          <a:ln w="19050">
            <a:solidFill>
              <a:srgbClr val="0C365C"/>
            </a:solidFill>
          </a:ln>
        </p:spPr>
        <p:style>
          <a:lnRef idx="2">
            <a:schemeClr val="accent1"/>
          </a:lnRef>
          <a:fillRef idx="0">
            <a:schemeClr val="accent1"/>
          </a:fillRef>
          <a:effectRef idx="1">
            <a:schemeClr val="accent1"/>
          </a:effectRef>
          <a:fontRef idx="minor">
            <a:schemeClr val="tx1"/>
          </a:fontRef>
        </p:style>
      </p:cxnSp>
      <p:sp>
        <p:nvSpPr>
          <p:cNvPr id="125" name="Rounded Rectangle 124"/>
          <p:cNvSpPr/>
          <p:nvPr/>
        </p:nvSpPr>
        <p:spPr>
          <a:xfrm>
            <a:off x="7379208" y="1965960"/>
            <a:ext cx="1417320" cy="1143000"/>
          </a:xfrm>
          <a:prstGeom prst="roundRect">
            <a:avLst/>
          </a:prstGeom>
          <a:solidFill>
            <a:srgbClr val="F1F5F9"/>
          </a:solidFill>
          <a:ln w="19050">
            <a:solidFill>
              <a:srgbClr val="0C365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C365C"/>
                </a:solidFill>
                <a:latin typeface="Cambria"/>
              </a:rPr>
              <a:t>5
Rank by distance,
capacity &amp; suitability</a:t>
            </a:r>
          </a:p>
        </p:txBody>
      </p:sp>
      <p:cxnSp>
        <p:nvCxnSpPr>
          <p:cNvPr id="126" name="Connector 125"/>
          <p:cNvCxnSpPr/>
          <p:nvPr/>
        </p:nvCxnSpPr>
        <p:spPr>
          <a:xfrm>
            <a:off x="8796528" y="2542032"/>
            <a:ext cx="246888" cy="0"/>
          </a:xfrm>
          <a:prstGeom prst="line">
            <a:avLst/>
          </a:prstGeom>
          <a:ln w="19050">
            <a:solidFill>
              <a:srgbClr val="0C365C"/>
            </a:solidFill>
          </a:ln>
        </p:spPr>
        <p:style>
          <a:lnRef idx="2">
            <a:schemeClr val="accent1"/>
          </a:lnRef>
          <a:fillRef idx="0">
            <a:schemeClr val="accent1"/>
          </a:fillRef>
          <a:effectRef idx="1">
            <a:schemeClr val="accent1"/>
          </a:effectRef>
          <a:fontRef idx="minor">
            <a:schemeClr val="tx1"/>
          </a:fontRef>
        </p:style>
      </p:cxnSp>
      <p:sp>
        <p:nvSpPr>
          <p:cNvPr id="127" name="Rounded Rectangle 126"/>
          <p:cNvSpPr/>
          <p:nvPr/>
        </p:nvSpPr>
        <p:spPr>
          <a:xfrm>
            <a:off x="9006840" y="1965960"/>
            <a:ext cx="1417320" cy="1143000"/>
          </a:xfrm>
          <a:prstGeom prst="roundRect">
            <a:avLst/>
          </a:prstGeom>
          <a:solidFill>
            <a:srgbClr val="FFFFFF"/>
          </a:solidFill>
          <a:ln w="19050">
            <a:solidFill>
              <a:srgbClr val="0C365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C365C"/>
                </a:solidFill>
                <a:latin typeface="Cambria"/>
              </a:rPr>
              <a:t>6
Display shelter
+ route + details</a:t>
            </a:r>
          </a:p>
        </p:txBody>
      </p:sp>
      <p:cxnSp>
        <p:nvCxnSpPr>
          <p:cNvPr id="128" name="Connector 127"/>
          <p:cNvCxnSpPr/>
          <p:nvPr/>
        </p:nvCxnSpPr>
        <p:spPr>
          <a:xfrm>
            <a:off x="10424160" y="2542032"/>
            <a:ext cx="246888" cy="0"/>
          </a:xfrm>
          <a:prstGeom prst="line">
            <a:avLst/>
          </a:prstGeom>
          <a:ln w="19050">
            <a:solidFill>
              <a:srgbClr val="0C365C"/>
            </a:solidFill>
          </a:ln>
        </p:spPr>
        <p:style>
          <a:lnRef idx="2">
            <a:schemeClr val="accent1"/>
          </a:lnRef>
          <a:fillRef idx="0">
            <a:schemeClr val="accent1"/>
          </a:fillRef>
          <a:effectRef idx="1">
            <a:schemeClr val="accent1"/>
          </a:effectRef>
          <a:fontRef idx="minor">
            <a:schemeClr val="tx1"/>
          </a:fontRef>
        </p:style>
      </p:cxnSp>
      <p:sp>
        <p:nvSpPr>
          <p:cNvPr id="129" name="Rounded Rectangle 128"/>
          <p:cNvSpPr/>
          <p:nvPr/>
        </p:nvSpPr>
        <p:spPr>
          <a:xfrm>
            <a:off x="10634472" y="1965960"/>
            <a:ext cx="1417320" cy="1143000"/>
          </a:xfrm>
          <a:prstGeom prst="roundRect">
            <a:avLst/>
          </a:prstGeom>
          <a:solidFill>
            <a:srgbClr val="F1F5F9"/>
          </a:solidFill>
          <a:ln w="19050">
            <a:solidFill>
              <a:srgbClr val="0C365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C365C"/>
                </a:solidFill>
                <a:latin typeface="Cambria"/>
              </a:rPr>
              <a:t>7
Record allocation
&amp; update occupancy</a:t>
            </a:r>
          </a:p>
        </p:txBody>
      </p:sp>
      <p:sp>
        <p:nvSpPr>
          <p:cNvPr id="130" name="TextBox 129"/>
          <p:cNvSpPr txBox="1"/>
          <p:nvPr/>
        </p:nvSpPr>
        <p:spPr>
          <a:xfrm>
            <a:off x="960120" y="3703320"/>
            <a:ext cx="10287000" cy="1554480"/>
          </a:xfrm>
          <a:prstGeom prst="rect">
            <a:avLst/>
          </a:prstGeom>
          <a:noFill/>
        </p:spPr>
        <p:txBody>
          <a:bodyPr wrap="square" anchor="ctr">
            <a:spAutoFit/>
          </a:bodyPr>
          <a:lstStyle/>
          <a:p>
            <a:pPr algn="ctr"/>
            <a:r>
              <a:rPr sz="1500" b="0">
                <a:solidFill>
                  <a:srgbClr val="000000"/>
                </a:solidFill>
                <a:latin typeface="Cambria"/>
              </a:rPr>
              <a:t>Allocation logic: remove unavailable shelters → check capacity → check disaster/shelter suitability → calculate distance → apply ranking score → return the best feasible shelter(s). The administrator can update shelter capacity/occupancy, after which recommendations are recalculated.</a:t>
            </a:r>
          </a:p>
        </p:txBody>
      </p:sp>
      <p:sp>
        <p:nvSpPr>
          <p:cNvPr id="131" name="TextBox 130"/>
          <p:cNvSpPr txBox="1"/>
          <p:nvPr/>
        </p:nvSpPr>
        <p:spPr>
          <a:xfrm>
            <a:off x="960120" y="5440680"/>
            <a:ext cx="10287000" cy="502920"/>
          </a:xfrm>
          <a:prstGeom prst="rect">
            <a:avLst/>
          </a:prstGeom>
          <a:noFill/>
        </p:spPr>
        <p:txBody>
          <a:bodyPr wrap="square" anchor="t">
            <a:spAutoFit/>
          </a:bodyPr>
          <a:lstStyle/>
          <a:p>
            <a:pPr algn="ctr"/>
            <a:r>
              <a:rPr sz="1100" b="1">
                <a:solidFill>
                  <a:srgbClr val="5A5A5A"/>
                </a:solidFill>
                <a:latin typeface="Cambria"/>
              </a:rPr>
              <a:t>The system is designed as a decision-support platform; final emergency decisions remain with authorized personnel.</a:t>
            </a:r>
          </a:p>
        </p:txBody>
      </p:sp>
    </p:spTree>
    <p:extLst>
      <p:ext uri="{BB962C8B-B14F-4D97-AF65-F5344CB8AC3E}">
        <p14:creationId xmlns:p14="http://schemas.microsoft.com/office/powerpoint/2010/main" val="20004557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graphicFrame>
        <p:nvGraphicFramePr>
          <p:cNvPr id="116" name="Table 115"/>
          <p:cNvGraphicFramePr>
            <a:graphicFrameLocks noGrp="1"/>
          </p:cNvGraphicFramePr>
          <p:nvPr/>
        </p:nvGraphicFramePr>
        <p:xfrm>
          <a:off x="822960" y="1143000"/>
          <a:ext cx="10698480" cy="4526280"/>
        </p:xfrm>
        <a:graphic>
          <a:graphicData uri="http://schemas.openxmlformats.org/drawingml/2006/table">
            <a:tbl>
              <a:tblPr firstRow="1" bandRow="1">
                <a:tableStyleId>{5C22544A-7EE6-4342-B048-85BDC9FD1C3A}</a:tableStyleId>
              </a:tblPr>
              <a:tblGrid>
                <a:gridCol w="3840480"/>
                <a:gridCol w="1371600"/>
                <a:gridCol w="1371600"/>
                <a:gridCol w="1371600"/>
                <a:gridCol w="1371600"/>
                <a:gridCol w="1371600"/>
              </a:tblGrid>
              <a:tr h="452628">
                <a:tc>
                  <a:txBody>
                    <a:bodyPr/>
                    <a:lstStyle/>
                    <a:p>
                      <a:pPr algn="ctr"/>
                      <a:r>
                        <a:rPr sz="1100" b="1">
                          <a:solidFill>
                            <a:srgbClr val="FFFFFF"/>
                          </a:solidFill>
                          <a:latin typeface="Cambria"/>
                        </a:rPr>
                        <a:t>Project Activity</a:t>
                      </a:r>
                    </a:p>
                  </a:txBody>
                  <a:tcPr>
                    <a:solidFill>
                      <a:srgbClr val="0C365C"/>
                    </a:solidFill>
                  </a:tcPr>
                </a:tc>
                <a:tc>
                  <a:txBody>
                    <a:bodyPr/>
                    <a:lstStyle/>
                    <a:p>
                      <a:pPr algn="ctr"/>
                      <a:r>
                        <a:rPr sz="1100" b="1">
                          <a:solidFill>
                            <a:srgbClr val="FFFFFF"/>
                          </a:solidFill>
                          <a:latin typeface="Cambria"/>
                        </a:rPr>
                        <a:t>Aug</a:t>
                      </a:r>
                    </a:p>
                    <a:p>
                      <a:pPr algn="ctr"/>
                      <a:r>
                        <a:rPr sz="1100" b="1">
                          <a:solidFill>
                            <a:srgbClr val="FFFFFF"/>
                          </a:solidFill>
                          <a:latin typeface="Cambria"/>
                        </a:rPr>
                        <a:t>2026</a:t>
                      </a:r>
                    </a:p>
                  </a:txBody>
                  <a:tcPr>
                    <a:solidFill>
                      <a:srgbClr val="0C365C"/>
                    </a:solidFill>
                  </a:tcPr>
                </a:tc>
                <a:tc>
                  <a:txBody>
                    <a:bodyPr/>
                    <a:lstStyle/>
                    <a:p>
                      <a:pPr algn="ctr"/>
                      <a:r>
                        <a:rPr sz="1100" b="1">
                          <a:solidFill>
                            <a:srgbClr val="FFFFFF"/>
                          </a:solidFill>
                          <a:latin typeface="Cambria"/>
                        </a:rPr>
                        <a:t>Sep</a:t>
                      </a:r>
                    </a:p>
                    <a:p>
                      <a:pPr algn="ctr"/>
                      <a:r>
                        <a:rPr sz="1100" b="1">
                          <a:solidFill>
                            <a:srgbClr val="FFFFFF"/>
                          </a:solidFill>
                          <a:latin typeface="Cambria"/>
                        </a:rPr>
                        <a:t>2026</a:t>
                      </a:r>
                    </a:p>
                  </a:txBody>
                  <a:tcPr>
                    <a:solidFill>
                      <a:srgbClr val="0C365C"/>
                    </a:solidFill>
                  </a:tcPr>
                </a:tc>
                <a:tc>
                  <a:txBody>
                    <a:bodyPr/>
                    <a:lstStyle/>
                    <a:p>
                      <a:pPr algn="ctr"/>
                      <a:r>
                        <a:rPr sz="1100" b="1">
                          <a:solidFill>
                            <a:srgbClr val="FFFFFF"/>
                          </a:solidFill>
                          <a:latin typeface="Cambria"/>
                        </a:rPr>
                        <a:t>Oct</a:t>
                      </a:r>
                    </a:p>
                    <a:p>
                      <a:pPr algn="ctr"/>
                      <a:r>
                        <a:rPr sz="1100" b="1">
                          <a:solidFill>
                            <a:srgbClr val="FFFFFF"/>
                          </a:solidFill>
                          <a:latin typeface="Cambria"/>
                        </a:rPr>
                        <a:t>2026</a:t>
                      </a:r>
                    </a:p>
                  </a:txBody>
                  <a:tcPr>
                    <a:solidFill>
                      <a:srgbClr val="0C365C"/>
                    </a:solidFill>
                  </a:tcPr>
                </a:tc>
                <a:tc>
                  <a:txBody>
                    <a:bodyPr/>
                    <a:lstStyle/>
                    <a:p>
                      <a:pPr algn="ctr"/>
                      <a:r>
                        <a:rPr sz="1100" b="1">
                          <a:solidFill>
                            <a:srgbClr val="FFFFFF"/>
                          </a:solidFill>
                          <a:latin typeface="Cambria"/>
                        </a:rPr>
                        <a:t>Nov</a:t>
                      </a:r>
                    </a:p>
                    <a:p>
                      <a:pPr algn="ctr"/>
                      <a:r>
                        <a:rPr sz="1100" b="1">
                          <a:solidFill>
                            <a:srgbClr val="FFFFFF"/>
                          </a:solidFill>
                          <a:latin typeface="Cambria"/>
                        </a:rPr>
                        <a:t>2026</a:t>
                      </a:r>
                    </a:p>
                  </a:txBody>
                  <a:tcPr>
                    <a:solidFill>
                      <a:srgbClr val="0C365C"/>
                    </a:solidFill>
                  </a:tcPr>
                </a:tc>
                <a:tc>
                  <a:txBody>
                    <a:bodyPr/>
                    <a:lstStyle/>
                    <a:p>
                      <a:pPr algn="ctr"/>
                      <a:r>
                        <a:rPr sz="1100" b="1">
                          <a:solidFill>
                            <a:srgbClr val="FFFFFF"/>
                          </a:solidFill>
                          <a:latin typeface="Cambria"/>
                        </a:rPr>
                        <a:t>Dec</a:t>
                      </a:r>
                    </a:p>
                    <a:p>
                      <a:pPr algn="ctr"/>
                      <a:r>
                        <a:rPr sz="1100" b="1">
                          <a:solidFill>
                            <a:srgbClr val="FFFFFF"/>
                          </a:solidFill>
                          <a:latin typeface="Cambria"/>
                        </a:rPr>
                        <a:t>2026</a:t>
                      </a:r>
                    </a:p>
                  </a:txBody>
                  <a:tcPr>
                    <a:solidFill>
                      <a:srgbClr val="0C365C"/>
                    </a:solidFill>
                  </a:tcPr>
                </a:tc>
              </a:tr>
              <a:tr h="452628">
                <a:tc>
                  <a:txBody>
                    <a:bodyPr/>
                    <a:lstStyle/>
                    <a:p>
                      <a:pPr algn="l"/>
                      <a:r>
                        <a:rPr sz="1100" b="1">
                          <a:solidFill>
                            <a:srgbClr val="000000"/>
                          </a:solidFill>
                          <a:latin typeface="Cambria"/>
                        </a:rPr>
                        <a:t>Problem definition &amp; requirements</a:t>
                      </a:r>
                    </a:p>
                  </a:txBody>
                  <a:tcPr>
                    <a:solidFill>
                      <a:srgbClr val="FFFFFF"/>
                    </a:solidFill>
                  </a:tcPr>
                </a:tc>
                <a:tc>
                  <a:txBody>
                    <a:bodyPr/>
                    <a:lstStyle/>
                    <a:p>
                      <a:pPr algn="ctr"/>
                      <a:r>
                        <a:rPr sz="1600" b="1">
                          <a:solidFill>
                            <a:srgbClr val="0C365C"/>
                          </a:solidFill>
                          <a:latin typeface="Cambria"/>
                        </a:rPr>
                        <a:t>●</a:t>
                      </a:r>
                    </a:p>
                  </a:txBody>
                  <a:tcPr>
                    <a:solidFill>
                      <a:srgbClr val="FFFFFF"/>
                    </a:solidFill>
                  </a:tcPr>
                </a:tc>
                <a:tc>
                  <a:txBody>
                    <a:bodyPr/>
                    <a:lstStyle/>
                    <a:p>
                      <a:pPr algn="ctr"/>
                      <a:r>
                        <a:rPr sz="1600" b="1">
                          <a:solidFill>
                            <a:srgbClr val="0C365C"/>
                          </a:solidFill>
                          <a:latin typeface="Cambria"/>
                        </a:rPr>
                        <a:t>●</a:t>
                      </a:r>
                    </a:p>
                  </a:txBody>
                  <a:tcPr>
                    <a:solidFill>
                      <a:srgbClr val="FFFFFF"/>
                    </a:solidFill>
                  </a:tcPr>
                </a:tc>
                <a:tc>
                  <a:txBody>
                    <a:bodyPr/>
                    <a:lstStyle/>
                    <a:p>
                      <a:pPr algn="ctr"/>
                    </a:p>
                  </a:txBody>
                  <a:tcPr>
                    <a:solidFill>
                      <a:srgbClr val="FFFFFF"/>
                    </a:solidFill>
                  </a:tcPr>
                </a:tc>
                <a:tc>
                  <a:txBody>
                    <a:bodyPr/>
                    <a:lstStyle/>
                    <a:p>
                      <a:pPr algn="ctr"/>
                    </a:p>
                  </a:txBody>
                  <a:tcPr>
                    <a:solidFill>
                      <a:srgbClr val="FFFFFF"/>
                    </a:solidFill>
                  </a:tcPr>
                </a:tc>
                <a:tc>
                  <a:txBody>
                    <a:bodyPr/>
                    <a:lstStyle/>
                    <a:p>
                      <a:pPr algn="ctr"/>
                    </a:p>
                  </a:txBody>
                  <a:tcPr>
                    <a:solidFill>
                      <a:srgbClr val="FFFFFF"/>
                    </a:solidFill>
                  </a:tcPr>
                </a:tc>
              </a:tr>
              <a:tr h="452628">
                <a:tc>
                  <a:txBody>
                    <a:bodyPr/>
                    <a:lstStyle/>
                    <a:p>
                      <a:pPr algn="l"/>
                      <a:r>
                        <a:rPr sz="1100" b="1">
                          <a:solidFill>
                            <a:srgbClr val="000000"/>
                          </a:solidFill>
                          <a:latin typeface="Cambria"/>
                        </a:rPr>
                        <a:t>Literature review</a:t>
                      </a:r>
                    </a:p>
                  </a:txBody>
                  <a:tcPr>
                    <a:solidFill>
                      <a:srgbClr val="F1F5F9"/>
                    </a:solidFill>
                  </a:tcPr>
                </a:tc>
                <a:tc>
                  <a:txBody>
                    <a:bodyPr/>
                    <a:lstStyle/>
                    <a:p>
                      <a:pPr algn="ctr"/>
                      <a:r>
                        <a:rPr sz="1600" b="1">
                          <a:solidFill>
                            <a:srgbClr val="0C365C"/>
                          </a:solidFill>
                          <a:latin typeface="Cambria"/>
                        </a:rPr>
                        <a:t>●</a:t>
                      </a:r>
                    </a:p>
                  </a:txBody>
                  <a:tcPr>
                    <a:solidFill>
                      <a:srgbClr val="F1F5F9"/>
                    </a:solidFill>
                  </a:tcPr>
                </a:tc>
                <a:tc>
                  <a:txBody>
                    <a:bodyPr/>
                    <a:lstStyle/>
                    <a:p>
                      <a:pPr algn="ctr"/>
                      <a:r>
                        <a:rPr sz="1600" b="1">
                          <a:solidFill>
                            <a:srgbClr val="0C365C"/>
                          </a:solidFill>
                          <a:latin typeface="Cambria"/>
                        </a:rPr>
                        <a:t>●</a:t>
                      </a:r>
                    </a:p>
                  </a:txBody>
                  <a:tcPr>
                    <a:solidFill>
                      <a:srgbClr val="F1F5F9"/>
                    </a:solidFill>
                  </a:tcPr>
                </a:tc>
                <a:tc>
                  <a:txBody>
                    <a:bodyPr/>
                    <a:lstStyle/>
                    <a:p>
                      <a:pPr algn="ctr"/>
                    </a:p>
                  </a:txBody>
                  <a:tcPr>
                    <a:solidFill>
                      <a:srgbClr val="F1F5F9"/>
                    </a:solidFill>
                  </a:tcPr>
                </a:tc>
                <a:tc>
                  <a:txBody>
                    <a:bodyPr/>
                    <a:lstStyle/>
                    <a:p>
                      <a:pPr algn="ctr"/>
                    </a:p>
                  </a:txBody>
                  <a:tcPr>
                    <a:solidFill>
                      <a:srgbClr val="F1F5F9"/>
                    </a:solidFill>
                  </a:tcPr>
                </a:tc>
                <a:tc>
                  <a:txBody>
                    <a:bodyPr/>
                    <a:lstStyle/>
                    <a:p>
                      <a:pPr algn="ctr"/>
                    </a:p>
                  </a:txBody>
                  <a:tcPr>
                    <a:solidFill>
                      <a:srgbClr val="F1F5F9"/>
                    </a:solidFill>
                  </a:tcPr>
                </a:tc>
              </a:tr>
              <a:tr h="452628">
                <a:tc>
                  <a:txBody>
                    <a:bodyPr/>
                    <a:lstStyle/>
                    <a:p>
                      <a:pPr algn="l"/>
                      <a:r>
                        <a:rPr sz="1100" b="1">
                          <a:solidFill>
                            <a:srgbClr val="000000"/>
                          </a:solidFill>
                          <a:latin typeface="Cambria"/>
                        </a:rPr>
                        <a:t>System &amp; database design</a:t>
                      </a:r>
                    </a:p>
                  </a:txBody>
                  <a:tcPr>
                    <a:solidFill>
                      <a:srgbClr val="FFFFFF"/>
                    </a:solidFill>
                  </a:tcPr>
                </a:tc>
                <a:tc>
                  <a:txBody>
                    <a:bodyPr/>
                    <a:lstStyle/>
                    <a:p>
                      <a:pPr algn="ctr"/>
                    </a:p>
                  </a:txBody>
                  <a:tcPr>
                    <a:solidFill>
                      <a:srgbClr val="FFFFFF"/>
                    </a:solidFill>
                  </a:tcPr>
                </a:tc>
                <a:tc>
                  <a:txBody>
                    <a:bodyPr/>
                    <a:lstStyle/>
                    <a:p>
                      <a:pPr algn="ctr"/>
                      <a:r>
                        <a:rPr sz="1600" b="1">
                          <a:solidFill>
                            <a:srgbClr val="0C365C"/>
                          </a:solidFill>
                          <a:latin typeface="Cambria"/>
                        </a:rPr>
                        <a:t>●</a:t>
                      </a:r>
                    </a:p>
                  </a:txBody>
                  <a:tcPr>
                    <a:solidFill>
                      <a:srgbClr val="FFFFFF"/>
                    </a:solidFill>
                  </a:tcPr>
                </a:tc>
                <a:tc>
                  <a:txBody>
                    <a:bodyPr/>
                    <a:lstStyle/>
                    <a:p>
                      <a:pPr algn="ctr"/>
                      <a:r>
                        <a:rPr sz="1600" b="1">
                          <a:solidFill>
                            <a:srgbClr val="0C365C"/>
                          </a:solidFill>
                          <a:latin typeface="Cambria"/>
                        </a:rPr>
                        <a:t>●</a:t>
                      </a:r>
                    </a:p>
                  </a:txBody>
                  <a:tcPr>
                    <a:solidFill>
                      <a:srgbClr val="FFFFFF"/>
                    </a:solidFill>
                  </a:tcPr>
                </a:tc>
                <a:tc>
                  <a:txBody>
                    <a:bodyPr/>
                    <a:lstStyle/>
                    <a:p>
                      <a:pPr algn="ctr"/>
                    </a:p>
                  </a:txBody>
                  <a:tcPr>
                    <a:solidFill>
                      <a:srgbClr val="FFFFFF"/>
                    </a:solidFill>
                  </a:tcPr>
                </a:tc>
                <a:tc>
                  <a:txBody>
                    <a:bodyPr/>
                    <a:lstStyle/>
                    <a:p>
                      <a:pPr algn="ctr"/>
                    </a:p>
                  </a:txBody>
                  <a:tcPr>
                    <a:solidFill>
                      <a:srgbClr val="FFFFFF"/>
                    </a:solidFill>
                  </a:tcPr>
                </a:tc>
              </a:tr>
              <a:tr h="452628">
                <a:tc>
                  <a:txBody>
                    <a:bodyPr/>
                    <a:lstStyle/>
                    <a:p>
                      <a:pPr algn="l"/>
                      <a:r>
                        <a:rPr sz="1100" b="1">
                          <a:solidFill>
                            <a:srgbClr val="000000"/>
                          </a:solidFill>
                          <a:latin typeface="Cambria"/>
                        </a:rPr>
                        <a:t>UI / frontend development</a:t>
                      </a:r>
                    </a:p>
                  </a:txBody>
                  <a:tcPr>
                    <a:solidFill>
                      <a:srgbClr val="F1F5F9"/>
                    </a:solidFill>
                  </a:tcPr>
                </a:tc>
                <a:tc>
                  <a:txBody>
                    <a:bodyPr/>
                    <a:lstStyle/>
                    <a:p>
                      <a:pPr algn="ctr"/>
                    </a:p>
                  </a:txBody>
                  <a:tcPr>
                    <a:solidFill>
                      <a:srgbClr val="F1F5F9"/>
                    </a:solidFill>
                  </a:tcPr>
                </a:tc>
                <a:tc>
                  <a:txBody>
                    <a:bodyPr/>
                    <a:lstStyle/>
                    <a:p>
                      <a:pPr algn="ctr"/>
                      <a:r>
                        <a:rPr sz="1600" b="1">
                          <a:solidFill>
                            <a:srgbClr val="0C365C"/>
                          </a:solidFill>
                          <a:latin typeface="Cambria"/>
                        </a:rPr>
                        <a:t>●</a:t>
                      </a:r>
                    </a:p>
                  </a:txBody>
                  <a:tcPr>
                    <a:solidFill>
                      <a:srgbClr val="F1F5F9"/>
                    </a:solidFill>
                  </a:tcPr>
                </a:tc>
                <a:tc>
                  <a:txBody>
                    <a:bodyPr/>
                    <a:lstStyle/>
                    <a:p>
                      <a:pPr algn="ctr"/>
                      <a:r>
                        <a:rPr sz="1600" b="1">
                          <a:solidFill>
                            <a:srgbClr val="0C365C"/>
                          </a:solidFill>
                          <a:latin typeface="Cambria"/>
                        </a:rPr>
                        <a:t>●</a:t>
                      </a:r>
                    </a:p>
                  </a:txBody>
                  <a:tcPr>
                    <a:solidFill>
                      <a:srgbClr val="F1F5F9"/>
                    </a:solidFill>
                  </a:tcPr>
                </a:tc>
                <a:tc>
                  <a:txBody>
                    <a:bodyPr/>
                    <a:lstStyle/>
                    <a:p>
                      <a:pPr algn="ctr"/>
                      <a:r>
                        <a:rPr sz="1600" b="1">
                          <a:solidFill>
                            <a:srgbClr val="0C365C"/>
                          </a:solidFill>
                          <a:latin typeface="Cambria"/>
                        </a:rPr>
                        <a:t>●</a:t>
                      </a:r>
                    </a:p>
                  </a:txBody>
                  <a:tcPr>
                    <a:solidFill>
                      <a:srgbClr val="F1F5F9"/>
                    </a:solidFill>
                  </a:tcPr>
                </a:tc>
                <a:tc>
                  <a:txBody>
                    <a:bodyPr/>
                    <a:lstStyle/>
                    <a:p>
                      <a:pPr algn="ctr"/>
                    </a:p>
                  </a:txBody>
                  <a:tcPr>
                    <a:solidFill>
                      <a:srgbClr val="F1F5F9"/>
                    </a:solidFill>
                  </a:tcPr>
                </a:tc>
              </a:tr>
              <a:tr h="452628">
                <a:tc>
                  <a:txBody>
                    <a:bodyPr/>
                    <a:lstStyle/>
                    <a:p>
                      <a:pPr algn="l"/>
                      <a:r>
                        <a:rPr sz="1100" b="1">
                          <a:solidFill>
                            <a:srgbClr val="000000"/>
                          </a:solidFill>
                          <a:latin typeface="Cambria"/>
                        </a:rPr>
                        <a:t>Backend &amp; allocation logic</a:t>
                      </a:r>
                    </a:p>
                  </a:txBody>
                  <a:tcPr>
                    <a:solidFill>
                      <a:srgbClr val="FFFFFF"/>
                    </a:solidFill>
                  </a:tcPr>
                </a:tc>
                <a:tc>
                  <a:txBody>
                    <a:bodyPr/>
                    <a:lstStyle/>
                    <a:p>
                      <a:pPr algn="ctr"/>
                    </a:p>
                  </a:txBody>
                  <a:tcPr>
                    <a:solidFill>
                      <a:srgbClr val="FFFFFF"/>
                    </a:solidFill>
                  </a:tcPr>
                </a:tc>
                <a:tc>
                  <a:txBody>
                    <a:bodyPr/>
                    <a:lstStyle/>
                    <a:p>
                      <a:pPr algn="ctr"/>
                    </a:p>
                  </a:txBody>
                  <a:tcPr>
                    <a:solidFill>
                      <a:srgbClr val="FFFFFF"/>
                    </a:solidFill>
                  </a:tcPr>
                </a:tc>
                <a:tc>
                  <a:txBody>
                    <a:bodyPr/>
                    <a:lstStyle/>
                    <a:p>
                      <a:pPr algn="ctr"/>
                      <a:r>
                        <a:rPr sz="1600" b="1">
                          <a:solidFill>
                            <a:srgbClr val="0C365C"/>
                          </a:solidFill>
                          <a:latin typeface="Cambria"/>
                        </a:rPr>
                        <a:t>●</a:t>
                      </a:r>
                    </a:p>
                  </a:txBody>
                  <a:tcPr>
                    <a:solidFill>
                      <a:srgbClr val="FFFFFF"/>
                    </a:solidFill>
                  </a:tcPr>
                </a:tc>
                <a:tc>
                  <a:txBody>
                    <a:bodyPr/>
                    <a:lstStyle/>
                    <a:p>
                      <a:pPr algn="ctr"/>
                      <a:r>
                        <a:rPr sz="1600" b="1">
                          <a:solidFill>
                            <a:srgbClr val="0C365C"/>
                          </a:solidFill>
                          <a:latin typeface="Cambria"/>
                        </a:rPr>
                        <a:t>●</a:t>
                      </a:r>
                    </a:p>
                  </a:txBody>
                  <a:tcPr>
                    <a:solidFill>
                      <a:srgbClr val="FFFFFF"/>
                    </a:solidFill>
                  </a:tcPr>
                </a:tc>
                <a:tc>
                  <a:txBody>
                    <a:bodyPr/>
                    <a:lstStyle/>
                    <a:p>
                      <a:pPr algn="ctr"/>
                    </a:p>
                  </a:txBody>
                  <a:tcPr>
                    <a:solidFill>
                      <a:srgbClr val="FFFFFF"/>
                    </a:solidFill>
                  </a:tcPr>
                </a:tc>
              </a:tr>
              <a:tr h="452628">
                <a:tc>
                  <a:txBody>
                    <a:bodyPr/>
                    <a:lstStyle/>
                    <a:p>
                      <a:pPr algn="l"/>
                      <a:r>
                        <a:rPr sz="1100" b="1">
                          <a:solidFill>
                            <a:srgbClr val="000000"/>
                          </a:solidFill>
                          <a:latin typeface="Cambria"/>
                        </a:rPr>
                        <a:t>Maps / routing integration</a:t>
                      </a:r>
                    </a:p>
                  </a:txBody>
                  <a:tcPr>
                    <a:solidFill>
                      <a:srgbClr val="F1F5F9"/>
                    </a:solidFill>
                  </a:tcPr>
                </a:tc>
                <a:tc>
                  <a:txBody>
                    <a:bodyPr/>
                    <a:lstStyle/>
                    <a:p>
                      <a:pPr algn="ctr"/>
                    </a:p>
                  </a:txBody>
                  <a:tcPr>
                    <a:solidFill>
                      <a:srgbClr val="F1F5F9"/>
                    </a:solidFill>
                  </a:tcPr>
                </a:tc>
                <a:tc>
                  <a:txBody>
                    <a:bodyPr/>
                    <a:lstStyle/>
                    <a:p>
                      <a:pPr algn="ctr"/>
                    </a:p>
                  </a:txBody>
                  <a:tcPr>
                    <a:solidFill>
                      <a:srgbClr val="F1F5F9"/>
                    </a:solidFill>
                  </a:tcPr>
                </a:tc>
                <a:tc>
                  <a:txBody>
                    <a:bodyPr/>
                    <a:lstStyle/>
                    <a:p>
                      <a:pPr algn="ctr"/>
                      <a:r>
                        <a:rPr sz="1600" b="1">
                          <a:solidFill>
                            <a:srgbClr val="0C365C"/>
                          </a:solidFill>
                          <a:latin typeface="Cambria"/>
                        </a:rPr>
                        <a:t>●</a:t>
                      </a:r>
                    </a:p>
                  </a:txBody>
                  <a:tcPr>
                    <a:solidFill>
                      <a:srgbClr val="F1F5F9"/>
                    </a:solidFill>
                  </a:tcPr>
                </a:tc>
                <a:tc>
                  <a:txBody>
                    <a:bodyPr/>
                    <a:lstStyle/>
                    <a:p>
                      <a:pPr algn="ctr"/>
                      <a:r>
                        <a:rPr sz="1600" b="1">
                          <a:solidFill>
                            <a:srgbClr val="0C365C"/>
                          </a:solidFill>
                          <a:latin typeface="Cambria"/>
                        </a:rPr>
                        <a:t>●</a:t>
                      </a:r>
                    </a:p>
                  </a:txBody>
                  <a:tcPr>
                    <a:solidFill>
                      <a:srgbClr val="F1F5F9"/>
                    </a:solidFill>
                  </a:tcPr>
                </a:tc>
                <a:tc>
                  <a:txBody>
                    <a:bodyPr/>
                    <a:lstStyle/>
                    <a:p>
                      <a:pPr algn="ctr"/>
                    </a:p>
                  </a:txBody>
                  <a:tcPr>
                    <a:solidFill>
                      <a:srgbClr val="F1F5F9"/>
                    </a:solidFill>
                  </a:tcPr>
                </a:tc>
              </a:tr>
              <a:tr h="452628">
                <a:tc>
                  <a:txBody>
                    <a:bodyPr/>
                    <a:lstStyle/>
                    <a:p>
                      <a:pPr algn="l"/>
                      <a:r>
                        <a:rPr sz="1100" b="1">
                          <a:solidFill>
                            <a:srgbClr val="0C365C"/>
                          </a:solidFill>
                          <a:latin typeface="Cambria"/>
                        </a:rPr>
                        <a:t>Testing &amp; refinement</a:t>
                      </a:r>
                    </a:p>
                  </a:txBody>
                  <a:tcPr>
                    <a:solidFill>
                      <a:srgbClr val="FFFFFF"/>
                    </a:solidFill>
                  </a:tcPr>
                </a:tc>
                <a:tc>
                  <a:txBody>
                    <a:bodyPr/>
                    <a:lstStyle/>
                    <a:p>
                      <a:pPr algn="ctr"/>
                    </a:p>
                  </a:txBody>
                  <a:tcPr>
                    <a:solidFill>
                      <a:srgbClr val="FFFFFF"/>
                    </a:solidFill>
                  </a:tcPr>
                </a:tc>
                <a:tc>
                  <a:txBody>
                    <a:bodyPr/>
                    <a:lstStyle/>
                    <a:p>
                      <a:pPr algn="ctr"/>
                    </a:p>
                  </a:txBody>
                  <a:tcPr>
                    <a:solidFill>
                      <a:srgbClr val="FFFFFF"/>
                    </a:solidFill>
                  </a:tcPr>
                </a:tc>
                <a:tc>
                  <a:txBody>
                    <a:bodyPr/>
                    <a:lstStyle/>
                    <a:p>
                      <a:pPr algn="ctr"/>
                    </a:p>
                  </a:txBody>
                  <a:tcPr>
                    <a:solidFill>
                      <a:srgbClr val="FFFFFF"/>
                    </a:solidFill>
                  </a:tcPr>
                </a:tc>
                <a:tc>
                  <a:txBody>
                    <a:bodyPr/>
                    <a:lstStyle/>
                    <a:p>
                      <a:pPr algn="ctr"/>
                      <a:r>
                        <a:rPr sz="1600" b="1">
                          <a:solidFill>
                            <a:srgbClr val="0C365C"/>
                          </a:solidFill>
                          <a:latin typeface="Cambria"/>
                        </a:rPr>
                        <a:t>●</a:t>
                      </a:r>
                    </a:p>
                  </a:txBody>
                  <a:tcPr>
                    <a:solidFill>
                      <a:srgbClr val="FFFFFF"/>
                    </a:solidFill>
                  </a:tcPr>
                </a:tc>
                <a:tc>
                  <a:txBody>
                    <a:bodyPr/>
                    <a:lstStyle/>
                    <a:p>
                      <a:pPr algn="ctr"/>
                      <a:r>
                        <a:rPr sz="1600" b="1">
                          <a:solidFill>
                            <a:srgbClr val="0C365C"/>
                          </a:solidFill>
                          <a:latin typeface="Cambria"/>
                        </a:rPr>
                        <a:t>●</a:t>
                      </a:r>
                    </a:p>
                  </a:txBody>
                  <a:tcPr>
                    <a:solidFill>
                      <a:srgbClr val="FFFFFF"/>
                    </a:solidFill>
                  </a:tcPr>
                </a:tc>
              </a:tr>
              <a:tr h="452628">
                <a:tc>
                  <a:txBody>
                    <a:bodyPr/>
                    <a:lstStyle/>
                    <a:p>
                      <a:pPr algn="l"/>
                      <a:r>
                        <a:rPr sz="1100" b="1">
                          <a:solidFill>
                            <a:srgbClr val="0C365C"/>
                          </a:solidFill>
                          <a:latin typeface="Cambria"/>
                        </a:rPr>
                        <a:t>Deployment &amp; evaluation</a:t>
                      </a:r>
                    </a:p>
                  </a:txBody>
                  <a:tcPr>
                    <a:solidFill>
                      <a:srgbClr val="F1F5F9"/>
                    </a:solidFill>
                  </a:tcPr>
                </a:tc>
                <a:tc>
                  <a:txBody>
                    <a:bodyPr/>
                    <a:lstStyle/>
                    <a:p>
                      <a:pPr algn="ctr"/>
                    </a:p>
                  </a:txBody>
                  <a:tcPr>
                    <a:solidFill>
                      <a:srgbClr val="F1F5F9"/>
                    </a:solidFill>
                  </a:tcPr>
                </a:tc>
                <a:tc>
                  <a:txBody>
                    <a:bodyPr/>
                    <a:lstStyle/>
                    <a:p>
                      <a:pPr algn="ctr"/>
                    </a:p>
                  </a:txBody>
                  <a:tcPr>
                    <a:solidFill>
                      <a:srgbClr val="F1F5F9"/>
                    </a:solidFill>
                  </a:tcPr>
                </a:tc>
                <a:tc>
                  <a:txBody>
                    <a:bodyPr/>
                    <a:lstStyle/>
                    <a:p>
                      <a:pPr algn="ctr"/>
                    </a:p>
                  </a:txBody>
                  <a:tcPr>
                    <a:solidFill>
                      <a:srgbClr val="F1F5F9"/>
                    </a:solidFill>
                  </a:tcPr>
                </a:tc>
                <a:tc>
                  <a:txBody>
                    <a:bodyPr/>
                    <a:lstStyle/>
                    <a:p>
                      <a:pPr algn="ctr"/>
                    </a:p>
                  </a:txBody>
                  <a:tcPr>
                    <a:solidFill>
                      <a:srgbClr val="F1F5F9"/>
                    </a:solidFill>
                  </a:tcPr>
                </a:tc>
                <a:tc>
                  <a:txBody>
                    <a:bodyPr/>
                    <a:lstStyle/>
                    <a:p>
                      <a:pPr algn="ctr"/>
                      <a:r>
                        <a:rPr sz="1600" b="1">
                          <a:solidFill>
                            <a:srgbClr val="0C365C"/>
                          </a:solidFill>
                          <a:latin typeface="Cambria"/>
                        </a:rPr>
                        <a:t>●</a:t>
                      </a:r>
                    </a:p>
                  </a:txBody>
                  <a:tcPr>
                    <a:solidFill>
                      <a:srgbClr val="F1F5F9"/>
                    </a:solidFill>
                  </a:tcPr>
                </a:tc>
              </a:tr>
              <a:tr h="452628">
                <a:tc>
                  <a:txBody>
                    <a:bodyPr/>
                    <a:lstStyle/>
                    <a:p>
                      <a:pPr algn="l"/>
                      <a:r>
                        <a:rPr sz="1100" b="1">
                          <a:solidFill>
                            <a:srgbClr val="0C365C"/>
                          </a:solidFill>
                          <a:latin typeface="Cambria"/>
                        </a:rPr>
                        <a:t>Documentation &amp; final review</a:t>
                      </a:r>
                    </a:p>
                  </a:txBody>
                  <a:tcPr>
                    <a:solidFill>
                      <a:srgbClr val="FFFFFF"/>
                    </a:solidFill>
                  </a:tcPr>
                </a:tc>
                <a:tc>
                  <a:txBody>
                    <a:bodyPr/>
                    <a:lstStyle/>
                    <a:p>
                      <a:pPr algn="ctr"/>
                    </a:p>
                  </a:txBody>
                  <a:tcPr>
                    <a:solidFill>
                      <a:srgbClr val="FFFFFF"/>
                    </a:solidFill>
                  </a:tcPr>
                </a:tc>
                <a:tc>
                  <a:txBody>
                    <a:bodyPr/>
                    <a:lstStyle/>
                    <a:p>
                      <a:pPr algn="ctr"/>
                    </a:p>
                  </a:txBody>
                  <a:tcPr>
                    <a:solidFill>
                      <a:srgbClr val="FFFFFF"/>
                    </a:solidFill>
                  </a:tcPr>
                </a:tc>
                <a:tc>
                  <a:txBody>
                    <a:bodyPr/>
                    <a:lstStyle/>
                    <a:p>
                      <a:pPr algn="ctr"/>
                    </a:p>
                  </a:txBody>
                  <a:tcPr>
                    <a:solidFill>
                      <a:srgbClr val="FFFFFF"/>
                    </a:solidFill>
                  </a:tcPr>
                </a:tc>
                <a:tc>
                  <a:txBody>
                    <a:bodyPr/>
                    <a:lstStyle/>
                    <a:p>
                      <a:pPr algn="ctr"/>
                      <a:r>
                        <a:rPr sz="1600" b="1">
                          <a:solidFill>
                            <a:srgbClr val="0C365C"/>
                          </a:solidFill>
                          <a:latin typeface="Cambria"/>
                        </a:rPr>
                        <a:t>●</a:t>
                      </a:r>
                    </a:p>
                  </a:txBody>
                  <a:tcPr>
                    <a:solidFill>
                      <a:srgbClr val="FFFFFF"/>
                    </a:solidFill>
                  </a:tcPr>
                </a:tc>
                <a:tc>
                  <a:txBody>
                    <a:bodyPr/>
                    <a:lstStyle/>
                    <a:p>
                      <a:pPr algn="ctr"/>
                      <a:r>
                        <a:rPr sz="1600" b="1">
                          <a:solidFill>
                            <a:srgbClr val="0C365C"/>
                          </a:solidFill>
                          <a:latin typeface="Cambria"/>
                        </a:rPr>
                        <a:t>●</a:t>
                      </a:r>
                    </a:p>
                  </a:txBody>
                  <a:tcPr>
                    <a:solidFill>
                      <a:srgbClr val="FFFFFF"/>
                    </a:solidFill>
                  </a:tcPr>
                </a:tc>
              </a:tr>
            </a:tbl>
          </a:graphicData>
        </a:graphic>
      </p:graphicFrame>
      <p:sp>
        <p:nvSpPr>
          <p:cNvPr id="117" name="TextBox 116"/>
          <p:cNvSpPr txBox="1"/>
          <p:nvPr/>
        </p:nvSpPr>
        <p:spPr>
          <a:xfrm>
            <a:off x="914400" y="5833872"/>
            <a:ext cx="10241280" cy="320040"/>
          </a:xfrm>
          <a:prstGeom prst="rect">
            <a:avLst/>
          </a:prstGeom>
          <a:noFill/>
        </p:spPr>
        <p:txBody>
          <a:bodyPr wrap="square" anchor="t">
            <a:spAutoFit/>
          </a:bodyPr>
          <a:lstStyle/>
          <a:p>
            <a:pPr algn="ctr"/>
            <a:r>
              <a:rPr sz="1000" b="0">
                <a:solidFill>
                  <a:srgbClr val="5A5A5A"/>
                </a:solidFill>
                <a:latin typeface="Cambria"/>
              </a:rPr>
              <a:t>Planned timeline: Aug–Dec 2026 | ● Active work period</a:t>
            </a:r>
          </a:p>
        </p:txBody>
      </p:sp>
    </p:spTree>
    <p:extLst>
      <p:ext uri="{BB962C8B-B14F-4D97-AF65-F5344CB8AC3E}">
        <p14:creationId xmlns:p14="http://schemas.microsoft.com/office/powerpoint/2010/main" val="4798902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TextBox 144"/>
          <p:cNvSpPr txBox="1"/>
          <p:nvPr/>
        </p:nvSpPr>
        <p:spPr>
          <a:xfrm>
            <a:off x="841248" y="1078992"/>
            <a:ext cx="10652760" cy="320040"/>
          </a:xfrm>
          <a:prstGeom prst="rect">
            <a:avLst/>
          </a:prstGeom>
          <a:noFill/>
        </p:spPr>
        <p:txBody>
          <a:bodyPr wrap="square" anchor="t">
            <a:spAutoFit/>
          </a:bodyPr>
          <a:lstStyle/>
          <a:p>
            <a:pPr algn="ctr"/>
            <a:r>
              <a:rPr sz="1100" b="1">
                <a:solidFill>
                  <a:srgbClr val="0C365C"/>
                </a:solidFill>
                <a:latin typeface="Cambria"/>
              </a:rPr>
              <a:t>APA-style citations with direct DOI / IEEE Xplore links</a:t>
            </a:r>
          </a:p>
        </p:txBody>
      </p:sp>
      <p:sp>
        <p:nvSpPr>
          <p:cNvPr id="146" name="TextBox 145"/>
          <p:cNvSpPr txBox="1"/>
          <p:nvPr/>
        </p:nvSpPr>
        <p:spPr>
          <a:xfrm>
            <a:off x="896112" y="1481328"/>
            <a:ext cx="5074920" cy="850392"/>
          </a:xfrm>
          <a:prstGeom prst="rect">
            <a:avLst/>
          </a:prstGeom>
          <a:noFill/>
        </p:spPr>
        <p:txBody>
          <a:bodyPr wrap="square" anchor="t">
            <a:spAutoFit/>
          </a:bodyPr>
          <a:lstStyle/>
          <a:p>
            <a:pPr algn="l"/>
            <a:r>
              <a:rPr sz="969" b="0">
                <a:solidFill>
                  <a:srgbClr val="000000"/>
                </a:solidFill>
                <a:latin typeface="Cambria"/>
                <a:hlinkClick r:id="rId3"/>
              </a:rPr>
              <a:t>[1] Yang, K., Shekhar, A. H., Rehman, F. U., Lahza, H., Basalamah, S., Shekhar, S., Ahmed, I., &amp; Ghafoor, A. (2015). Intelligent shelter allotment for emergency evacuation planning: A case study of Makkah. IEEE Intelligent Systems, 30(5), 66–76. https://doi.org/10.1109/MIS.2015.39</a:t>
            </a:r>
          </a:p>
        </p:txBody>
      </p:sp>
      <p:sp>
        <p:nvSpPr>
          <p:cNvPr id="147" name="TextBox 146"/>
          <p:cNvSpPr txBox="1"/>
          <p:nvPr/>
        </p:nvSpPr>
        <p:spPr>
          <a:xfrm>
            <a:off x="896112" y="2395728"/>
            <a:ext cx="5074920" cy="850392"/>
          </a:xfrm>
          <a:prstGeom prst="rect">
            <a:avLst/>
          </a:prstGeom>
          <a:noFill/>
        </p:spPr>
        <p:txBody>
          <a:bodyPr wrap="square" anchor="t">
            <a:spAutoFit/>
          </a:bodyPr>
          <a:lstStyle/>
          <a:p>
            <a:pPr algn="l"/>
            <a:r>
              <a:rPr sz="969" b="0">
                <a:solidFill>
                  <a:srgbClr val="000000"/>
                </a:solidFill>
                <a:latin typeface="Cambria"/>
                <a:hlinkClick r:id="rId4"/>
              </a:rPr>
              <a:t>[2] Zhang, J., Zhang, M., Ren, F., &amp; Liu, J. (2016). An innovation approach for optimal resource allocation in emergency management. IEEE Transactions on Computers. https://doi.org/10.1109/TC.2016.2601331</a:t>
            </a:r>
          </a:p>
        </p:txBody>
      </p:sp>
      <p:sp>
        <p:nvSpPr>
          <p:cNvPr id="148" name="TextBox 147"/>
          <p:cNvSpPr txBox="1"/>
          <p:nvPr/>
        </p:nvSpPr>
        <p:spPr>
          <a:xfrm>
            <a:off x="896112" y="3310128"/>
            <a:ext cx="5074920" cy="850392"/>
          </a:xfrm>
          <a:prstGeom prst="rect">
            <a:avLst/>
          </a:prstGeom>
          <a:noFill/>
        </p:spPr>
        <p:txBody>
          <a:bodyPr wrap="square" anchor="t">
            <a:spAutoFit/>
          </a:bodyPr>
          <a:lstStyle/>
          <a:p>
            <a:pPr algn="l"/>
            <a:r>
              <a:rPr sz="969" b="0">
                <a:solidFill>
                  <a:srgbClr val="000000"/>
                </a:solidFill>
                <a:latin typeface="Cambria"/>
                <a:hlinkClick r:id="rId5"/>
              </a:rPr>
              <a:t>[3] Wang, F., Pei, Z., Dong, L., &amp; Ma, J. (2020). Emergency resource allocation for multi-period post-disaster using multi-objective cellular genetic algorithm. IEEE Access, 8, 82255–82265. https://doi.org/10.1109/ACCESS.2020.2991865</a:t>
            </a:r>
          </a:p>
        </p:txBody>
      </p:sp>
      <p:sp>
        <p:nvSpPr>
          <p:cNvPr id="149" name="TextBox 148"/>
          <p:cNvSpPr txBox="1"/>
          <p:nvPr/>
        </p:nvSpPr>
        <p:spPr>
          <a:xfrm>
            <a:off x="896112" y="4224528"/>
            <a:ext cx="5074920" cy="850392"/>
          </a:xfrm>
          <a:prstGeom prst="rect">
            <a:avLst/>
          </a:prstGeom>
          <a:noFill/>
        </p:spPr>
        <p:txBody>
          <a:bodyPr wrap="square" anchor="t">
            <a:spAutoFit/>
          </a:bodyPr>
          <a:lstStyle/>
          <a:p>
            <a:pPr algn="l"/>
            <a:r>
              <a:rPr sz="969" b="0">
                <a:solidFill>
                  <a:srgbClr val="000000"/>
                </a:solidFill>
                <a:latin typeface="Cambria"/>
                <a:hlinkClick r:id="rId6"/>
              </a:rPr>
              <a:t>[4] Amiran, A., Behnam, B., &amp; Seyedin, S. (2025). Machine learning for earthquake emergency evacuation: Site selection and neighborhood navigation. IEEE Access, 13, 91595–91610. https://doi.org/10.1109/ACCESS.2025.3573207</a:t>
            </a:r>
          </a:p>
        </p:txBody>
      </p:sp>
      <p:sp>
        <p:nvSpPr>
          <p:cNvPr id="150" name="TextBox 149"/>
          <p:cNvSpPr txBox="1"/>
          <p:nvPr/>
        </p:nvSpPr>
        <p:spPr>
          <a:xfrm>
            <a:off x="896112" y="5138928"/>
            <a:ext cx="5074920" cy="850392"/>
          </a:xfrm>
          <a:prstGeom prst="rect">
            <a:avLst/>
          </a:prstGeom>
          <a:noFill/>
        </p:spPr>
        <p:txBody>
          <a:bodyPr wrap="square" anchor="t">
            <a:spAutoFit/>
          </a:bodyPr>
          <a:lstStyle/>
          <a:p>
            <a:pPr algn="l"/>
            <a:r>
              <a:rPr sz="969" b="0">
                <a:solidFill>
                  <a:srgbClr val="000000"/>
                </a:solidFill>
                <a:latin typeface="Cambria"/>
                <a:hlinkClick r:id="rId7"/>
              </a:rPr>
              <a:t>[5] Sarma, D., Das, A., Bera, U. K., &amp; Singh, A. (2020). A cost minimization resource allocation model for disaster relief operations with an information crowdsourcing-based MCDM approach. IEEE Transactions on Engineering Management, 69(5), 2454–2474. https://doi.org/10.1109/TEM.2020.3015775</a:t>
            </a:r>
          </a:p>
        </p:txBody>
      </p:sp>
      <p:sp>
        <p:nvSpPr>
          <p:cNvPr id="151" name="TextBox 150"/>
          <p:cNvSpPr txBox="1"/>
          <p:nvPr/>
        </p:nvSpPr>
        <p:spPr>
          <a:xfrm>
            <a:off x="6382512" y="1481328"/>
            <a:ext cx="5074920" cy="850392"/>
          </a:xfrm>
          <a:prstGeom prst="rect">
            <a:avLst/>
          </a:prstGeom>
          <a:noFill/>
        </p:spPr>
        <p:txBody>
          <a:bodyPr wrap="square" anchor="t">
            <a:spAutoFit/>
          </a:bodyPr>
          <a:lstStyle/>
          <a:p>
            <a:pPr algn="l"/>
            <a:r>
              <a:rPr sz="969" b="0">
                <a:solidFill>
                  <a:srgbClr val="000000"/>
                </a:solidFill>
                <a:latin typeface="Cambria"/>
                <a:hlinkClick r:id="rId8"/>
              </a:rPr>
              <a:t>[6] Li, D., Li, Y., &amp; Wang, L. (2009). Model and algorithms for emergency service facility location problem. In 2009 IITA International Conference on Services Science, Management and Engineering (SSME), 15–18. https://doi.org/10.1109/SSME.2009.80</a:t>
            </a:r>
          </a:p>
        </p:txBody>
      </p:sp>
      <p:sp>
        <p:nvSpPr>
          <p:cNvPr id="152" name="TextBox 151"/>
          <p:cNvSpPr txBox="1"/>
          <p:nvPr/>
        </p:nvSpPr>
        <p:spPr>
          <a:xfrm>
            <a:off x="6382512" y="2395728"/>
            <a:ext cx="5074920" cy="850392"/>
          </a:xfrm>
          <a:prstGeom prst="rect">
            <a:avLst/>
          </a:prstGeom>
          <a:noFill/>
        </p:spPr>
        <p:txBody>
          <a:bodyPr wrap="square" anchor="t">
            <a:spAutoFit/>
          </a:bodyPr>
          <a:lstStyle/>
          <a:p>
            <a:pPr algn="l"/>
            <a:r>
              <a:rPr sz="969" b="0">
                <a:solidFill>
                  <a:srgbClr val="000000"/>
                </a:solidFill>
                <a:latin typeface="Cambria"/>
                <a:hlinkClick r:id="rId9"/>
              </a:rPr>
              <a:t>[7] Tanti, L., Efendi, S., Lydia, M. S., &amp; Mawengkang, H. (2022). Designing an optimization model for dynamic facility-location problem at post-disaster area considering uncertainty. In 2022 4th International Conference on Cybernetics and Intelligent System (ICORIS), 1–6. https://doi.org/10.1109/ICORIS56080.2022.10031495</a:t>
            </a:r>
          </a:p>
        </p:txBody>
      </p:sp>
      <p:sp>
        <p:nvSpPr>
          <p:cNvPr id="153" name="TextBox 152"/>
          <p:cNvSpPr txBox="1"/>
          <p:nvPr/>
        </p:nvSpPr>
        <p:spPr>
          <a:xfrm>
            <a:off x="6382512" y="3310128"/>
            <a:ext cx="5074920" cy="850392"/>
          </a:xfrm>
          <a:prstGeom prst="rect">
            <a:avLst/>
          </a:prstGeom>
          <a:noFill/>
        </p:spPr>
        <p:txBody>
          <a:bodyPr wrap="square" anchor="t">
            <a:spAutoFit/>
          </a:bodyPr>
          <a:lstStyle/>
          <a:p>
            <a:pPr algn="l"/>
            <a:r>
              <a:rPr sz="969" b="0">
                <a:solidFill>
                  <a:srgbClr val="000000"/>
                </a:solidFill>
                <a:latin typeface="Cambria"/>
                <a:hlinkClick r:id="rId10"/>
              </a:rPr>
              <a:t>[8] Cui, S., Liu, S., Tang, X., &amp; Zhu, T. (2019). Emergency material allocation problem considering post-disaster impact. In 2019 8th International Conference on Industrial Technology and Management (ICITM), 290–294. https://doi.org/10.1109/ICITM.2019.8710729</a:t>
            </a:r>
          </a:p>
        </p:txBody>
      </p:sp>
      <p:sp>
        <p:nvSpPr>
          <p:cNvPr id="154" name="TextBox 153"/>
          <p:cNvSpPr txBox="1"/>
          <p:nvPr/>
        </p:nvSpPr>
        <p:spPr>
          <a:xfrm>
            <a:off x="6382512" y="4224528"/>
            <a:ext cx="5074920" cy="850392"/>
          </a:xfrm>
          <a:prstGeom prst="rect">
            <a:avLst/>
          </a:prstGeom>
          <a:noFill/>
        </p:spPr>
        <p:txBody>
          <a:bodyPr wrap="square" anchor="t">
            <a:spAutoFit/>
          </a:bodyPr>
          <a:lstStyle/>
          <a:p>
            <a:pPr algn="l"/>
            <a:r>
              <a:rPr sz="969" b="0">
                <a:solidFill>
                  <a:srgbClr val="000000"/>
                </a:solidFill>
                <a:latin typeface="Cambria"/>
                <a:hlinkClick r:id="rId11"/>
              </a:rPr>
              <a:t>[9] Rodríguez-Espíndola, O. (2022). Multi-period model for disaster management in simultaneous disasters. IEEE Transactions on Engineering Management, 71, 4971–4984. https://doi.org/10.1109/TEM.2022.3227329</a:t>
            </a:r>
          </a:p>
        </p:txBody>
      </p:sp>
      <p:sp>
        <p:nvSpPr>
          <p:cNvPr id="155" name="TextBox 154"/>
          <p:cNvSpPr txBox="1"/>
          <p:nvPr/>
        </p:nvSpPr>
        <p:spPr>
          <a:xfrm>
            <a:off x="6382512" y="5138928"/>
            <a:ext cx="5074920" cy="850392"/>
          </a:xfrm>
          <a:prstGeom prst="rect">
            <a:avLst/>
          </a:prstGeom>
          <a:noFill/>
        </p:spPr>
        <p:txBody>
          <a:bodyPr wrap="square" anchor="t">
            <a:spAutoFit/>
          </a:bodyPr>
          <a:lstStyle/>
          <a:p>
            <a:pPr algn="l"/>
            <a:r>
              <a:rPr sz="969" b="0">
                <a:solidFill>
                  <a:srgbClr val="000000"/>
                </a:solidFill>
                <a:latin typeface="Cambria"/>
                <a:hlinkClick r:id="rId12"/>
              </a:rPr>
              <a:t>[10] Rajalakshmi, B., Aswini, P., Thethi, H. P., Goyal, H. R., Sravanthi, J., &amp; Hameed, A. A. (2024). Utilizing artificial intelligence for efficient resource allocation and logistics in humanitarian aid. In 2024 1st International Conference on Sustainable Computing and Integrated Communication in Changing Landscape of AI (ICSCAI), 1–6. https://doi.org/10.1109/ICSCAI61790.2024.10866107</a:t>
            </a:r>
          </a:p>
        </p:txBody>
      </p:sp>
      <p:sp>
        <p:nvSpPr>
          <p:cNvPr id="156" name="TextBox 155"/>
          <p:cNvSpPr txBox="1"/>
          <p:nvPr/>
        </p:nvSpPr>
        <p:spPr>
          <a:xfrm>
            <a:off x="868680" y="6016752"/>
            <a:ext cx="10515600" cy="256032"/>
          </a:xfrm>
          <a:prstGeom prst="rect">
            <a:avLst/>
          </a:prstGeom>
          <a:noFill/>
        </p:spPr>
        <p:txBody>
          <a:bodyPr wrap="square" anchor="t">
            <a:spAutoFit/>
          </a:bodyPr>
          <a:lstStyle/>
          <a:p>
            <a:pPr algn="ctr"/>
            <a:r>
              <a:rPr sz="850" b="0">
                <a:solidFill>
                  <a:srgbClr val="5A5A5A"/>
                </a:solidFill>
                <a:latin typeface="Cambria"/>
                <a:hlinkClick r:id="rId13"/>
              </a:rPr>
              <a:t>APA style guide used by the template: https://www.indeed.com/career-advice/career-development/how-to-cite-a-research-paper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A8A2C149D477E4E814B4B477F0E243C" ma:contentTypeVersion="13" ma:contentTypeDescription="Create a new document." ma:contentTypeScope="" ma:versionID="89242249e9f2fc9f35c8ac40d1749aa8">
  <xsd:schema xmlns:xsd="http://www.w3.org/2001/XMLSchema" xmlns:xs="http://www.w3.org/2001/XMLSchema" xmlns:p="http://schemas.microsoft.com/office/2006/metadata/properties" xmlns:ns2="ed62f681-7444-4666-891e-c71d42de2ddf" xmlns:ns3="b8676f30-e579-463a-a8aa-821338b00374" targetNamespace="http://schemas.microsoft.com/office/2006/metadata/properties" ma:root="true" ma:fieldsID="a661edb3eb918c130b5b038713d75e6b" ns2:_="" ns3:_="">
    <xsd:import namespace="ed62f681-7444-4666-891e-c71d42de2ddf"/>
    <xsd:import namespace="b8676f30-e579-463a-a8aa-821338b0037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62f681-7444-4666-891e-c71d42de2dd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d4626717-1439-4315-99ce-985d7ba5c11b"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dexed="true"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8676f30-e579-463a-a8aa-821338b00374"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f08d022-328e-4f53-b2cf-c730c7a35dee}" ma:internalName="TaxCatchAll" ma:showField="CatchAllData" ma:web="b8676f30-e579-463a-a8aa-821338b0037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d62f681-7444-4666-891e-c71d42de2ddf">
      <Terms xmlns="http://schemas.microsoft.com/office/infopath/2007/PartnerControls"/>
    </lcf76f155ced4ddcb4097134ff3c332f>
    <TaxCatchAll xmlns="b8676f30-e579-463a-a8aa-821338b00374" xsi:nil="true"/>
  </documentManagement>
</p:properties>
</file>

<file path=customXml/itemProps1.xml><?xml version="1.0" encoding="utf-8"?>
<ds:datastoreItem xmlns:ds="http://schemas.openxmlformats.org/officeDocument/2006/customXml" ds:itemID="{13D2043A-A905-44DC-A627-E0BB4B155825}">
  <ds:schemaRefs>
    <ds:schemaRef ds:uri="http://schemas.microsoft.com/sharepoint/v3/contenttype/forms"/>
  </ds:schemaRefs>
</ds:datastoreItem>
</file>

<file path=customXml/itemProps2.xml><?xml version="1.0" encoding="utf-8"?>
<ds:datastoreItem xmlns:ds="http://schemas.openxmlformats.org/officeDocument/2006/customXml" ds:itemID="{80799BD1-F224-430F-A4F0-5AAD34602BB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62f681-7444-4666-891e-c71d42de2ddf"/>
    <ds:schemaRef ds:uri="b8676f30-e579-463a-a8aa-821338b0037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31A4896-B9C1-4471-B691-16FF8CBFF7E9}">
  <ds:schemaRefs>
    <ds:schemaRef ds:uri="http://purl.org/dc/terms/"/>
    <ds:schemaRef ds:uri="http://www.w3.org/XML/1998/namespace"/>
    <ds:schemaRef ds:uri="http://schemas.openxmlformats.org/package/2006/metadata/core-properties"/>
    <ds:schemaRef ds:uri="http://schemas.microsoft.com/office/infopath/2007/PartnerControls"/>
    <ds:schemaRef ds:uri="http://purl.org/dc/elements/1.1/"/>
    <ds:schemaRef ds:uri="http://schemas.microsoft.com/office/2006/documentManagement/types"/>
    <ds:schemaRef ds:uri="http://schemas.microsoft.com/office/2006/metadata/properties"/>
    <ds:schemaRef ds:uri="http://purl.org/dc/dcmitype/"/>
    <ds:schemaRef ds:uri="b8676f30-e579-463a-a8aa-821338b00374"/>
    <ds:schemaRef ds:uri="ed62f681-7444-4666-891e-c71d42de2ddf"/>
  </ds:schemaRefs>
</ds:datastoreItem>
</file>

<file path=docProps/app.xml><?xml version="1.0" encoding="utf-8"?>
<Properties xmlns="http://schemas.openxmlformats.org/officeDocument/2006/extended-properties" xmlns:vt="http://schemas.openxmlformats.org/officeDocument/2006/docPropsVTypes">
  <TotalTime>314</TotalTime>
  <Words>262</Words>
  <Application>Microsoft Office PowerPoint</Application>
  <PresentationFormat>Widescreen</PresentationFormat>
  <Paragraphs>81</Paragraphs>
  <Slides>14</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Cambria</vt:lpstr>
      <vt:lpstr>Verdana</vt:lpstr>
      <vt:lpstr>Wingdings</vt:lpstr>
      <vt:lpstr>Bioinformatics</vt:lpstr>
      <vt:lpstr>PowerPoint Presentation</vt:lpstr>
      <vt:lpstr>PROJECT TITLE</vt:lpstr>
      <vt:lpstr>INDEX</vt:lpstr>
      <vt:lpstr>Problem Statement Number: </vt:lpstr>
      <vt:lpstr>Github Link</vt:lpstr>
      <vt:lpstr>Introduction</vt:lpstr>
      <vt:lpstr>Literature Review</vt:lpstr>
      <vt:lpstr>Architecture Diagram</vt:lpstr>
      <vt:lpstr>Analysis of Problem Statement /Output Expected</vt:lpstr>
      <vt:lpstr>Analysis of Problem Statement (contd...)</vt:lpstr>
      <vt:lpstr>Analysis of Problem Statement (contd...)</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Muthuraju V</cp:lastModifiedBy>
  <cp:revision>46</cp:revision>
  <dcterms:modified xsi:type="dcterms:W3CDTF">2026-08-28T07:57:29Z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0x010100FA8A2C149D477E4E814B4B477F0E243C</vt:lpwstr>
  </property>
</Properties>
</file>