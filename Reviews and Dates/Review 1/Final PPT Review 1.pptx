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9"/>
  </p:notesMasterIdLst>
  <p:sldIdLst>
    <p:sldId id="274" r:id="rId5"/>
    <p:sldId id="256" r:id="rId6"/>
    <p:sldId id="257" r:id="rId7"/>
    <p:sldId id="269" r:id="rId8"/>
    <p:sldId id="278" r:id="rId9"/>
    <p:sldId id="273" r:id="rId10"/>
    <p:sldId id="275" r:id="rId11"/>
    <p:sldId id="277" r:id="rId12"/>
    <p:sldId id="276" r:id="rId13"/>
    <p:sldId id="272" r:id="rId14"/>
    <p:sldId id="271" r:id="rId15"/>
    <p:sldId id="270" r:id="rId16"/>
    <p:sldId id="265"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94510" autoAdjust="0"/>
  </p:normalViewPr>
  <p:slideViewPr>
    <p:cSldViewPr snapToGrid="0">
      <p:cViewPr varScale="1">
        <p:scale>
          <a:sx n="78" d="100"/>
          <a:sy n="78" d="100"/>
        </p:scale>
        <p:origin x="79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99B6F38-D768-A670-DEF3-8469058A8BC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ABCA4031-CC8F-236D-A27B-EA7F87420E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85DF2172-DEF1-9770-F577-039FE97135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7761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517255E8-76FD-C420-1987-D13B1E67A4A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29260288-5C20-329D-9AB3-D8C410F70E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have mainly 2 users, the affected user and second one is administrator who will be working on backend. </a:t>
            </a:r>
            <a:br>
              <a:rPr lang="en-US" dirty="0"/>
            </a:br>
            <a:br>
              <a:rPr lang="en-US" dirty="0"/>
            </a:br>
            <a:r>
              <a:rPr lang="en-US" dirty="0"/>
              <a:t>Firstly, let’s talk about the affected user, they will be getting an interface where they can add location, number of people, and disaster type.</a:t>
            </a:r>
            <a:br>
              <a:rPr lang="en-US" dirty="0"/>
            </a:br>
            <a:r>
              <a:rPr lang="en-US" dirty="0"/>
              <a:t>And they will get the output where they will be having a list of shelters which are nearest to there respective locations. And along with that they will be provided with what is the total occupancy of the shelter and how much shelter is already occupied, etc. That list will be provided as priority list where the best one will be on top and other are accordingly.</a:t>
            </a:r>
            <a:br>
              <a:rPr lang="en-US" dirty="0"/>
            </a:br>
            <a:br>
              <a:rPr lang="en-US" dirty="0"/>
            </a:br>
            <a:r>
              <a:rPr lang="en-US" dirty="0"/>
              <a:t>Now, comes the backend part where once the user has mentioned it’s details then backend starts working were, the nearest shelters will be shortlisted from that specific location which can be a safe place for that disaster. </a:t>
            </a:r>
            <a:br>
              <a:rPr lang="en-US" dirty="0"/>
            </a:br>
            <a:r>
              <a:rPr lang="en-US" dirty="0"/>
              <a:t>Then from those shelters we will have to find a suitable shelters in which all parameters are checked like occupancy in shelter, is that shelter safe, etc. And according to that our priority list will be ready that which shelter is best for the situation.</a:t>
            </a:r>
            <a:br>
              <a:rPr lang="en-US" dirty="0"/>
            </a:br>
            <a:r>
              <a:rPr lang="en-US" dirty="0"/>
              <a:t>Then for the tracking purpose which is the best path which can be taken to reach that shelter which includes (distance, travel time, routes, </a:t>
            </a:r>
            <a:r>
              <a:rPr lang="en-US" dirty="0" err="1"/>
              <a:t>etc</a:t>
            </a:r>
            <a:r>
              <a:rPr lang="en-US" dirty="0"/>
              <a:t>) will be analyzed and a final and safest path will be shown on dashboard.</a:t>
            </a:r>
            <a:br>
              <a:rPr lang="en-US" dirty="0"/>
            </a:br>
            <a:r>
              <a:rPr lang="en-US" dirty="0"/>
              <a:t>After the completion of the process, once the people are relocated successfully then we can add that information in our database which can be used in future as well. </a:t>
            </a:r>
            <a:br>
              <a:rPr lang="en-US" dirty="0"/>
            </a:br>
            <a:br>
              <a:rPr lang="en-US" dirty="0"/>
            </a:br>
            <a:endParaRPr dirty="0"/>
          </a:p>
        </p:txBody>
      </p:sp>
      <p:sp>
        <p:nvSpPr>
          <p:cNvPr id="112" name="Google Shape;112;p5:notes">
            <a:extLst>
              <a:ext uri="{FF2B5EF4-FFF2-40B4-BE49-F238E27FC236}">
                <a16:creationId xmlns:a16="http://schemas.microsoft.com/office/drawing/2014/main" id="{17C5EB74-31E0-ABB2-15A4-4FB1F28C8E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3665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5D514E0-B1BE-2630-77D3-31C095E36194}"/>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9E4099B-7B1F-A0FA-3ABB-CE9838C027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let’s move to next slide About Expected Output </a:t>
            </a:r>
            <a:br>
              <a:rPr lang="en-US" dirty="0"/>
            </a:br>
            <a:br>
              <a:rPr lang="en-US" dirty="0"/>
            </a:br>
            <a:r>
              <a:rPr lang="en-US" dirty="0"/>
              <a:t>here comes what user will be able to access </a:t>
            </a:r>
            <a:br>
              <a:rPr lang="en-US" dirty="0"/>
            </a:br>
            <a:r>
              <a:rPr lang="en-US" dirty="0"/>
              <a:t>1) Shelter discovery – it will display the shelter which are available to nearest to their location </a:t>
            </a:r>
            <a:br>
              <a:rPr lang="en-US" dirty="0"/>
            </a:br>
            <a:r>
              <a:rPr lang="en-US" dirty="0"/>
              <a:t>Second one is </a:t>
            </a:r>
            <a:br>
              <a:rPr lang="en-US" dirty="0"/>
            </a:br>
            <a:r>
              <a:rPr lang="en-US" dirty="0"/>
              <a:t>2) Smart Ranking – where priority ranking will be provided in which capacity, occupancy and other details will also be provided and according to that list will be prepared </a:t>
            </a:r>
            <a:br>
              <a:rPr lang="en-US" dirty="0"/>
            </a:br>
            <a:r>
              <a:rPr lang="en-US" dirty="0"/>
              <a:t>third one is </a:t>
            </a:r>
            <a:br>
              <a:rPr lang="en-US" dirty="0"/>
            </a:br>
            <a:r>
              <a:rPr lang="en-US" dirty="0"/>
              <a:t>3) Allocation Result – that list will be shown to the user and he/she can select the shelters according to the priority (where, elderly, disabled, </a:t>
            </a:r>
            <a:r>
              <a:rPr lang="en-US" dirty="0" err="1"/>
              <a:t>etc</a:t>
            </a:r>
            <a:r>
              <a:rPr lang="en-US" dirty="0"/>
              <a:t> people can go first followed by others)</a:t>
            </a:r>
            <a:br>
              <a:rPr lang="en-US" dirty="0"/>
            </a:br>
            <a:r>
              <a:rPr lang="en-US" dirty="0"/>
              <a:t>fourth one is </a:t>
            </a:r>
            <a:br>
              <a:rPr lang="en-US" dirty="0"/>
            </a:br>
            <a:r>
              <a:rPr lang="en-US" dirty="0"/>
              <a:t>4) Route guidance – the best route for the selected shelter will be shown using </a:t>
            </a:r>
            <a:r>
              <a:rPr lang="en-US" dirty="0" err="1"/>
              <a:t>openroute</a:t>
            </a:r>
            <a:r>
              <a:rPr lang="en-US" dirty="0"/>
              <a:t> service which is an open source tool which will be used for routing the best path including distance, time taken)</a:t>
            </a:r>
            <a:br>
              <a:rPr lang="en-US" dirty="0"/>
            </a:br>
            <a:r>
              <a:rPr lang="en-US" dirty="0"/>
              <a:t>Fifth one is </a:t>
            </a:r>
            <a:br>
              <a:rPr lang="en-US" dirty="0"/>
            </a:br>
            <a:r>
              <a:rPr lang="en-US" dirty="0"/>
              <a:t>5) Administrator view – here once the relocation of people is done then the admin can save the data which can be used in future and also constant updates will be taken from the user.</a:t>
            </a:r>
            <a:br>
              <a:rPr lang="en-US" dirty="0"/>
            </a:br>
            <a:r>
              <a:rPr lang="en-US" dirty="0"/>
              <a:t>And the last one </a:t>
            </a:r>
            <a:br>
              <a:rPr lang="en-US" dirty="0"/>
            </a:br>
            <a:r>
              <a:rPr lang="en-US" dirty="0"/>
              <a:t>6) Decision support – this solves the problem of the chaos happens in the disaster situation and can help the people to go in the correct direction during this kind of disasters </a:t>
            </a:r>
            <a:br>
              <a:rPr lang="en-US" dirty="0"/>
            </a:br>
            <a:r>
              <a:rPr lang="en-US" dirty="0"/>
              <a:t>since in this kind of incident what happens is all people gets panic and runs on random places, which won’t happen if they have a correct guidance and the support from the local teams helping there </a:t>
            </a:r>
            <a:br>
              <a:rPr lang="en-US" dirty="0"/>
            </a:br>
            <a:br>
              <a:rPr lang="en-US" dirty="0"/>
            </a:br>
            <a:endParaRPr dirty="0"/>
          </a:p>
        </p:txBody>
      </p:sp>
      <p:sp>
        <p:nvSpPr>
          <p:cNvPr id="112" name="Google Shape;112;p5:notes">
            <a:extLst>
              <a:ext uri="{FF2B5EF4-FFF2-40B4-BE49-F238E27FC236}">
                <a16:creationId xmlns:a16="http://schemas.microsoft.com/office/drawing/2014/main" id="{6E08A7C6-D14D-41A9-F2DD-738662370A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3338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Let’s come to the requirements of the </a:t>
            </a:r>
            <a:r>
              <a:rPr lang="en-US" dirty="0" err="1"/>
              <a:t>Proejcts</a:t>
            </a:r>
            <a:r>
              <a:rPr lang="en-US" dirty="0"/>
              <a:t> </a:t>
            </a:r>
            <a:br>
              <a:rPr lang="en-US" dirty="0"/>
            </a:br>
            <a:br>
              <a:rPr lang="en-US" dirty="0"/>
            </a:br>
            <a:r>
              <a:rPr lang="en-US" dirty="0"/>
              <a:t>Firstly the s/w req. </a:t>
            </a:r>
            <a:br>
              <a:rPr lang="en-US" dirty="0"/>
            </a:br>
            <a:r>
              <a:rPr lang="en-US" dirty="0"/>
              <a:t>Frontend we will be using react </a:t>
            </a:r>
            <a:r>
              <a:rPr lang="en-US" dirty="0" err="1"/>
              <a:t>js</a:t>
            </a:r>
            <a:r>
              <a:rPr lang="en-US" dirty="0"/>
              <a:t> , html and </a:t>
            </a:r>
            <a:r>
              <a:rPr lang="en-US" dirty="0" err="1"/>
              <a:t>css</a:t>
            </a:r>
            <a:r>
              <a:rPr lang="en-US" dirty="0"/>
              <a:t> as they are easy to be deployed and we can make a perfect responsive </a:t>
            </a:r>
            <a:r>
              <a:rPr lang="en-US" dirty="0" err="1"/>
              <a:t>ui</a:t>
            </a:r>
            <a:r>
              <a:rPr lang="en-US" dirty="0"/>
              <a:t> for them </a:t>
            </a:r>
            <a:br>
              <a:rPr lang="en-US" dirty="0"/>
            </a:br>
            <a:br>
              <a:rPr lang="en-US" dirty="0"/>
            </a:br>
            <a:r>
              <a:rPr lang="en-US" dirty="0"/>
              <a:t>in backend we will go with node </a:t>
            </a:r>
            <a:r>
              <a:rPr lang="en-US" dirty="0" err="1"/>
              <a:t>js</a:t>
            </a:r>
            <a:r>
              <a:rPr lang="en-US" dirty="0"/>
              <a:t> with express </a:t>
            </a:r>
            <a:r>
              <a:rPr lang="en-US" dirty="0" err="1"/>
              <a:t>js</a:t>
            </a:r>
            <a:r>
              <a:rPr lang="en-US" dirty="0"/>
              <a:t> which is </a:t>
            </a:r>
            <a:r>
              <a:rPr lang="en-IN" dirty="0"/>
              <a:t>used to build fast, scalable, and high-performance backend server</a:t>
            </a:r>
            <a:br>
              <a:rPr lang="en-IN" dirty="0"/>
            </a:br>
            <a:r>
              <a:rPr lang="en-IN" dirty="0"/>
              <a:t>and rest </a:t>
            </a:r>
            <a:r>
              <a:rPr lang="en-IN" dirty="0" err="1"/>
              <a:t>api</a:t>
            </a:r>
            <a:r>
              <a:rPr lang="en-IN" dirty="0"/>
              <a:t> to exchange data and communicate with other devices over the internet. </a:t>
            </a:r>
            <a:br>
              <a:rPr lang="en-IN" dirty="0"/>
            </a:br>
            <a:br>
              <a:rPr lang="en-IN" dirty="0"/>
            </a:br>
            <a:r>
              <a:rPr lang="en-IN" dirty="0"/>
              <a:t>In database we will use </a:t>
            </a:r>
            <a:r>
              <a:rPr lang="en-IN" dirty="0" err="1"/>
              <a:t>postgre</a:t>
            </a:r>
            <a:r>
              <a:rPr lang="en-IN" dirty="0"/>
              <a:t> </a:t>
            </a:r>
            <a:r>
              <a:rPr lang="en-IN" dirty="0" err="1"/>
              <a:t>sql</a:t>
            </a:r>
            <a:r>
              <a:rPr lang="en-IN" dirty="0"/>
              <a:t> to store the data which is provided by user and data of the disaster which is held on particular locations </a:t>
            </a:r>
            <a:br>
              <a:rPr lang="en-IN" dirty="0"/>
            </a:br>
            <a:br>
              <a:rPr lang="en-IN" dirty="0"/>
            </a:br>
            <a:r>
              <a:rPr lang="en-IN" dirty="0"/>
              <a:t>maps and routing we are using open street map as I </a:t>
            </a:r>
            <a:r>
              <a:rPr lang="en-IN" dirty="0" err="1"/>
              <a:t>mentinod</a:t>
            </a:r>
            <a:r>
              <a:rPr lang="en-IN" dirty="0"/>
              <a:t> before for routing and path selection and to calculate travel time purpose and also this is a free to  use tool and easy to integrate with the project </a:t>
            </a:r>
            <a:br>
              <a:rPr lang="en-IN" dirty="0"/>
            </a:br>
            <a:br>
              <a:rPr lang="en-IN" dirty="0"/>
            </a:br>
            <a:r>
              <a:rPr lang="en-IN" dirty="0"/>
              <a:t>in development tool, we will be using </a:t>
            </a:r>
            <a:r>
              <a:rPr lang="en-IN" dirty="0" err="1"/>
              <a:t>vscode</a:t>
            </a:r>
            <a:r>
              <a:rPr lang="en-IN" dirty="0"/>
              <a:t> git and </a:t>
            </a:r>
            <a:r>
              <a:rPr lang="en-IN" dirty="0" err="1"/>
              <a:t>github</a:t>
            </a:r>
            <a:r>
              <a:rPr lang="en-IN" dirty="0"/>
              <a:t> and </a:t>
            </a:r>
            <a:r>
              <a:rPr lang="en-IN" dirty="0" err="1"/>
              <a:t>npm</a:t>
            </a:r>
            <a:r>
              <a:rPr lang="en-IN" dirty="0"/>
              <a:t>(which is default manager of </a:t>
            </a:r>
            <a:r>
              <a:rPr lang="en-IN" dirty="0" err="1"/>
              <a:t>js</a:t>
            </a:r>
            <a:r>
              <a:rPr lang="en-IN" dirty="0"/>
              <a:t>) to run our programs </a:t>
            </a:r>
            <a:br>
              <a:rPr lang="en-IN" dirty="0"/>
            </a:br>
            <a:br>
              <a:rPr lang="en-IN" dirty="0"/>
            </a:br>
            <a:r>
              <a:rPr lang="en-IN" dirty="0"/>
              <a:t>for testing purposes we will go with postman(used for automated, and backend API testing) and browser developer tool (used for </a:t>
            </a:r>
            <a:r>
              <a:rPr lang="en-IN" sz="1100" b="1" i="0" u="none" strike="noStrike" cap="none" dirty="0">
                <a:solidFill>
                  <a:srgbClr val="000000"/>
                </a:solidFill>
                <a:effectLst/>
                <a:latin typeface="Arial"/>
                <a:ea typeface="Arial"/>
                <a:cs typeface="Arial"/>
                <a:sym typeface="Arial"/>
              </a:rPr>
              <a:t>live frontend debugging, </a:t>
            </a:r>
            <a:r>
              <a:rPr lang="en-IN" dirty="0"/>
              <a:t>real-time network analysis) </a:t>
            </a:r>
            <a:br>
              <a:rPr lang="en-IN" dirty="0"/>
            </a:br>
            <a:br>
              <a:rPr lang="en-IN" dirty="0"/>
            </a:br>
            <a:r>
              <a:rPr lang="en-IN" dirty="0"/>
              <a:t>for deployment which is one of  the most important part we will go with </a:t>
            </a:r>
            <a:r>
              <a:rPr lang="en-IN" dirty="0" err="1"/>
              <a:t>github</a:t>
            </a:r>
            <a:r>
              <a:rPr lang="en-IN" dirty="0"/>
              <a:t> based cloud hosting platform where we can deploy backend as well as frontend easily. </a:t>
            </a:r>
            <a:br>
              <a:rPr lang="en-IN" dirty="0"/>
            </a:br>
            <a:br>
              <a:rPr lang="en-IN" dirty="0"/>
            </a:br>
            <a:br>
              <a:rPr lang="en-IN" dirty="0"/>
            </a:br>
            <a:r>
              <a:rPr lang="en-IN" dirty="0"/>
              <a:t>Now the hardware part, as our project is mainly the software based project we don’t need any hardware requirements </a:t>
            </a:r>
            <a:br>
              <a:rPr lang="en-IN" dirty="0"/>
            </a:br>
            <a:r>
              <a:rPr lang="en-IN" dirty="0"/>
              <a:t>for testing purpose we will just use different devices like laptop, smart phone , desktop etc </a:t>
            </a:r>
            <a:br>
              <a:rPr lang="en-IN" dirty="0"/>
            </a:br>
            <a:br>
              <a:rPr lang="en-IN" dirty="0"/>
            </a:br>
            <a:r>
              <a:rPr lang="en-IN" dirty="0"/>
              <a:t>that’s from my side now my teammate will be continuing with function workflow of the project. </a:t>
            </a: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1_Title Slide">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Picture 8">
            <a:extLst>
              <a:ext uri="{FF2B5EF4-FFF2-40B4-BE49-F238E27FC236}">
                <a16:creationId xmlns:a16="http://schemas.microsoft.com/office/drawing/2014/main" id="{FDA50E9A-5B29-3F48-C37D-89C17238E29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91275"/>
            <a:ext cx="12192000" cy="466725"/>
          </a:xfrm>
          <a:prstGeom prst="rect">
            <a:avLst/>
          </a:prstGeom>
        </p:spPr>
      </p:pic>
    </p:spTree>
    <p:extLst>
      <p:ext uri="{BB962C8B-B14F-4D97-AF65-F5344CB8AC3E}">
        <p14:creationId xmlns:p14="http://schemas.microsoft.com/office/powerpoint/2010/main" val="21481585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4">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7.sv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HarshilxAI/Emergency-Shelter-Allocation-Platform"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doi.org/10.1109/SSME.2009.80" TargetMode="External"/><Relationship Id="rId3" Type="http://schemas.openxmlformats.org/officeDocument/2006/relationships/hyperlink" Target="https://doi.org/10.1109/MIS.2015.39" TargetMode="External"/><Relationship Id="rId7" Type="http://schemas.openxmlformats.org/officeDocument/2006/relationships/hyperlink" Target="https://doi.org/10.1109/TEM.2020.3015775" TargetMode="External"/><Relationship Id="rId12" Type="http://schemas.openxmlformats.org/officeDocument/2006/relationships/hyperlink" Target="https://doi.org/10.1109/ICSCAI61790.2024.10866107"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doi.org/10.1109/ACCESS.2025.3573207" TargetMode="External"/><Relationship Id="rId11" Type="http://schemas.openxmlformats.org/officeDocument/2006/relationships/hyperlink" Target="https://doi.org/10.1109/TEM.2022.3227329" TargetMode="External"/><Relationship Id="rId5" Type="http://schemas.openxmlformats.org/officeDocument/2006/relationships/hyperlink" Target="https://doi.org/10.1109/ACCESS.2020.2991865" TargetMode="External"/><Relationship Id="rId10" Type="http://schemas.openxmlformats.org/officeDocument/2006/relationships/hyperlink" Target="https://doi.org/10.1109/ICITM.2019.8710729" TargetMode="External"/><Relationship Id="rId4" Type="http://schemas.openxmlformats.org/officeDocument/2006/relationships/hyperlink" Target="https://doi.org/10.1109/TC.2016.2601331" TargetMode="External"/><Relationship Id="rId9" Type="http://schemas.openxmlformats.org/officeDocument/2006/relationships/hyperlink" Target="https://doi.org/10.1109/ICORIS56080.2022.10031495"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2DD66-7A7B-3141-248C-33B219894259}"/>
              </a:ext>
            </a:extLst>
          </p:cNvPr>
          <p:cNvPicPr>
            <a:picLocks noChangeAspect="1"/>
          </p:cNvPicPr>
          <p:nvPr/>
        </p:nvPicPr>
        <p:blipFill>
          <a:blip r:embed="rId2"/>
          <a:stretch>
            <a:fillRect/>
          </a:stretch>
        </p:blipFill>
        <p:spPr>
          <a:xfrm>
            <a:off x="-72887" y="-20500"/>
            <a:ext cx="12264887" cy="6898999"/>
          </a:xfrm>
          <a:prstGeom prst="rect">
            <a:avLst/>
          </a:prstGeom>
        </p:spPr>
      </p:pic>
      <p:sp>
        <p:nvSpPr>
          <p:cNvPr id="200" name="TextBox 5"/>
          <p:cNvSpPr txBox="1">
            <a:spLocks noGrp="1"/>
          </p:cNvSpPr>
          <p:nvPr>
            <p:ph type="sldNum" sz="quarter" idx="2"/>
          </p:nvPr>
        </p:nvSpPr>
        <p:spPr>
          <a:xfrm>
            <a:off x="11396678" y="454968"/>
            <a:ext cx="162863" cy="2462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10" name="Picture 9">
            <a:extLst>
              <a:ext uri="{FF2B5EF4-FFF2-40B4-BE49-F238E27FC236}">
                <a16:creationId xmlns:a16="http://schemas.microsoft.com/office/drawing/2014/main" id="{379FE14F-095F-73F1-B975-3CCBF67C0C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40771"/>
            <a:ext cx="12192000" cy="469900"/>
          </a:xfrm>
          <a:prstGeom prst="rect">
            <a:avLst/>
          </a:prstGeom>
        </p:spPr>
      </p:pic>
      <p:pic>
        <p:nvPicPr>
          <p:cNvPr id="6" name="Graphic 5">
            <a:extLst>
              <a:ext uri="{FF2B5EF4-FFF2-40B4-BE49-F238E27FC236}">
                <a16:creationId xmlns:a16="http://schemas.microsoft.com/office/drawing/2014/main" id="{75EEC80A-389A-0914-B331-80471CDD52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81615" y="52673"/>
            <a:ext cx="7779079" cy="1309350"/>
          </a:xfrm>
          <a:prstGeom prst="rect">
            <a:avLst/>
          </a:prstGeom>
        </p:spPr>
      </p:pic>
      <p:sp>
        <p:nvSpPr>
          <p:cNvPr id="16" name="Rounded Rectangle 2">
            <a:extLst>
              <a:ext uri="{FF2B5EF4-FFF2-40B4-BE49-F238E27FC236}">
                <a16:creationId xmlns:a16="http://schemas.microsoft.com/office/drawing/2014/main" id="{EC0F06BD-D995-B09D-2B28-06CD559DF695}"/>
              </a:ext>
            </a:extLst>
          </p:cNvPr>
          <p:cNvSpPr/>
          <p:nvPr/>
        </p:nvSpPr>
        <p:spPr>
          <a:xfrm>
            <a:off x="-72888" y="5569149"/>
            <a:ext cx="12264887" cy="1309350"/>
          </a:xfrm>
          <a:prstGeom prst="roundRect">
            <a:avLst/>
          </a:prstGeom>
          <a:solidFill>
            <a:srgbClr val="08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8" name="TextBox 17">
            <a:extLst>
              <a:ext uri="{FF2B5EF4-FFF2-40B4-BE49-F238E27FC236}">
                <a16:creationId xmlns:a16="http://schemas.microsoft.com/office/drawing/2014/main" id="{25FAE776-B1B4-1F6F-0EE9-2D02B291CE9E}"/>
              </a:ext>
            </a:extLst>
          </p:cNvPr>
          <p:cNvSpPr txBox="1"/>
          <p:nvPr/>
        </p:nvSpPr>
        <p:spPr>
          <a:xfrm>
            <a:off x="4748252" y="5447308"/>
            <a:ext cx="2860077" cy="769441"/>
          </a:xfrm>
          <a:prstGeom prst="rect">
            <a:avLst/>
          </a:prstGeom>
          <a:noFill/>
        </p:spPr>
        <p:txBody>
          <a:bodyPr wrap="none" anchor="ctr">
            <a:spAutoFit/>
          </a:bodyPr>
          <a:lstStyle/>
          <a:p>
            <a:pPr algn="ctr">
              <a:defRPr sz="3100" b="1">
                <a:solidFill>
                  <a:srgbClr val="FFFFFF"/>
                </a:solidFill>
                <a:latin typeface="Aptos Display"/>
              </a:defRPr>
            </a:pPr>
            <a:r>
              <a:rPr sz="4400" dirty="0"/>
              <a:t>Presidency</a:t>
            </a:r>
          </a:p>
        </p:txBody>
      </p:sp>
      <p:sp>
        <p:nvSpPr>
          <p:cNvPr id="20" name="Rectangle 19">
            <a:extLst>
              <a:ext uri="{FF2B5EF4-FFF2-40B4-BE49-F238E27FC236}">
                <a16:creationId xmlns:a16="http://schemas.microsoft.com/office/drawing/2014/main" id="{540268FC-2D4B-1595-4CC0-BF00B3A0E047}"/>
              </a:ext>
            </a:extLst>
          </p:cNvPr>
          <p:cNvSpPr/>
          <p:nvPr/>
        </p:nvSpPr>
        <p:spPr>
          <a:xfrm>
            <a:off x="4837363" y="6139774"/>
            <a:ext cx="2646802" cy="45719"/>
          </a:xfrm>
          <a:prstGeom prst="rect">
            <a:avLst/>
          </a:prstGeom>
          <a:solidFill>
            <a:srgbClr val="F4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C3EFB6EA-449F-B759-D837-A2CDBD5E10E2}"/>
              </a:ext>
            </a:extLst>
          </p:cNvPr>
          <p:cNvSpPr txBox="1"/>
          <p:nvPr/>
        </p:nvSpPr>
        <p:spPr>
          <a:xfrm>
            <a:off x="2353623" y="6178261"/>
            <a:ext cx="7961243" cy="584775"/>
          </a:xfrm>
          <a:prstGeom prst="rect">
            <a:avLst/>
          </a:prstGeom>
          <a:noFill/>
        </p:spPr>
        <p:txBody>
          <a:bodyPr wrap="square" anchor="ctr">
            <a:spAutoFit/>
          </a:bodyPr>
          <a:lstStyle/>
          <a:p>
            <a:pPr algn="l">
              <a:defRPr sz="2000" b="1">
                <a:solidFill>
                  <a:srgbClr val="FFFFFF"/>
                </a:solidFill>
                <a:latin typeface="Aptos Display"/>
              </a:defRPr>
            </a:pPr>
            <a:r>
              <a:rPr sz="3200" dirty="0"/>
              <a:t>School of Computer Science</a:t>
            </a:r>
            <a:r>
              <a:rPr lang="en-IN" sz="3200" dirty="0"/>
              <a:t> </a:t>
            </a:r>
            <a:r>
              <a:rPr sz="3200" dirty="0"/>
              <a:t>and Engineering</a:t>
            </a:r>
          </a:p>
        </p:txBody>
      </p:sp>
      <p:sp>
        <p:nvSpPr>
          <p:cNvPr id="24" name="Rectangle 23">
            <a:extLst>
              <a:ext uri="{FF2B5EF4-FFF2-40B4-BE49-F238E27FC236}">
                <a16:creationId xmlns:a16="http://schemas.microsoft.com/office/drawing/2014/main" id="{84E6A419-D98D-646B-0945-71577D3C9949}"/>
              </a:ext>
            </a:extLst>
          </p:cNvPr>
          <p:cNvSpPr/>
          <p:nvPr/>
        </p:nvSpPr>
        <p:spPr>
          <a:xfrm flipV="1">
            <a:off x="2477862" y="6717317"/>
            <a:ext cx="7712764" cy="45719"/>
          </a:xfrm>
          <a:prstGeom prst="rect">
            <a:avLst/>
          </a:prstGeom>
          <a:solidFill>
            <a:srgbClr val="F4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844D43-4EA8-BF96-7FC3-15A05CEA246A}"/>
              </a:ext>
            </a:extLst>
          </p:cNvPr>
          <p:cNvSpPr txBox="1"/>
          <p:nvPr/>
        </p:nvSpPr>
        <p:spPr>
          <a:xfrm>
            <a:off x="4072463" y="1168079"/>
            <a:ext cx="4240263" cy="1569660"/>
          </a:xfrm>
          <a:prstGeom prst="rect">
            <a:avLst/>
          </a:prstGeom>
          <a:noFill/>
        </p:spPr>
        <p:txBody>
          <a:bodyPr wrap="none" anchor="ctr">
            <a:spAutoFit/>
          </a:bodyPr>
          <a:lstStyle/>
          <a:p>
            <a:pPr algn="ctr">
              <a:defRPr sz="3100" b="1">
                <a:solidFill>
                  <a:srgbClr val="FFFFFF"/>
                </a:solidFill>
                <a:latin typeface="Aptos Display"/>
              </a:defRPr>
            </a:pPr>
            <a:r>
              <a:rPr lang="en-IN" sz="3200" dirty="0">
                <a:solidFill>
                  <a:srgbClr val="002060"/>
                </a:solidFill>
              </a:rPr>
              <a:t>Mini Project (CSE7102)</a:t>
            </a:r>
          </a:p>
          <a:p>
            <a:pPr algn="ctr">
              <a:defRPr sz="3100" b="1">
                <a:solidFill>
                  <a:srgbClr val="FFFFFF"/>
                </a:solidFill>
                <a:latin typeface="Aptos Display"/>
              </a:defRPr>
            </a:pPr>
            <a:r>
              <a:rPr lang="en-IN" sz="3200" dirty="0">
                <a:solidFill>
                  <a:srgbClr val="002060"/>
                </a:solidFill>
              </a:rPr>
              <a:t>REVIEW-1</a:t>
            </a:r>
          </a:p>
          <a:p>
            <a:pPr algn="ctr">
              <a:defRPr sz="3100" b="1">
                <a:solidFill>
                  <a:srgbClr val="FFFFFF"/>
                </a:solidFill>
                <a:latin typeface="Aptos Display"/>
              </a:defRPr>
            </a:pPr>
            <a:r>
              <a:rPr lang="en-IN" sz="3200" dirty="0">
                <a:solidFill>
                  <a:srgbClr val="002060"/>
                </a:solidFill>
              </a:rPr>
              <a:t>29-08-2026</a:t>
            </a:r>
            <a:endParaRPr sz="3200" dirty="0">
              <a:solidFill>
                <a:srgbClr val="002060"/>
              </a:solidFill>
            </a:endParaRPr>
          </a:p>
        </p:txBody>
      </p:sp>
    </p:spTree>
    <p:extLst>
      <p:ext uri="{BB962C8B-B14F-4D97-AF65-F5344CB8AC3E}">
        <p14:creationId xmlns:p14="http://schemas.microsoft.com/office/powerpoint/2010/main" val="1466048090"/>
      </p:ext>
    </p:extLst>
  </p:cSld>
  <p:clrMapOvr>
    <a:masterClrMapping/>
  </p:clrMapOvr>
  <mc:AlternateContent xmlns:mc="http://schemas.openxmlformats.org/markup-compatibility/2006" xmlns:p14="http://schemas.microsoft.com/office/powerpoint/2010/main">
    <mc:Choice Requires="p14">
      <p:transition spd="med">
        <p14:prism/>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51140" y="951239"/>
            <a:ext cx="10363200" cy="898047"/>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sz="2600" b="1">
                <a:solidFill>
                  <a:srgbClr val="000000"/>
                </a:solidFill>
                <a:latin typeface="Cambria"/>
              </a:rPr>
              <a:t>EMERGENCY SHELTER ALLOCATION PLATFORM</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553347" y="1709355"/>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sz="1800" b="1" dirty="0">
                <a:solidFill>
                  <a:srgbClr val="0C365C"/>
                </a:solidFill>
                <a:latin typeface="Cambria"/>
              </a:rPr>
              <a:t>Project ID:</a:t>
            </a:r>
            <a:r>
              <a:rPr lang="en-IN" sz="1800" b="1" dirty="0">
                <a:solidFill>
                  <a:srgbClr val="0C365C"/>
                </a:solidFill>
                <a:latin typeface="Cambria"/>
              </a:rPr>
              <a:t> PRJ_465</a:t>
            </a: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599362439"/>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sz="1700" b="1" dirty="0">
                <a:solidFill>
                  <a:srgbClr val="0C365C"/>
                </a:solidFill>
                <a:latin typeface="Cambria"/>
              </a:rPr>
              <a:t>Under the Supervision of,
Irfan Rajab Bhatt
Associate Professor
School of Computer Science and Engineering
Presidency University</a:t>
            </a:r>
            <a:endParaRPr dirty="0">
              <a:latin typeface="Cambria" panose="02040503050406030204" pitchFamily="18" charset="0"/>
              <a:ea typeface="Cambria" panose="02040503050406030204" pitchFamily="18" charset="0"/>
            </a:endParaRPr>
          </a:p>
        </p:txBody>
      </p:sp>
      <p:sp>
        <p:nvSpPr>
          <p:cNvPr id="91" name="Google Shape;91;p13"/>
          <p:cNvSpPr txBox="1"/>
          <p:nvPr/>
        </p:nvSpPr>
        <p:spPr>
          <a:xfrm>
            <a:off x="3986771" y="334089"/>
            <a:ext cx="5425083" cy="55230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CSS7102- Mini  Project 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199449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sz="1500" b="1" dirty="0">
                <a:solidFill>
                  <a:srgbClr val="4B7EBE"/>
                </a:solidFill>
                <a:latin typeface="Cambria"/>
              </a:rPr>
              <a:t>Name of the Program(s): </a:t>
            </a:r>
            <a:r>
              <a:rPr lang="en-GB" sz="1600" b="1" dirty="0">
                <a:solidFill>
                  <a:schemeClr val="bg2">
                    <a:lumMod val="60000"/>
                    <a:lumOff val="40000"/>
                  </a:schemeClr>
                </a:solidFill>
                <a:latin typeface="Cambria" panose="02040503050406030204" pitchFamily="18" charset="0"/>
                <a:ea typeface="Cambria" panose="02040503050406030204" pitchFamily="18" charset="0"/>
                <a:cs typeface="Verdana"/>
                <a:sym typeface="Verdana"/>
              </a:rPr>
              <a:t>B-Tech in ISE</a:t>
            </a:r>
            <a:r>
              <a:rPr sz="1500" b="1" dirty="0">
                <a:solidFill>
                  <a:srgbClr val="4B7EBE"/>
                </a:solidFill>
                <a:latin typeface="Cambria"/>
              </a:rPr>
              <a:t>
Name of the </a:t>
            </a:r>
            <a:r>
              <a:rPr sz="1500" b="1" dirty="0" err="1">
                <a:solidFill>
                  <a:srgbClr val="4B7EBE"/>
                </a:solidFill>
                <a:latin typeface="Cambria"/>
              </a:rPr>
              <a:t>HoD</a:t>
            </a:r>
            <a:r>
              <a:rPr sz="1500" b="1" dirty="0">
                <a:solidFill>
                  <a:srgbClr val="4B7EBE"/>
                </a:solidFill>
                <a:latin typeface="Cambria"/>
              </a:rPr>
              <a:t> </a:t>
            </a:r>
            <a:r>
              <a:rPr lang="en-IN" sz="1500" b="1" dirty="0">
                <a:solidFill>
                  <a:srgbClr val="4B7EBE"/>
                </a:solidFill>
                <a:latin typeface="Cambria"/>
              </a:rPr>
              <a:t>: </a:t>
            </a:r>
            <a:r>
              <a:rPr sz="1500" b="1" dirty="0">
                <a:solidFill>
                  <a:srgbClr val="4B7EBE"/>
                </a:solidFill>
                <a:latin typeface="Cambria"/>
              </a:rPr>
              <a:t>Dr. Gopal K Shyam
Name of the Program Project Coordinator :</a:t>
            </a:r>
            <a:r>
              <a:rPr lang="en-IN" sz="1600" b="1" dirty="0">
                <a:solidFill>
                  <a:srgbClr val="0C365C"/>
                </a:solidFill>
                <a:latin typeface="Cambria"/>
              </a:rPr>
              <a:t> </a:t>
            </a:r>
            <a:r>
              <a:rPr lang="en-IN" sz="1600" b="1" dirty="0">
                <a:solidFill>
                  <a:schemeClr val="bg2">
                    <a:lumMod val="60000"/>
                    <a:lumOff val="40000"/>
                  </a:schemeClr>
                </a:solidFill>
                <a:latin typeface="Cambria"/>
              </a:rPr>
              <a:t>Irfan Rajab Bhatt </a:t>
            </a:r>
            <a:r>
              <a:rPr sz="1500" b="1" dirty="0">
                <a:solidFill>
                  <a:srgbClr val="4B7EBE"/>
                </a:solidFill>
                <a:latin typeface="Cambria"/>
              </a:rPr>
              <a:t>
Name of the School Project Coordinators: Mr. </a:t>
            </a:r>
            <a:r>
              <a:rPr sz="1500" b="1" dirty="0" err="1">
                <a:solidFill>
                  <a:srgbClr val="4B7EBE"/>
                </a:solidFill>
                <a:latin typeface="Cambria"/>
              </a:rPr>
              <a:t>Muthuraju</a:t>
            </a:r>
            <a:r>
              <a:rPr sz="1500" b="1" dirty="0">
                <a:solidFill>
                  <a:srgbClr val="4B7EBE"/>
                </a:solidFill>
                <a:latin typeface="Cambria"/>
              </a:rPr>
              <a:t> V</a:t>
            </a:r>
          </a:p>
        </p:txBody>
      </p:sp>
      <p:graphicFrame>
        <p:nvGraphicFramePr>
          <p:cNvPr id="2" name="Table 1">
            <a:extLst>
              <a:ext uri="{FF2B5EF4-FFF2-40B4-BE49-F238E27FC236}">
                <a16:creationId xmlns:a16="http://schemas.microsoft.com/office/drawing/2014/main" id="{67669B82-28E1-6B84-884A-EF2B68034CD5}"/>
              </a:ext>
            </a:extLst>
          </p:cNvPr>
          <p:cNvGraphicFramePr>
            <a:graphicFrameLocks noGrp="1"/>
          </p:cNvGraphicFramePr>
          <p:nvPr>
            <p:extLst>
              <p:ext uri="{D42A27DB-BD31-4B8C-83A1-F6EECF244321}">
                <p14:modId xmlns:p14="http://schemas.microsoft.com/office/powerpoint/2010/main" val="675892622"/>
              </p:ext>
            </p:extLst>
          </p:nvPr>
        </p:nvGraphicFramePr>
        <p:xfrm>
          <a:off x="429369" y="2820448"/>
          <a:ext cx="5542653" cy="1483360"/>
        </p:xfrm>
        <a:graphic>
          <a:graphicData uri="http://schemas.openxmlformats.org/drawingml/2006/table">
            <a:tbl>
              <a:tblPr firstRow="1" bandRow="1"/>
              <a:tblGrid>
                <a:gridCol w="659051">
                  <a:extLst>
                    <a:ext uri="{9D8B030D-6E8A-4147-A177-3AD203B41FA5}">
                      <a16:colId xmlns:a16="http://schemas.microsoft.com/office/drawing/2014/main" val="3892496743"/>
                    </a:ext>
                  </a:extLst>
                </a:gridCol>
                <a:gridCol w="2897486">
                  <a:extLst>
                    <a:ext uri="{9D8B030D-6E8A-4147-A177-3AD203B41FA5}">
                      <a16:colId xmlns:a16="http://schemas.microsoft.com/office/drawing/2014/main" val="1797090138"/>
                    </a:ext>
                  </a:extLst>
                </a:gridCol>
                <a:gridCol w="1986116">
                  <a:extLst>
                    <a:ext uri="{9D8B030D-6E8A-4147-A177-3AD203B41FA5}">
                      <a16:colId xmlns:a16="http://schemas.microsoft.com/office/drawing/2014/main" val="2191578378"/>
                    </a:ext>
                  </a:extLst>
                </a:gridCol>
              </a:tblGrid>
              <a:tr h="370840">
                <a:tc>
                  <a:txBody>
                    <a:bodyPr/>
                    <a:lstStyle/>
                    <a:p>
                      <a:pPr algn="ctr"/>
                      <a:r>
                        <a:rPr lang="en-IN" b="1" dirty="0" err="1"/>
                        <a:t>Sr.No</a:t>
                      </a:r>
                      <a:endParaRPr lang="en-GB" b="1" dirty="0"/>
                    </a:p>
                  </a:txBody>
                  <a:tcPr/>
                </a:tc>
                <a:tc>
                  <a:txBody>
                    <a:bodyPr/>
                    <a:lstStyle/>
                    <a:p>
                      <a:pPr algn="ctr"/>
                      <a:r>
                        <a:rPr lang="en-IN" b="1" dirty="0"/>
                        <a:t>Student Name</a:t>
                      </a:r>
                      <a:endParaRPr lang="en-GB" b="1" dirty="0"/>
                    </a:p>
                  </a:txBody>
                  <a:tcPr/>
                </a:tc>
                <a:tc>
                  <a:txBody>
                    <a:bodyPr/>
                    <a:lstStyle/>
                    <a:p>
                      <a:pPr algn="ctr"/>
                      <a:r>
                        <a:rPr lang="en-IN" b="1" dirty="0"/>
                        <a:t>Roll Number</a:t>
                      </a:r>
                      <a:endParaRPr lang="en-GB" b="1" dirty="0"/>
                    </a:p>
                  </a:txBody>
                  <a:tcPr/>
                </a:tc>
                <a:extLst>
                  <a:ext uri="{0D108BD9-81ED-4DB2-BD59-A6C34878D82A}">
                    <a16:rowId xmlns:a16="http://schemas.microsoft.com/office/drawing/2014/main" val="3700901227"/>
                  </a:ext>
                </a:extLst>
              </a:tr>
              <a:tr h="370840">
                <a:tc>
                  <a:txBody>
                    <a:bodyPr/>
                    <a:lstStyle/>
                    <a:p>
                      <a:pPr algn="ctr"/>
                      <a:r>
                        <a:rPr sz="1200" b="1" dirty="0">
                          <a:latin typeface="Cambria"/>
                        </a:rPr>
                        <a:t>1</a:t>
                      </a:r>
                    </a:p>
                  </a:txBody>
                  <a:tcPr/>
                </a:tc>
                <a:tc>
                  <a:txBody>
                    <a:bodyPr/>
                    <a:lstStyle/>
                    <a:p>
                      <a:pPr algn="l"/>
                      <a:r>
                        <a:rPr sz="1200" b="1" dirty="0">
                          <a:latin typeface="Cambria"/>
                        </a:rPr>
                        <a:t>Sharan Poojari</a:t>
                      </a:r>
                    </a:p>
                  </a:txBody>
                  <a:tcPr/>
                </a:tc>
                <a:tc>
                  <a:txBody>
                    <a:bodyPr/>
                    <a:lstStyle/>
                    <a:p>
                      <a:pPr algn="ctr"/>
                      <a:r>
                        <a:rPr sz="1200" b="1" dirty="0">
                          <a:latin typeface="Cambria"/>
                        </a:rPr>
                        <a:t>20231ISE0089</a:t>
                      </a:r>
                    </a:p>
                  </a:txBody>
                  <a:tcPr/>
                </a:tc>
                <a:extLst>
                  <a:ext uri="{0D108BD9-81ED-4DB2-BD59-A6C34878D82A}">
                    <a16:rowId xmlns:a16="http://schemas.microsoft.com/office/drawing/2014/main" val="2510047620"/>
                  </a:ext>
                </a:extLst>
              </a:tr>
              <a:tr h="370840">
                <a:tc>
                  <a:txBody>
                    <a:bodyPr/>
                    <a:lstStyle/>
                    <a:p>
                      <a:pPr algn="ctr"/>
                      <a:r>
                        <a:rPr sz="1200" b="1" dirty="0">
                          <a:latin typeface="Cambria"/>
                        </a:rPr>
                        <a:t>2</a:t>
                      </a:r>
                    </a:p>
                  </a:txBody>
                  <a:tcPr/>
                </a:tc>
                <a:tc>
                  <a:txBody>
                    <a:bodyPr/>
                    <a:lstStyle/>
                    <a:p>
                      <a:pPr algn="l"/>
                      <a:r>
                        <a:rPr sz="1200" b="1" dirty="0">
                          <a:latin typeface="Cambria"/>
                        </a:rPr>
                        <a:t>Suhas S Kattimani</a:t>
                      </a:r>
                    </a:p>
                  </a:txBody>
                  <a:tcPr/>
                </a:tc>
                <a:tc>
                  <a:txBody>
                    <a:bodyPr/>
                    <a:lstStyle/>
                    <a:p>
                      <a:pPr algn="ctr"/>
                      <a:r>
                        <a:rPr sz="1200" b="1" dirty="0">
                          <a:latin typeface="Cambria"/>
                        </a:rPr>
                        <a:t>20231ISE0090</a:t>
                      </a:r>
                    </a:p>
                  </a:txBody>
                  <a:tcPr/>
                </a:tc>
                <a:extLst>
                  <a:ext uri="{0D108BD9-81ED-4DB2-BD59-A6C34878D82A}">
                    <a16:rowId xmlns:a16="http://schemas.microsoft.com/office/drawing/2014/main" val="1024758356"/>
                  </a:ext>
                </a:extLst>
              </a:tr>
              <a:tr h="370840">
                <a:tc>
                  <a:txBody>
                    <a:bodyPr/>
                    <a:lstStyle/>
                    <a:p>
                      <a:pPr algn="ctr"/>
                      <a:r>
                        <a:rPr sz="1200" b="1" dirty="0">
                          <a:latin typeface="Cambria"/>
                        </a:rPr>
                        <a:t>3</a:t>
                      </a:r>
                    </a:p>
                  </a:txBody>
                  <a:tcPr/>
                </a:tc>
                <a:tc>
                  <a:txBody>
                    <a:bodyPr/>
                    <a:lstStyle/>
                    <a:p>
                      <a:pPr algn="l"/>
                      <a:r>
                        <a:rPr sz="1200" b="1" dirty="0">
                          <a:latin typeface="Cambria"/>
                        </a:rPr>
                        <a:t>Harshil Gurjar</a:t>
                      </a:r>
                    </a:p>
                  </a:txBody>
                  <a:tcPr/>
                </a:tc>
                <a:tc>
                  <a:txBody>
                    <a:bodyPr/>
                    <a:lstStyle/>
                    <a:p>
                      <a:pPr algn="ctr"/>
                      <a:r>
                        <a:rPr sz="1200" b="1" dirty="0">
                          <a:latin typeface="Cambria"/>
                        </a:rPr>
                        <a:t>20231ISE0056</a:t>
                      </a:r>
                    </a:p>
                  </a:txBody>
                  <a:tcPr/>
                </a:tc>
                <a:extLst>
                  <a:ext uri="{0D108BD9-81ED-4DB2-BD59-A6C34878D82A}">
                    <a16:rowId xmlns:a16="http://schemas.microsoft.com/office/drawing/2014/main" val="2664575553"/>
                  </a:ext>
                </a:extLst>
              </a:tr>
            </a:tbl>
          </a:graphicData>
        </a:graphic>
      </p:graphicFrame>
      <p:sp>
        <p:nvSpPr>
          <p:cNvPr id="4" name="TextBox 3">
            <a:extLst>
              <a:ext uri="{FF2B5EF4-FFF2-40B4-BE49-F238E27FC236}">
                <a16:creationId xmlns:a16="http://schemas.microsoft.com/office/drawing/2014/main" id="{8ADAAE0D-9E2B-1BC4-51AE-E3E0CC59230D}"/>
              </a:ext>
            </a:extLst>
          </p:cNvPr>
          <p:cNvSpPr txBox="1"/>
          <p:nvPr/>
        </p:nvSpPr>
        <p:spPr>
          <a:xfrm>
            <a:off x="429369" y="2330214"/>
            <a:ext cx="6159910" cy="400110"/>
          </a:xfrm>
          <a:prstGeom prst="rect">
            <a:avLst/>
          </a:prstGeom>
          <a:noFill/>
        </p:spPr>
        <p:txBody>
          <a:bodyPr wrap="square">
            <a:spAutoFit/>
          </a:bodyPr>
          <a:lstStyle/>
          <a:p>
            <a:pPr marL="0" lvl="0" indent="0" algn="l" rtl="0">
              <a:spcBef>
                <a:spcPts val="0"/>
              </a:spcBef>
              <a:spcAft>
                <a:spcPts val="0"/>
              </a:spcAft>
              <a:buClr>
                <a:srgbClr val="17365D"/>
              </a:buClr>
              <a:buSzPts val="2000"/>
              <a:buNone/>
            </a:pPr>
            <a:r>
              <a:rPr sz="1700" b="1">
                <a:solidFill>
                  <a:srgbClr val="0C365C"/>
                </a:solidFill>
                <a:latin typeface="Cambria"/>
              </a:rPr>
              <a:t>Group members details:</a:t>
            </a:r>
          </a:p>
        </p:txBody>
      </p:sp>
      <p:sp>
        <p:nvSpPr>
          <p:cNvPr id="5" name="Google Shape;88;p13">
            <a:extLst>
              <a:ext uri="{FF2B5EF4-FFF2-40B4-BE49-F238E27FC236}">
                <a16:creationId xmlns:a16="http://schemas.microsoft.com/office/drawing/2014/main" id="{C68A9A96-FA24-D641-CFDC-9A25FFD27478}"/>
              </a:ext>
            </a:extLst>
          </p:cNvPr>
          <p:cNvSpPr txBox="1">
            <a:spLocks/>
          </p:cNvSpPr>
          <p:nvPr/>
        </p:nvSpPr>
        <p:spPr>
          <a:xfrm>
            <a:off x="7677299" y="1709355"/>
            <a:ext cx="3970500" cy="552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ctr" rtl="0">
              <a:lnSpc>
                <a:spcPct val="100000"/>
              </a:lnSpc>
              <a:spcBef>
                <a:spcPts val="400"/>
              </a:spcBef>
              <a:spcAft>
                <a:spcPts val="0"/>
              </a:spcAft>
              <a:buClr>
                <a:srgbClr val="17365D"/>
              </a:buClr>
              <a:buSzPts val="2000"/>
              <a:buFont typeface="Arial"/>
              <a:buNone/>
              <a:defRPr sz="2000" b="1" i="0" u="none" strike="noStrike" cap="none">
                <a:solidFill>
                  <a:srgbClr val="17365D"/>
                </a:solidFill>
                <a:latin typeface="Verdana"/>
                <a:ea typeface="Verdana"/>
                <a:cs typeface="Verdana"/>
                <a:sym typeface="Verdana"/>
              </a:defRPr>
            </a:lvl1pPr>
            <a:lvl2pPr marL="914400" marR="0" lvl="1"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Verdana"/>
                <a:ea typeface="Verdana"/>
                <a:cs typeface="Verdana"/>
                <a:sym typeface="Verdana"/>
              </a:defRPr>
            </a:lvl2pPr>
            <a:lvl3pPr marL="1371600" marR="0" lvl="2" indent="-34290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Verdana"/>
                <a:ea typeface="Verdana"/>
                <a:cs typeface="Verdana"/>
                <a:sym typeface="Verdana"/>
              </a:defRPr>
            </a:lvl3pPr>
            <a:lvl4pPr marL="1828800" marR="0" lvl="3" indent="-330200" algn="ctr"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4pPr>
            <a:lvl5pPr marL="2286000" marR="0" lvl="4" indent="-330200" algn="ctr"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9pPr>
          </a:lstStyle>
          <a:p>
            <a:pPr marL="0" indent="0" algn="l">
              <a:spcBef>
                <a:spcPts val="0"/>
              </a:spcBef>
            </a:pPr>
            <a:r>
              <a:rPr sz="1800" b="1" dirty="0">
                <a:solidFill>
                  <a:srgbClr val="0C365C"/>
                </a:solidFill>
                <a:latin typeface="Cambria"/>
              </a:rPr>
              <a:t>Panel No:</a:t>
            </a:r>
            <a:r>
              <a:rPr lang="en-IN" sz="1800" b="1" dirty="0">
                <a:solidFill>
                  <a:srgbClr val="0C365C"/>
                </a:solidFill>
                <a:latin typeface="Cambria"/>
              </a:rPr>
              <a:t> 27</a:t>
            </a:r>
            <a:endParaRPr sz="1800" b="1" dirty="0">
              <a:solidFill>
                <a:srgbClr val="0C365C"/>
              </a:solidFill>
              <a:latin typeface="Cambria"/>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I</a:t>
            </a:r>
            <a:r>
              <a:rPr lang="en-GB" dirty="0">
                <a:latin typeface="Cambria" panose="02040503050406030204" pitchFamily="18" charset="0"/>
                <a:ea typeface="Cambria" panose="02040503050406030204" pitchFamily="18" charset="0"/>
              </a:rPr>
              <a:t>NDEX</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83479"/>
          </a:xfrm>
          <a:prstGeom prst="rect">
            <a:avLst/>
          </a:prstGeom>
          <a:noFill/>
          <a:ln>
            <a:noFill/>
          </a:ln>
        </p:spPr>
        <p:txBody>
          <a:bodyPr spcFirstLastPara="1" wrap="square" lIns="91425" tIns="45700" rIns="91425" bIns="45700" anchor="t" anchorCtr="0">
            <a:normAutofit fontScale="92500" lnSpcReduction="20000"/>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Git Hub Link</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Introduction</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Literature Review</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Architecture Diagram</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Statement/Output Expected</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Project(Gantt Chart)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62000" y="192342"/>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sz="1800" b="1" dirty="0">
                <a:solidFill>
                  <a:srgbClr val="0C365C"/>
                </a:solidFill>
                <a:latin typeface="Cambria"/>
              </a:rPr>
              <a:t>Problem Statement Number:</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96210" y="777240"/>
            <a:ext cx="11055015" cy="5603895"/>
          </a:xfrm>
          <a:prstGeom prst="rect">
            <a:avLst/>
          </a:prstGeom>
          <a:noFill/>
          <a:ln>
            <a:noFill/>
          </a:ln>
        </p:spPr>
        <p:txBody>
          <a:bodyPr spcFirstLastPara="1" wrap="square" lIns="91425" tIns="45700" rIns="91425" bIns="45700" anchor="t" anchorCtr="0">
            <a:noAutofit/>
          </a:bodyPr>
          <a:lstStyle/>
          <a:p>
            <a:pPr marL="342900" lvl="0" indent="-190500">
              <a:lnSpc>
                <a:spcPct val="200000"/>
              </a:lnSpc>
              <a:spcBef>
                <a:spcPts val="0"/>
              </a:spcBef>
              <a:buNone/>
            </a:pPr>
            <a:r>
              <a:rPr sz="1400" b="1" u="sng" dirty="0">
                <a:solidFill>
                  <a:srgbClr val="000000"/>
                </a:solidFill>
                <a:latin typeface="Cambria"/>
              </a:rPr>
              <a:t>Category</a:t>
            </a:r>
            <a:r>
              <a:rPr lang="en-US" sz="1400" b="1" dirty="0">
                <a:solidFill>
                  <a:srgbClr val="000000"/>
                </a:solidFill>
                <a:latin typeface="Cambria"/>
              </a:rPr>
              <a:t> </a:t>
            </a:r>
            <a:r>
              <a:rPr sz="1500" b="1" dirty="0">
                <a:solidFill>
                  <a:srgbClr val="000000"/>
                </a:solidFill>
                <a:latin typeface="Cambria"/>
              </a:rPr>
              <a:t>: </a:t>
            </a:r>
            <a:r>
              <a:rPr sz="1500" b="0" dirty="0">
                <a:solidFill>
                  <a:srgbClr val="000000"/>
                </a:solidFill>
                <a:latin typeface="Cambria"/>
              </a:rPr>
              <a:t>Software</a:t>
            </a:r>
            <a:endParaRPr lang="en-US" sz="1500" dirty="0">
              <a:solidFill>
                <a:srgbClr val="000000"/>
              </a:solidFill>
              <a:latin typeface="Cambria"/>
            </a:endParaRPr>
          </a:p>
          <a:p>
            <a:pPr marL="342900" lvl="0" indent="-190500">
              <a:lnSpc>
                <a:spcPct val="200000"/>
              </a:lnSpc>
              <a:spcBef>
                <a:spcPts val="0"/>
              </a:spcBef>
              <a:buNone/>
            </a:pPr>
            <a:r>
              <a:rPr lang="en-US" sz="1400" b="1" u="sng" dirty="0">
                <a:solidFill>
                  <a:srgbClr val="000000"/>
                </a:solidFill>
                <a:latin typeface="Cambria"/>
              </a:rPr>
              <a:t>Problem Description</a:t>
            </a:r>
            <a:r>
              <a:rPr lang="en-US" sz="1400" b="1" dirty="0">
                <a:solidFill>
                  <a:srgbClr val="000000"/>
                </a:solidFill>
                <a:latin typeface="Cambria"/>
              </a:rPr>
              <a:t> </a:t>
            </a:r>
            <a:r>
              <a:rPr lang="en-US" sz="1500" b="1" dirty="0">
                <a:solidFill>
                  <a:srgbClr val="000000"/>
                </a:solidFill>
                <a:latin typeface="Cambria"/>
              </a:rPr>
              <a:t>: </a:t>
            </a:r>
            <a:r>
              <a:rPr lang="en-US" sz="1500" dirty="0">
                <a:solidFill>
                  <a:srgbClr val="000000"/>
                </a:solidFill>
                <a:latin typeface="Cambria"/>
              </a:rPr>
              <a:t>At times of disasters, individuals might have difficulties in determining the right shelters to go into based</a:t>
            </a:r>
          </a:p>
          <a:p>
            <a:pPr marL="342900" lvl="0" indent="-190500">
              <a:lnSpc>
                <a:spcPct val="200000"/>
              </a:lnSpc>
              <a:spcBef>
                <a:spcPts val="0"/>
              </a:spcBef>
              <a:buNone/>
            </a:pPr>
            <a:r>
              <a:rPr lang="en-US" sz="1500" dirty="0">
                <a:solidFill>
                  <a:srgbClr val="000000"/>
                </a:solidFill>
                <a:latin typeface="Cambria"/>
              </a:rPr>
              <a:t>on such factors as location, capacity, accessibility, availability of facilities, among others. There is a likelihood of shelter</a:t>
            </a:r>
          </a:p>
          <a:p>
            <a:pPr marL="342900" lvl="0" indent="-190500">
              <a:lnSpc>
                <a:spcPct val="200000"/>
              </a:lnSpc>
              <a:spcBef>
                <a:spcPts val="0"/>
              </a:spcBef>
              <a:buNone/>
            </a:pPr>
            <a:r>
              <a:rPr lang="en-US" sz="1500" dirty="0">
                <a:solidFill>
                  <a:srgbClr val="000000"/>
                </a:solidFill>
                <a:latin typeface="Cambria"/>
              </a:rPr>
              <a:t>overcrowding, increased travel time and inefficiency of available shelters. The following is a list of some key problems.</a:t>
            </a:r>
          </a:p>
          <a:p>
            <a:pPr marL="342900" lvl="0" indent="-190500">
              <a:lnSpc>
                <a:spcPct val="200000"/>
              </a:lnSpc>
              <a:spcBef>
                <a:spcPts val="0"/>
              </a:spcBef>
              <a:buNone/>
            </a:pPr>
            <a:r>
              <a:rPr lang="en-US" sz="1400" b="1" u="sng" dirty="0">
                <a:solidFill>
                  <a:srgbClr val="000000"/>
                </a:solidFill>
                <a:latin typeface="Cambria"/>
              </a:rPr>
              <a:t>Key Problems</a:t>
            </a:r>
            <a:r>
              <a:rPr lang="en-US" sz="1400" b="1" dirty="0">
                <a:solidFill>
                  <a:srgbClr val="000000"/>
                </a:solidFill>
                <a:latin typeface="Cambria"/>
              </a:rPr>
              <a:t> </a:t>
            </a:r>
            <a:r>
              <a:rPr lang="en-US" sz="1500" b="1" dirty="0">
                <a:solidFill>
                  <a:srgbClr val="000000"/>
                </a:solidFill>
                <a:latin typeface="Cambria"/>
              </a:rPr>
              <a:t>:</a:t>
            </a:r>
          </a:p>
          <a:p>
            <a:pPr marL="438150" lvl="0" indent="-285750">
              <a:lnSpc>
                <a:spcPct val="200000"/>
              </a:lnSpc>
              <a:spcBef>
                <a:spcPts val="0"/>
              </a:spcBef>
              <a:buFont typeface="Arial" panose="020B0604020202020204" pitchFamily="34" charset="0"/>
              <a:buChar char="•"/>
            </a:pPr>
            <a:r>
              <a:rPr lang="en-US" sz="1500" dirty="0">
                <a:solidFill>
                  <a:srgbClr val="000000"/>
                </a:solidFill>
                <a:latin typeface="Cambria"/>
              </a:rPr>
              <a:t>Difficulty in finding suitable shelters quickly.</a:t>
            </a:r>
          </a:p>
          <a:p>
            <a:pPr marL="438150" lvl="0" indent="-285750">
              <a:lnSpc>
                <a:spcPct val="200000"/>
              </a:lnSpc>
              <a:spcBef>
                <a:spcPts val="0"/>
              </a:spcBef>
              <a:buFont typeface="Arial" panose="020B0604020202020204" pitchFamily="34" charset="0"/>
              <a:buChar char="•"/>
            </a:pPr>
            <a:r>
              <a:rPr lang="en-US" sz="1500" dirty="0">
                <a:solidFill>
                  <a:srgbClr val="000000"/>
                </a:solidFill>
                <a:latin typeface="Cambria"/>
              </a:rPr>
              <a:t>Risk of shelter overcrowding.</a:t>
            </a:r>
          </a:p>
          <a:p>
            <a:pPr marL="438150" lvl="0" indent="-285750">
              <a:lnSpc>
                <a:spcPct val="200000"/>
              </a:lnSpc>
              <a:spcBef>
                <a:spcPts val="0"/>
              </a:spcBef>
              <a:buFont typeface="Arial" panose="020B0604020202020204" pitchFamily="34" charset="0"/>
              <a:buChar char="•"/>
            </a:pPr>
            <a:r>
              <a:rPr lang="en-US" sz="1500" dirty="0">
                <a:solidFill>
                  <a:srgbClr val="000000"/>
                </a:solidFill>
                <a:latin typeface="Cambria"/>
              </a:rPr>
              <a:t>Longer travel and evacuation time.</a:t>
            </a:r>
          </a:p>
          <a:p>
            <a:pPr marL="438150" lvl="0" indent="-285750">
              <a:lnSpc>
                <a:spcPct val="200000"/>
              </a:lnSpc>
              <a:spcBef>
                <a:spcPts val="0"/>
              </a:spcBef>
              <a:buFont typeface="Arial" panose="020B0604020202020204" pitchFamily="34" charset="0"/>
              <a:buChar char="•"/>
            </a:pPr>
            <a:r>
              <a:rPr lang="en-US" sz="1500" dirty="0">
                <a:solidFill>
                  <a:srgbClr val="000000"/>
                </a:solidFill>
                <a:latin typeface="Cambria"/>
              </a:rPr>
              <a:t>Lack of centralized shelter information.</a:t>
            </a:r>
          </a:p>
          <a:p>
            <a:pPr marL="438150" lvl="0" indent="-285750">
              <a:lnSpc>
                <a:spcPct val="200000"/>
              </a:lnSpc>
              <a:spcBef>
                <a:spcPts val="0"/>
              </a:spcBef>
              <a:buFont typeface="Arial" panose="020B0604020202020204" pitchFamily="34" charset="0"/>
              <a:buChar char="•"/>
            </a:pPr>
            <a:r>
              <a:rPr lang="en-US" sz="1500" dirty="0">
                <a:solidFill>
                  <a:srgbClr val="000000"/>
                </a:solidFill>
                <a:latin typeface="Cambria"/>
              </a:rPr>
              <a:t>Inefficient utilization of shelter capacity.</a:t>
            </a:r>
          </a:p>
          <a:p>
            <a:pPr marL="438150" lvl="0" indent="-285750">
              <a:lnSpc>
                <a:spcPct val="200000"/>
              </a:lnSpc>
              <a:spcBef>
                <a:spcPts val="0"/>
              </a:spcBef>
              <a:buFont typeface="Arial" panose="020B0604020202020204" pitchFamily="34" charset="0"/>
              <a:buChar char="•"/>
            </a:pPr>
            <a:r>
              <a:rPr lang="en-US" sz="1500" dirty="0">
                <a:solidFill>
                  <a:srgbClr val="000000"/>
                </a:solidFill>
                <a:latin typeface="Cambria"/>
              </a:rPr>
              <a:t>Difficulty considering accessibility and facilities. </a:t>
            </a:r>
            <a:endParaRPr lang="en-US" sz="1500" b="1" dirty="0">
              <a:solidFill>
                <a:schemeClr val="accent2">
                  <a:lumMod val="75000"/>
                </a:schemeClr>
              </a:solidFill>
              <a:latin typeface="Cambria" panose="02040503050406030204" pitchFamily="18" charset="0"/>
              <a:ea typeface="Cambria" panose="02040503050406030204" pitchFamily="18" charset="0"/>
            </a:endParaRPr>
          </a:p>
          <a:p>
            <a:pPr marL="342900" lvl="0" indent="-190500">
              <a:lnSpc>
                <a:spcPct val="200000"/>
              </a:lnSpc>
              <a:spcBef>
                <a:spcPts val="0"/>
              </a:spcBef>
              <a:buNone/>
            </a:pPr>
            <a:endParaRPr sz="1500" b="0" dirty="0">
              <a:solidFill>
                <a:srgbClr val="000000"/>
              </a:solidFill>
              <a:latin typeface="Cambria"/>
            </a:endParaRPr>
          </a:p>
        </p:txBody>
      </p:sp>
    </p:spTree>
    <p:extLst>
      <p:ext uri="{BB962C8B-B14F-4D97-AF65-F5344CB8AC3E}">
        <p14:creationId xmlns:p14="http://schemas.microsoft.com/office/powerpoint/2010/main" val="21434518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31A3B8-EE5F-4BA1-0C17-CB769AFCC506}"/>
              </a:ext>
            </a:extLst>
          </p:cNvPr>
          <p:cNvSpPr txBox="1"/>
          <p:nvPr/>
        </p:nvSpPr>
        <p:spPr>
          <a:xfrm>
            <a:off x="596646" y="251611"/>
            <a:ext cx="6094476" cy="612347"/>
          </a:xfrm>
          <a:prstGeom prst="rect">
            <a:avLst/>
          </a:prstGeom>
          <a:noFill/>
        </p:spPr>
        <p:txBody>
          <a:bodyPr wrap="square">
            <a:spAutoFit/>
          </a:bodyPr>
          <a:lstStyle/>
          <a:p>
            <a:pPr marL="342900" indent="-190500">
              <a:lnSpc>
                <a:spcPct val="200000"/>
              </a:lnSpc>
              <a:spcBef>
                <a:spcPts val="0"/>
              </a:spcBef>
              <a:buNone/>
            </a:pPr>
            <a:r>
              <a:rPr lang="en-US" sz="2000" b="1" dirty="0">
                <a:solidFill>
                  <a:schemeClr val="accent2">
                    <a:lumMod val="75000"/>
                  </a:schemeClr>
                </a:solidFill>
                <a:latin typeface="Cambria" panose="02040503050406030204" pitchFamily="18" charset="0"/>
                <a:ea typeface="Cambria" panose="02040503050406030204" pitchFamily="18" charset="0"/>
              </a:rPr>
              <a:t>GitHub Link :</a:t>
            </a:r>
          </a:p>
        </p:txBody>
      </p:sp>
      <p:sp>
        <p:nvSpPr>
          <p:cNvPr id="5" name="TextBox 4">
            <a:extLst>
              <a:ext uri="{FF2B5EF4-FFF2-40B4-BE49-F238E27FC236}">
                <a16:creationId xmlns:a16="http://schemas.microsoft.com/office/drawing/2014/main" id="{036E89C2-4199-2DFD-D128-9DBB4850C149}"/>
              </a:ext>
            </a:extLst>
          </p:cNvPr>
          <p:cNvSpPr txBox="1"/>
          <p:nvPr/>
        </p:nvSpPr>
        <p:spPr>
          <a:xfrm>
            <a:off x="596646" y="888045"/>
            <a:ext cx="8026146" cy="560346"/>
          </a:xfrm>
          <a:prstGeom prst="rect">
            <a:avLst/>
          </a:prstGeom>
          <a:noFill/>
        </p:spPr>
        <p:txBody>
          <a:bodyPr wrap="square">
            <a:spAutoFit/>
          </a:bodyPr>
          <a:lstStyle/>
          <a:p>
            <a:pPr marL="342900" indent="-190500">
              <a:lnSpc>
                <a:spcPct val="200000"/>
              </a:lnSpc>
              <a:spcBef>
                <a:spcPts val="0"/>
              </a:spcBef>
              <a:buNone/>
            </a:pPr>
            <a:r>
              <a:rPr lang="en-IN" sz="1800" b="1" dirty="0">
                <a:solidFill>
                  <a:srgbClr val="4B7EBE"/>
                </a:solidFill>
                <a:latin typeface="Cambria"/>
                <a:hlinkClick r:id="rId2"/>
              </a:rPr>
              <a:t>https://github.com/HarshilxAI/Emergency-Shelter-Allocation-Platform</a:t>
            </a:r>
            <a:endParaRPr lang="en-US" sz="1800" b="1" dirty="0">
              <a:solidFill>
                <a:schemeClr val="accent2">
                  <a:lumMod val="75000"/>
                </a:schemeClr>
              </a:solidFill>
              <a:latin typeface="Cambria" panose="02040503050406030204" pitchFamily="18" charset="0"/>
              <a:ea typeface="Cambria" panose="02040503050406030204" pitchFamily="18" charset="0"/>
            </a:endParaRPr>
          </a:p>
        </p:txBody>
      </p:sp>
      <p:sp>
        <p:nvSpPr>
          <p:cNvPr id="2" name="Rectangle: Rounded Corners 1">
            <a:extLst>
              <a:ext uri="{FF2B5EF4-FFF2-40B4-BE49-F238E27FC236}">
                <a16:creationId xmlns:a16="http://schemas.microsoft.com/office/drawing/2014/main" id="{E8B6AFBB-07D9-3997-5967-1C5E26EF4338}"/>
              </a:ext>
            </a:extLst>
          </p:cNvPr>
          <p:cNvSpPr/>
          <p:nvPr/>
        </p:nvSpPr>
        <p:spPr>
          <a:xfrm>
            <a:off x="344129" y="1710813"/>
            <a:ext cx="5840361" cy="425914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ln>
                <a:solidFill>
                  <a:schemeClr val="tx1"/>
                </a:solidFill>
              </a:ln>
              <a:solidFill>
                <a:schemeClr val="bg2">
                  <a:lumMod val="20000"/>
                  <a:lumOff val="80000"/>
                </a:schemeClr>
              </a:solidFill>
            </a:endParaRPr>
          </a:p>
        </p:txBody>
      </p:sp>
      <p:sp>
        <p:nvSpPr>
          <p:cNvPr id="6" name="TextBox 5">
            <a:extLst>
              <a:ext uri="{FF2B5EF4-FFF2-40B4-BE49-F238E27FC236}">
                <a16:creationId xmlns:a16="http://schemas.microsoft.com/office/drawing/2014/main" id="{4FE87BFE-8938-DA90-EFA8-D3F75F9DBA66}"/>
              </a:ext>
            </a:extLst>
          </p:cNvPr>
          <p:cNvSpPr txBox="1"/>
          <p:nvPr/>
        </p:nvSpPr>
        <p:spPr>
          <a:xfrm>
            <a:off x="596646" y="1976284"/>
            <a:ext cx="5342038" cy="4308872"/>
          </a:xfrm>
          <a:prstGeom prst="rect">
            <a:avLst/>
          </a:prstGeom>
          <a:noFill/>
        </p:spPr>
        <p:txBody>
          <a:bodyPr wrap="square" rtlCol="0">
            <a:spAutoFit/>
          </a:bodyPr>
          <a:lstStyle/>
          <a:p>
            <a:pPr marL="152400">
              <a:lnSpc>
                <a:spcPct val="200000"/>
              </a:lnSpc>
            </a:pPr>
            <a:r>
              <a:rPr lang="en-US" sz="1800" b="1" dirty="0">
                <a:solidFill>
                  <a:schemeClr val="tx1"/>
                </a:solidFill>
                <a:latin typeface="Cambria" panose="02040503050406030204" pitchFamily="18" charset="0"/>
                <a:ea typeface="Cambria" panose="02040503050406030204" pitchFamily="18" charset="0"/>
              </a:rPr>
              <a:t>Project Materials &amp; Development Work:</a:t>
            </a:r>
          </a:p>
          <a:p>
            <a:pPr marL="438150" indent="-285750">
              <a:lnSpc>
                <a:spcPct val="200000"/>
              </a:lnSpc>
              <a:buFont typeface="Arial" panose="020B0604020202020204" pitchFamily="34" charset="0"/>
              <a:buChar char="•"/>
            </a:pPr>
            <a:r>
              <a:rPr lang="en-US" sz="1600" dirty="0">
                <a:solidFill>
                  <a:schemeClr val="tx1"/>
                </a:solidFill>
                <a:latin typeface="Cambria" panose="02040503050406030204" pitchFamily="18" charset="0"/>
                <a:ea typeface="Cambria" panose="02040503050406030204" pitchFamily="18" charset="0"/>
              </a:rPr>
              <a:t>Project execution plan and development roadmap</a:t>
            </a:r>
          </a:p>
          <a:p>
            <a:pPr marL="438150" indent="-285750">
              <a:lnSpc>
                <a:spcPct val="200000"/>
              </a:lnSpc>
              <a:buFont typeface="Arial" panose="020B0604020202020204" pitchFamily="34" charset="0"/>
              <a:buChar char="•"/>
            </a:pPr>
            <a:r>
              <a:rPr lang="en-US" sz="1600" dirty="0">
                <a:solidFill>
                  <a:schemeClr val="tx1"/>
                </a:solidFill>
                <a:latin typeface="Cambria" panose="02040503050406030204" pitchFamily="18" charset="0"/>
                <a:ea typeface="Cambria" panose="02040503050406030204" pitchFamily="18" charset="0"/>
              </a:rPr>
              <a:t>Problem analysis and proposed solution strategies</a:t>
            </a:r>
          </a:p>
          <a:p>
            <a:pPr marL="438150" indent="-285750">
              <a:lnSpc>
                <a:spcPct val="200000"/>
              </a:lnSpc>
              <a:buFont typeface="Arial" panose="020B0604020202020204" pitchFamily="34" charset="0"/>
              <a:buChar char="•"/>
            </a:pPr>
            <a:r>
              <a:rPr lang="en-US" sz="1600" dirty="0">
                <a:solidFill>
                  <a:schemeClr val="tx1"/>
                </a:solidFill>
                <a:latin typeface="Cambria" panose="02040503050406030204" pitchFamily="18" charset="0"/>
                <a:ea typeface="Cambria" panose="02040503050406030204" pitchFamily="18" charset="0"/>
              </a:rPr>
              <a:t>Technology stack and API / open-source resource selection</a:t>
            </a:r>
          </a:p>
          <a:p>
            <a:pPr marL="438150" indent="-285750">
              <a:lnSpc>
                <a:spcPct val="200000"/>
              </a:lnSpc>
              <a:buFont typeface="Arial" panose="020B0604020202020204" pitchFamily="34" charset="0"/>
              <a:buChar char="•"/>
            </a:pPr>
            <a:r>
              <a:rPr lang="en-US" sz="1600" dirty="0">
                <a:solidFill>
                  <a:schemeClr val="tx1"/>
                </a:solidFill>
                <a:latin typeface="Cambria" panose="02040503050406030204" pitchFamily="18" charset="0"/>
                <a:ea typeface="Cambria" panose="02040503050406030204" pitchFamily="18" charset="0"/>
              </a:rPr>
              <a:t>System architecture and workflow planning</a:t>
            </a:r>
          </a:p>
          <a:p>
            <a:pPr marL="438150" indent="-285750">
              <a:lnSpc>
                <a:spcPct val="200000"/>
              </a:lnSpc>
              <a:buFont typeface="Arial" panose="020B0604020202020204" pitchFamily="34" charset="0"/>
              <a:buChar char="•"/>
            </a:pPr>
            <a:r>
              <a:rPr lang="en-US" sz="1600" dirty="0">
                <a:solidFill>
                  <a:schemeClr val="tx1"/>
                </a:solidFill>
                <a:latin typeface="Cambria" panose="02040503050406030204" pitchFamily="18" charset="0"/>
                <a:ea typeface="Cambria" panose="02040503050406030204" pitchFamily="18" charset="0"/>
              </a:rPr>
              <a:t>Supporting project document and implementation notes </a:t>
            </a:r>
          </a:p>
          <a:p>
            <a:endParaRPr lang="en-IN" dirty="0"/>
          </a:p>
        </p:txBody>
      </p:sp>
      <p:sp>
        <p:nvSpPr>
          <p:cNvPr id="8" name="Rectangle: Rounded Corners 7">
            <a:extLst>
              <a:ext uri="{FF2B5EF4-FFF2-40B4-BE49-F238E27FC236}">
                <a16:creationId xmlns:a16="http://schemas.microsoft.com/office/drawing/2014/main" id="{968FB376-4000-EFD5-2FFB-143478030258}"/>
              </a:ext>
            </a:extLst>
          </p:cNvPr>
          <p:cNvSpPr/>
          <p:nvPr/>
        </p:nvSpPr>
        <p:spPr>
          <a:xfrm>
            <a:off x="6538452" y="1710813"/>
            <a:ext cx="5284568" cy="185829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3" name="TextBox 12">
            <a:extLst>
              <a:ext uri="{FF2B5EF4-FFF2-40B4-BE49-F238E27FC236}">
                <a16:creationId xmlns:a16="http://schemas.microsoft.com/office/drawing/2014/main" id="{EC55A0AE-5249-8A25-6FE3-A260E68690BD}"/>
              </a:ext>
            </a:extLst>
          </p:cNvPr>
          <p:cNvSpPr txBox="1"/>
          <p:nvPr/>
        </p:nvSpPr>
        <p:spPr>
          <a:xfrm>
            <a:off x="6784258" y="1659707"/>
            <a:ext cx="3519948" cy="1933671"/>
          </a:xfrm>
          <a:prstGeom prst="rect">
            <a:avLst/>
          </a:prstGeom>
          <a:noFill/>
        </p:spPr>
        <p:txBody>
          <a:bodyPr wrap="square">
            <a:spAutoFit/>
          </a:bodyPr>
          <a:lstStyle/>
          <a:p>
            <a:pPr marL="152400">
              <a:lnSpc>
                <a:spcPct val="200000"/>
              </a:lnSpc>
              <a:spcBef>
                <a:spcPts val="0"/>
              </a:spcBef>
            </a:pPr>
            <a:r>
              <a:rPr lang="en-US" sz="2000" b="1" dirty="0">
                <a:solidFill>
                  <a:schemeClr val="tx1"/>
                </a:solidFill>
                <a:latin typeface="Cambria" panose="02040503050406030204" pitchFamily="18" charset="0"/>
                <a:ea typeface="Cambria" panose="02040503050406030204" pitchFamily="18" charset="0"/>
              </a:rPr>
              <a:t>GitHub Contributors:</a:t>
            </a:r>
          </a:p>
          <a:p>
            <a:pPr marL="438150" indent="-285750">
              <a:lnSpc>
                <a:spcPct val="200000"/>
              </a:lnSpc>
              <a:spcBef>
                <a:spcPts val="0"/>
              </a:spcBef>
              <a:buFont typeface="Arial" panose="020B0604020202020204" pitchFamily="34" charset="0"/>
              <a:buChar char="•"/>
            </a:pPr>
            <a:r>
              <a:rPr lang="en-US" dirty="0">
                <a:solidFill>
                  <a:schemeClr val="tx1"/>
                </a:solidFill>
                <a:latin typeface="Cambria" panose="02040503050406030204" pitchFamily="18" charset="0"/>
                <a:ea typeface="Cambria" panose="02040503050406030204" pitchFamily="18" charset="0"/>
              </a:rPr>
              <a:t>Harshil Gurjar</a:t>
            </a:r>
          </a:p>
          <a:p>
            <a:pPr marL="438150" indent="-285750">
              <a:lnSpc>
                <a:spcPct val="200000"/>
              </a:lnSpc>
              <a:spcBef>
                <a:spcPts val="0"/>
              </a:spcBef>
              <a:buFont typeface="Arial" panose="020B0604020202020204" pitchFamily="34" charset="0"/>
              <a:buChar char="•"/>
            </a:pPr>
            <a:r>
              <a:rPr lang="en-US" dirty="0">
                <a:solidFill>
                  <a:schemeClr val="tx1"/>
                </a:solidFill>
                <a:latin typeface="Cambria" panose="02040503050406030204" pitchFamily="18" charset="0"/>
                <a:ea typeface="Cambria" panose="02040503050406030204" pitchFamily="18" charset="0"/>
              </a:rPr>
              <a:t>Suhas S Kattimani</a:t>
            </a:r>
          </a:p>
          <a:p>
            <a:pPr marL="438150" indent="-285750">
              <a:lnSpc>
                <a:spcPct val="200000"/>
              </a:lnSpc>
              <a:spcBef>
                <a:spcPts val="0"/>
              </a:spcBef>
              <a:buFont typeface="Arial" panose="020B0604020202020204" pitchFamily="34" charset="0"/>
              <a:buChar char="•"/>
            </a:pPr>
            <a:r>
              <a:rPr lang="en-US" dirty="0">
                <a:solidFill>
                  <a:schemeClr val="tx1"/>
                </a:solidFill>
                <a:latin typeface="Cambria" panose="02040503050406030204" pitchFamily="18" charset="0"/>
                <a:ea typeface="Cambria" panose="02040503050406030204" pitchFamily="18" charset="0"/>
              </a:rPr>
              <a:t>Sharan Poojari</a:t>
            </a:r>
          </a:p>
        </p:txBody>
      </p:sp>
      <p:sp>
        <p:nvSpPr>
          <p:cNvPr id="20" name="Rectangle: Rounded Corners 19">
            <a:extLst>
              <a:ext uri="{FF2B5EF4-FFF2-40B4-BE49-F238E27FC236}">
                <a16:creationId xmlns:a16="http://schemas.microsoft.com/office/drawing/2014/main" id="{A69C10C0-7AB5-FACB-3682-C84F8AC812AC}"/>
              </a:ext>
            </a:extLst>
          </p:cNvPr>
          <p:cNvSpPr/>
          <p:nvPr/>
        </p:nvSpPr>
        <p:spPr>
          <a:xfrm>
            <a:off x="6538452" y="3687097"/>
            <a:ext cx="5284568" cy="228285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23" name="TextBox 22">
            <a:extLst>
              <a:ext uri="{FF2B5EF4-FFF2-40B4-BE49-F238E27FC236}">
                <a16:creationId xmlns:a16="http://schemas.microsoft.com/office/drawing/2014/main" id="{518AF726-75D3-638F-8B45-656F52A3A009}"/>
              </a:ext>
            </a:extLst>
          </p:cNvPr>
          <p:cNvSpPr txBox="1"/>
          <p:nvPr/>
        </p:nvSpPr>
        <p:spPr>
          <a:xfrm>
            <a:off x="6784258" y="3644484"/>
            <a:ext cx="3913239" cy="2364558"/>
          </a:xfrm>
          <a:prstGeom prst="rect">
            <a:avLst/>
          </a:prstGeom>
          <a:noFill/>
        </p:spPr>
        <p:txBody>
          <a:bodyPr wrap="square">
            <a:spAutoFit/>
          </a:bodyPr>
          <a:lstStyle/>
          <a:p>
            <a:pPr marL="152400">
              <a:lnSpc>
                <a:spcPct val="200000"/>
              </a:lnSpc>
              <a:spcBef>
                <a:spcPts val="0"/>
              </a:spcBef>
            </a:pPr>
            <a:r>
              <a:rPr lang="en-US" sz="2000" b="1" dirty="0">
                <a:solidFill>
                  <a:schemeClr val="tx1"/>
                </a:solidFill>
                <a:latin typeface="Cambria" panose="02040503050406030204" pitchFamily="18" charset="0"/>
                <a:ea typeface="Cambria" panose="02040503050406030204" pitchFamily="18" charset="0"/>
              </a:rPr>
              <a:t>Repository Work:</a:t>
            </a:r>
          </a:p>
          <a:p>
            <a:pPr marL="438150" indent="-285750">
              <a:lnSpc>
                <a:spcPct val="200000"/>
              </a:lnSpc>
              <a:spcBef>
                <a:spcPts val="0"/>
              </a:spcBef>
              <a:buFont typeface="Arial" panose="020B0604020202020204" pitchFamily="34" charset="0"/>
              <a:buChar char="•"/>
            </a:pPr>
            <a:r>
              <a:rPr lang="en-US" dirty="0">
                <a:solidFill>
                  <a:schemeClr val="tx1"/>
                </a:solidFill>
                <a:latin typeface="Cambria" panose="02040503050406030204" pitchFamily="18" charset="0"/>
                <a:ea typeface="Cambria" panose="02040503050406030204" pitchFamily="18" charset="0"/>
              </a:rPr>
              <a:t>Project repository setup</a:t>
            </a:r>
          </a:p>
          <a:p>
            <a:pPr marL="438150" indent="-285750">
              <a:lnSpc>
                <a:spcPct val="200000"/>
              </a:lnSpc>
              <a:spcBef>
                <a:spcPts val="0"/>
              </a:spcBef>
              <a:buFont typeface="Arial" panose="020B0604020202020204" pitchFamily="34" charset="0"/>
              <a:buChar char="•"/>
            </a:pPr>
            <a:r>
              <a:rPr lang="en-US" dirty="0">
                <a:solidFill>
                  <a:schemeClr val="tx1"/>
                </a:solidFill>
                <a:latin typeface="Cambria" panose="02040503050406030204" pitchFamily="18" charset="0"/>
                <a:ea typeface="Cambria" panose="02040503050406030204" pitchFamily="18" charset="0"/>
              </a:rPr>
              <a:t>Planning and documentation</a:t>
            </a:r>
          </a:p>
          <a:p>
            <a:pPr marL="438150" indent="-285750">
              <a:lnSpc>
                <a:spcPct val="200000"/>
              </a:lnSpc>
              <a:spcBef>
                <a:spcPts val="0"/>
              </a:spcBef>
              <a:buFont typeface="Arial" panose="020B0604020202020204" pitchFamily="34" charset="0"/>
              <a:buChar char="•"/>
            </a:pPr>
            <a:r>
              <a:rPr lang="en-US" dirty="0">
                <a:solidFill>
                  <a:schemeClr val="tx1"/>
                </a:solidFill>
                <a:latin typeface="Cambria" panose="02040503050406030204" pitchFamily="18" charset="0"/>
                <a:ea typeface="Cambria" panose="02040503050406030204" pitchFamily="18" charset="0"/>
              </a:rPr>
              <a:t>Architecture &amp; implementation planning</a:t>
            </a:r>
          </a:p>
          <a:p>
            <a:pPr marL="438150" indent="-285750">
              <a:lnSpc>
                <a:spcPct val="200000"/>
              </a:lnSpc>
              <a:spcBef>
                <a:spcPts val="0"/>
              </a:spcBef>
              <a:buFont typeface="Arial" panose="020B0604020202020204" pitchFamily="34" charset="0"/>
              <a:buChar char="•"/>
            </a:pPr>
            <a:r>
              <a:rPr lang="en-US" dirty="0">
                <a:solidFill>
                  <a:schemeClr val="tx1"/>
                </a:solidFill>
                <a:latin typeface="Cambria" panose="02040503050406030204" pitchFamily="18" charset="0"/>
                <a:ea typeface="Cambria" panose="02040503050406030204" pitchFamily="18" charset="0"/>
              </a:rPr>
              <a:t>API/ open-source resource evaluation</a:t>
            </a:r>
          </a:p>
        </p:txBody>
      </p:sp>
    </p:spTree>
    <p:extLst>
      <p:ext uri="{BB962C8B-B14F-4D97-AF65-F5344CB8AC3E}">
        <p14:creationId xmlns:p14="http://schemas.microsoft.com/office/powerpoint/2010/main" val="23102606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Introduction</a:t>
            </a:r>
          </a:p>
        </p:txBody>
      </p:sp>
      <p:sp>
        <p:nvSpPr>
          <p:cNvPr id="115" name="Google Shape;115;p17"/>
          <p:cNvSpPr txBox="1">
            <a:spLocks noGrp="1"/>
          </p:cNvSpPr>
          <p:nvPr>
            <p:ph type="body" idx="1"/>
          </p:nvPr>
        </p:nvSpPr>
        <p:spPr>
          <a:xfrm>
            <a:off x="593344" y="1216152"/>
            <a:ext cx="10668000" cy="4953000"/>
          </a:xfrm>
          <a:prstGeom prst="rect">
            <a:avLst/>
          </a:prstGeom>
          <a:noFill/>
          <a:ln>
            <a:noFill/>
          </a:ln>
        </p:spPr>
        <p:txBody>
          <a:bodyPr spcFirstLastPara="1" wrap="square" lIns="91425" tIns="45700" rIns="91425" bIns="45700" anchor="t" anchorCtr="0">
            <a:normAutofit fontScale="92500"/>
          </a:bodyPr>
          <a:lstStyle/>
          <a:p>
            <a:pPr marL="342900" lvl="0" indent="-190500" algn="just">
              <a:spcBef>
                <a:spcPts val="0"/>
              </a:spcBef>
              <a:buSzPct val="100000"/>
              <a:buNone/>
            </a:pPr>
            <a:r>
              <a:rPr lang="en-US" sz="2000" b="1" dirty="0">
                <a:solidFill>
                  <a:srgbClr val="000000"/>
                </a:solidFill>
                <a:latin typeface="Cambria"/>
              </a:rPr>
              <a:t>About the Project: </a:t>
            </a:r>
            <a:endParaRPr lang="en-US" sz="2000" dirty="0">
              <a:solidFill>
                <a:srgbClr val="000000"/>
              </a:solidFill>
              <a:latin typeface="Cambria"/>
            </a:endParaRPr>
          </a:p>
          <a:p>
            <a:pPr marL="342900" lvl="0" indent="-190500" algn="just">
              <a:lnSpc>
                <a:spcPct val="150000"/>
              </a:lnSpc>
              <a:spcBef>
                <a:spcPts val="0"/>
              </a:spcBef>
              <a:buSzPct val="100000"/>
              <a:buNone/>
            </a:pPr>
            <a:r>
              <a:rPr lang="en-US" sz="1700" dirty="0">
                <a:solidFill>
                  <a:srgbClr val="000000"/>
                </a:solidFill>
                <a:latin typeface="Cambria"/>
              </a:rPr>
              <a:t>Emergency Shelter Allocation Platform is a software-based web application designed to help affected people and</a:t>
            </a:r>
          </a:p>
          <a:p>
            <a:pPr marL="342900" lvl="0" indent="-190500" algn="just">
              <a:lnSpc>
                <a:spcPct val="150000"/>
              </a:lnSpc>
              <a:spcBef>
                <a:spcPts val="0"/>
              </a:spcBef>
              <a:buSzPct val="100000"/>
              <a:buNone/>
            </a:pPr>
            <a:r>
              <a:rPr lang="en-US" sz="1700" dirty="0">
                <a:solidFill>
                  <a:srgbClr val="000000"/>
                </a:solidFill>
                <a:latin typeface="Cambria"/>
              </a:rPr>
              <a:t>emergency administrators identify suitable shelters during disasters. It uses shelter information such as location,</a:t>
            </a:r>
          </a:p>
          <a:p>
            <a:pPr marL="342900" lvl="0" indent="-190500" algn="just">
              <a:lnSpc>
                <a:spcPct val="150000"/>
              </a:lnSpc>
              <a:spcBef>
                <a:spcPts val="0"/>
              </a:spcBef>
              <a:buSzPct val="100000"/>
              <a:buNone/>
            </a:pPr>
            <a:r>
              <a:rPr lang="en-US" sz="1700" dirty="0">
                <a:solidFill>
                  <a:srgbClr val="000000"/>
                </a:solidFill>
                <a:latin typeface="Cambria"/>
              </a:rPr>
              <a:t>capacity, occupancy, facilities, and current status to support faster and more efficient shelter allocation. The platform</a:t>
            </a:r>
          </a:p>
          <a:p>
            <a:pPr marL="342900" lvl="0" indent="-190500" algn="just">
              <a:lnSpc>
                <a:spcPct val="150000"/>
              </a:lnSpc>
              <a:spcBef>
                <a:spcPts val="0"/>
              </a:spcBef>
              <a:buSzPct val="100000"/>
              <a:buNone/>
            </a:pPr>
            <a:r>
              <a:rPr lang="en-US" sz="1700" dirty="0">
                <a:solidFill>
                  <a:srgbClr val="000000"/>
                </a:solidFill>
                <a:latin typeface="Cambria"/>
              </a:rPr>
              <a:t>filters and ranks available shelters based on user requirements and provides clear shelter recommendations.</a:t>
            </a:r>
          </a:p>
          <a:p>
            <a:pPr marL="342900" lvl="0" indent="-190500" algn="just">
              <a:lnSpc>
                <a:spcPct val="150000"/>
              </a:lnSpc>
              <a:spcBef>
                <a:spcPts val="0"/>
              </a:spcBef>
              <a:buSzPct val="100000"/>
              <a:buNone/>
            </a:pPr>
            <a:endParaRPr lang="en-US" sz="1700" b="0" dirty="0">
              <a:solidFill>
                <a:srgbClr val="000000"/>
              </a:solidFill>
              <a:latin typeface="Cambria"/>
            </a:endParaRPr>
          </a:p>
          <a:p>
            <a:pPr marL="342900" lvl="0" indent="-190500" algn="just">
              <a:lnSpc>
                <a:spcPct val="150000"/>
              </a:lnSpc>
              <a:spcBef>
                <a:spcPts val="0"/>
              </a:spcBef>
              <a:buSzPct val="100000"/>
              <a:buNone/>
            </a:pPr>
            <a:r>
              <a:rPr lang="en-IN" sz="2000" b="1" dirty="0">
                <a:solidFill>
                  <a:srgbClr val="000000"/>
                </a:solidFill>
                <a:latin typeface="Cambria"/>
              </a:rPr>
              <a:t>Key Objectives:</a:t>
            </a:r>
          </a:p>
          <a:p>
            <a:pPr marL="438150" lvl="0" indent="-285750" algn="just">
              <a:lnSpc>
                <a:spcPct val="150000"/>
              </a:lnSpc>
              <a:spcBef>
                <a:spcPts val="0"/>
              </a:spcBef>
              <a:buSzPct val="100000"/>
              <a:buFont typeface="Arial" panose="020B0604020202020204" pitchFamily="34" charset="0"/>
              <a:buChar char="•"/>
            </a:pPr>
            <a:r>
              <a:rPr lang="en-US" sz="1600" dirty="0">
                <a:solidFill>
                  <a:srgbClr val="000000"/>
                </a:solidFill>
                <a:latin typeface="Cambria"/>
              </a:rPr>
              <a:t>Faster identification of suitable shelters.</a:t>
            </a:r>
          </a:p>
          <a:p>
            <a:pPr marL="438150" lvl="0" indent="-285750" algn="just">
              <a:lnSpc>
                <a:spcPct val="150000"/>
              </a:lnSpc>
              <a:spcBef>
                <a:spcPts val="0"/>
              </a:spcBef>
              <a:buSzPct val="100000"/>
              <a:buFont typeface="Arial" panose="020B0604020202020204" pitchFamily="34" charset="0"/>
              <a:buChar char="•"/>
            </a:pPr>
            <a:r>
              <a:rPr lang="en-US" sz="1600" dirty="0">
                <a:solidFill>
                  <a:srgbClr val="000000"/>
                </a:solidFill>
                <a:latin typeface="Cambria"/>
              </a:rPr>
              <a:t>Capacity-aware shelter allocation.</a:t>
            </a:r>
          </a:p>
          <a:p>
            <a:pPr marL="438150" lvl="0" indent="-285750" algn="just">
              <a:lnSpc>
                <a:spcPct val="150000"/>
              </a:lnSpc>
              <a:spcBef>
                <a:spcPts val="0"/>
              </a:spcBef>
              <a:buSzPct val="100000"/>
              <a:buFont typeface="Arial" panose="020B0604020202020204" pitchFamily="34" charset="0"/>
              <a:buChar char="•"/>
            </a:pPr>
            <a:r>
              <a:rPr lang="en-US" sz="1600" dirty="0">
                <a:solidFill>
                  <a:srgbClr val="000000"/>
                </a:solidFill>
                <a:latin typeface="Cambria"/>
              </a:rPr>
              <a:t>Reduction of shelter overcrowding.</a:t>
            </a:r>
          </a:p>
          <a:p>
            <a:pPr marL="438150" lvl="0" indent="-285750" algn="just">
              <a:lnSpc>
                <a:spcPct val="150000"/>
              </a:lnSpc>
              <a:spcBef>
                <a:spcPts val="0"/>
              </a:spcBef>
              <a:buSzPct val="100000"/>
              <a:buFont typeface="Arial" panose="020B0604020202020204" pitchFamily="34" charset="0"/>
              <a:buChar char="•"/>
            </a:pPr>
            <a:r>
              <a:rPr lang="en-US" sz="1600" dirty="0">
                <a:solidFill>
                  <a:srgbClr val="000000"/>
                </a:solidFill>
                <a:latin typeface="Cambria"/>
              </a:rPr>
              <a:t>Centralized and updated shelter information.</a:t>
            </a:r>
          </a:p>
          <a:p>
            <a:pPr marL="438150" lvl="0" indent="-285750" algn="just">
              <a:lnSpc>
                <a:spcPct val="150000"/>
              </a:lnSpc>
              <a:spcBef>
                <a:spcPts val="0"/>
              </a:spcBef>
              <a:buSzPct val="100000"/>
              <a:buFont typeface="Arial" panose="020B0604020202020204" pitchFamily="34" charset="0"/>
              <a:buChar char="•"/>
            </a:pPr>
            <a:r>
              <a:rPr lang="en-US" sz="1600" dirty="0">
                <a:solidFill>
                  <a:srgbClr val="000000"/>
                </a:solidFill>
                <a:latin typeface="Cambria"/>
              </a:rPr>
              <a:t>Clear decision support for emergency response</a:t>
            </a:r>
            <a:r>
              <a:rPr lang="en-US" sz="1500" dirty="0">
                <a:solidFill>
                  <a:srgbClr val="000000"/>
                </a:solidFill>
                <a:latin typeface="Cambria"/>
              </a:rPr>
              <a:t>.</a:t>
            </a:r>
            <a:endParaRPr sz="1500" dirty="0">
              <a:solidFill>
                <a:srgbClr val="000000"/>
              </a:solidFill>
              <a:latin typeface="Cambria"/>
            </a:endParaRPr>
          </a:p>
        </p:txBody>
      </p:sp>
    </p:spTree>
    <p:extLst>
      <p:ext uri="{BB962C8B-B14F-4D97-AF65-F5344CB8AC3E}">
        <p14:creationId xmlns:p14="http://schemas.microsoft.com/office/powerpoint/2010/main" val="10308161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0CF3E6C-9D22-F1F7-4C96-42BCE8ACBD17}"/>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395F6BE3-C2E7-E383-C049-39CB89CBDC3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Literature Review</a:t>
            </a:r>
          </a:p>
        </p:txBody>
      </p:sp>
      <p:graphicFrame>
        <p:nvGraphicFramePr>
          <p:cNvPr id="115" name="Table 114"/>
          <p:cNvGraphicFramePr>
            <a:graphicFrameLocks noGrp="1"/>
          </p:cNvGraphicFramePr>
          <p:nvPr>
            <p:extLst>
              <p:ext uri="{D42A27DB-BD31-4B8C-83A1-F6EECF244321}">
                <p14:modId xmlns:p14="http://schemas.microsoft.com/office/powerpoint/2010/main" val="1580105269"/>
              </p:ext>
            </p:extLst>
          </p:nvPr>
        </p:nvGraphicFramePr>
        <p:xfrm>
          <a:off x="812800" y="1005840"/>
          <a:ext cx="10671048" cy="499456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6099048">
                  <a:extLst>
                    <a:ext uri="{9D8B030D-6E8A-4147-A177-3AD203B41FA5}">
                      <a16:colId xmlns:a16="http://schemas.microsoft.com/office/drawing/2014/main" val="20002"/>
                    </a:ext>
                  </a:extLst>
                </a:gridCol>
              </a:tblGrid>
              <a:tr h="461356">
                <a:tc>
                  <a:txBody>
                    <a:bodyPr/>
                    <a:lstStyle/>
                    <a:p>
                      <a:pPr algn="ctr"/>
                      <a:r>
                        <a:rPr sz="1100" b="1">
                          <a:solidFill>
                            <a:srgbClr val="FFFFFF"/>
                          </a:solidFill>
                          <a:latin typeface="Cambria"/>
                        </a:rPr>
                        <a:t>No.</a:t>
                      </a:r>
                    </a:p>
                  </a:txBody>
                  <a:tcPr>
                    <a:solidFill>
                      <a:srgbClr val="0C365C"/>
                    </a:solidFill>
                  </a:tcPr>
                </a:tc>
                <a:tc>
                  <a:txBody>
                    <a:bodyPr/>
                    <a:lstStyle/>
                    <a:p>
                      <a:pPr algn="ctr"/>
                      <a:r>
                        <a:rPr sz="1100" b="1" dirty="0">
                          <a:solidFill>
                            <a:srgbClr val="FFFFFF"/>
                          </a:solidFill>
                          <a:latin typeface="Cambria"/>
                        </a:rPr>
                        <a:t>Paper referred</a:t>
                      </a:r>
                    </a:p>
                  </a:txBody>
                  <a:tcPr>
                    <a:solidFill>
                      <a:srgbClr val="0C365C"/>
                    </a:solidFill>
                  </a:tcPr>
                </a:tc>
                <a:tc>
                  <a:txBody>
                    <a:bodyPr/>
                    <a:lstStyle/>
                    <a:p>
                      <a:pPr algn="ctr"/>
                      <a:r>
                        <a:rPr sz="1100" b="1" dirty="0">
                          <a:solidFill>
                            <a:srgbClr val="FFFFFF"/>
                          </a:solidFill>
                          <a:latin typeface="Cambria"/>
                        </a:rPr>
                        <a:t>Contribution / relevance to project</a:t>
                      </a:r>
                    </a:p>
                  </a:txBody>
                  <a:tcPr>
                    <a:solidFill>
                      <a:srgbClr val="0C365C"/>
                    </a:solidFill>
                  </a:tcPr>
                </a:tc>
                <a:extLst>
                  <a:ext uri="{0D108BD9-81ED-4DB2-BD59-A6C34878D82A}">
                    <a16:rowId xmlns:a16="http://schemas.microsoft.com/office/drawing/2014/main" val="10000"/>
                  </a:ext>
                </a:extLst>
              </a:tr>
              <a:tr h="461356">
                <a:tc>
                  <a:txBody>
                    <a:bodyPr/>
                    <a:lstStyle/>
                    <a:p>
                      <a:pPr algn="ctr"/>
                      <a:r>
                        <a:rPr sz="950" b="0">
                          <a:solidFill>
                            <a:srgbClr val="000000"/>
                          </a:solidFill>
                          <a:latin typeface="Cambria"/>
                        </a:rPr>
                        <a:t>1</a:t>
                      </a:r>
                    </a:p>
                  </a:txBody>
                  <a:tcPr>
                    <a:solidFill>
                      <a:srgbClr val="FFFFFF"/>
                    </a:solidFill>
                  </a:tcPr>
                </a:tc>
                <a:tc>
                  <a:txBody>
                    <a:bodyPr/>
                    <a:lstStyle/>
                    <a:p>
                      <a:pPr algn="l"/>
                      <a:r>
                        <a:rPr sz="950" b="1" dirty="0">
                          <a:solidFill>
                            <a:srgbClr val="000000"/>
                          </a:solidFill>
                          <a:latin typeface="Cambria"/>
                        </a:rPr>
                        <a:t>Yang et al. (2015) — Intelligent Shelter Allotment for Emergency Evacuation Planning</a:t>
                      </a:r>
                    </a:p>
                  </a:txBody>
                  <a:tcPr>
                    <a:solidFill>
                      <a:srgbClr val="FFFFFF"/>
                    </a:solidFill>
                  </a:tcPr>
                </a:tc>
                <a:tc>
                  <a:txBody>
                    <a:bodyPr/>
                    <a:lstStyle/>
                    <a:p>
                      <a:pPr algn="l"/>
                      <a:r>
                        <a:rPr sz="950" b="0" dirty="0">
                          <a:solidFill>
                            <a:srgbClr val="000000"/>
                          </a:solidFill>
                          <a:latin typeface="Cambria"/>
                        </a:rPr>
                        <a:t>Introduces CARES for assigning routes, exits and shelters while reducing crowd movement conflicts.</a:t>
                      </a:r>
                    </a:p>
                  </a:txBody>
                  <a:tcPr>
                    <a:solidFill>
                      <a:srgbClr val="FFFFFF"/>
                    </a:solidFill>
                  </a:tcPr>
                </a:tc>
                <a:extLst>
                  <a:ext uri="{0D108BD9-81ED-4DB2-BD59-A6C34878D82A}">
                    <a16:rowId xmlns:a16="http://schemas.microsoft.com/office/drawing/2014/main" val="10001"/>
                  </a:ext>
                </a:extLst>
              </a:tr>
              <a:tr h="461356">
                <a:tc>
                  <a:txBody>
                    <a:bodyPr/>
                    <a:lstStyle/>
                    <a:p>
                      <a:pPr algn="ctr"/>
                      <a:r>
                        <a:rPr sz="950" b="0">
                          <a:solidFill>
                            <a:srgbClr val="000000"/>
                          </a:solidFill>
                          <a:latin typeface="Cambria"/>
                        </a:rPr>
                        <a:t>2</a:t>
                      </a:r>
                    </a:p>
                  </a:txBody>
                  <a:tcPr>
                    <a:solidFill>
                      <a:srgbClr val="F1F5F9"/>
                    </a:solidFill>
                  </a:tcPr>
                </a:tc>
                <a:tc>
                  <a:txBody>
                    <a:bodyPr/>
                    <a:lstStyle/>
                    <a:p>
                      <a:pPr algn="l"/>
                      <a:r>
                        <a:rPr sz="950" b="1">
                          <a:solidFill>
                            <a:srgbClr val="000000"/>
                          </a:solidFill>
                          <a:latin typeface="Cambria"/>
                        </a:rPr>
                        <a:t>Zhang et al. (2016/17) — Optimal Resource Allocation in Emergency Management</a:t>
                      </a:r>
                    </a:p>
                  </a:txBody>
                  <a:tcPr>
                    <a:solidFill>
                      <a:srgbClr val="F1F5F9"/>
                    </a:solidFill>
                  </a:tcPr>
                </a:tc>
                <a:tc>
                  <a:txBody>
                    <a:bodyPr/>
                    <a:lstStyle/>
                    <a:p>
                      <a:pPr algn="l"/>
                      <a:r>
                        <a:rPr sz="950" b="0" dirty="0">
                          <a:solidFill>
                            <a:srgbClr val="000000"/>
                          </a:solidFill>
                          <a:latin typeface="Cambria"/>
                        </a:rPr>
                        <a:t>Uses decentralized multi-agent allocation to assign emergency resources under time and cost constraints.</a:t>
                      </a:r>
                    </a:p>
                  </a:txBody>
                  <a:tcPr>
                    <a:solidFill>
                      <a:srgbClr val="F1F5F9"/>
                    </a:solidFill>
                  </a:tcPr>
                </a:tc>
                <a:extLst>
                  <a:ext uri="{0D108BD9-81ED-4DB2-BD59-A6C34878D82A}">
                    <a16:rowId xmlns:a16="http://schemas.microsoft.com/office/drawing/2014/main" val="10002"/>
                  </a:ext>
                </a:extLst>
              </a:tr>
              <a:tr h="461356">
                <a:tc>
                  <a:txBody>
                    <a:bodyPr/>
                    <a:lstStyle/>
                    <a:p>
                      <a:pPr algn="ctr"/>
                      <a:r>
                        <a:rPr sz="950" b="0">
                          <a:solidFill>
                            <a:srgbClr val="000000"/>
                          </a:solidFill>
                          <a:latin typeface="Cambria"/>
                        </a:rPr>
                        <a:t>3</a:t>
                      </a:r>
                    </a:p>
                  </a:txBody>
                  <a:tcPr>
                    <a:solidFill>
                      <a:srgbClr val="FFFFFF"/>
                    </a:solidFill>
                  </a:tcPr>
                </a:tc>
                <a:tc>
                  <a:txBody>
                    <a:bodyPr/>
                    <a:lstStyle/>
                    <a:p>
                      <a:pPr algn="l"/>
                      <a:r>
                        <a:rPr sz="950" b="1">
                          <a:solidFill>
                            <a:srgbClr val="000000"/>
                          </a:solidFill>
                          <a:latin typeface="Cambria"/>
                        </a:rPr>
                        <a:t>Wang et al. (2020) — Emergency Resource Allocation for Multi-Period Post-Disaster</a:t>
                      </a:r>
                    </a:p>
                  </a:txBody>
                  <a:tcPr>
                    <a:solidFill>
                      <a:srgbClr val="FFFFFF"/>
                    </a:solidFill>
                  </a:tcPr>
                </a:tc>
                <a:tc>
                  <a:txBody>
                    <a:bodyPr/>
                    <a:lstStyle/>
                    <a:p>
                      <a:pPr algn="l"/>
                      <a:r>
                        <a:rPr sz="950" b="0" dirty="0">
                          <a:solidFill>
                            <a:srgbClr val="000000"/>
                          </a:solidFill>
                          <a:latin typeface="Cambria"/>
                        </a:rPr>
                        <a:t>Models uncertain, multi-period relief allocation and routing using multi-objective optimization.</a:t>
                      </a:r>
                    </a:p>
                  </a:txBody>
                  <a:tcPr>
                    <a:solidFill>
                      <a:srgbClr val="FFFFFF"/>
                    </a:solidFill>
                  </a:tcPr>
                </a:tc>
                <a:extLst>
                  <a:ext uri="{0D108BD9-81ED-4DB2-BD59-A6C34878D82A}">
                    <a16:rowId xmlns:a16="http://schemas.microsoft.com/office/drawing/2014/main" val="10003"/>
                  </a:ext>
                </a:extLst>
              </a:tr>
              <a:tr h="461356">
                <a:tc>
                  <a:txBody>
                    <a:bodyPr/>
                    <a:lstStyle/>
                    <a:p>
                      <a:pPr algn="ctr"/>
                      <a:r>
                        <a:rPr sz="950" b="0">
                          <a:solidFill>
                            <a:srgbClr val="000000"/>
                          </a:solidFill>
                          <a:latin typeface="Cambria"/>
                        </a:rPr>
                        <a:t>4</a:t>
                      </a:r>
                    </a:p>
                  </a:txBody>
                  <a:tcPr>
                    <a:solidFill>
                      <a:srgbClr val="F1F5F9"/>
                    </a:solidFill>
                  </a:tcPr>
                </a:tc>
                <a:tc>
                  <a:txBody>
                    <a:bodyPr/>
                    <a:lstStyle/>
                    <a:p>
                      <a:pPr algn="l"/>
                      <a:r>
                        <a:rPr sz="950" b="1">
                          <a:solidFill>
                            <a:srgbClr val="000000"/>
                          </a:solidFill>
                          <a:latin typeface="Cambria"/>
                        </a:rPr>
                        <a:t>Amiran et al. (2025) — ML for Earthquake Emergency Evacuation</a:t>
                      </a:r>
                    </a:p>
                  </a:txBody>
                  <a:tcPr>
                    <a:solidFill>
                      <a:srgbClr val="F1F5F9"/>
                    </a:solidFill>
                  </a:tcPr>
                </a:tc>
                <a:tc>
                  <a:txBody>
                    <a:bodyPr/>
                    <a:lstStyle/>
                    <a:p>
                      <a:pPr algn="l"/>
                      <a:r>
                        <a:rPr sz="950" b="0" dirty="0">
                          <a:solidFill>
                            <a:srgbClr val="000000"/>
                          </a:solidFill>
                          <a:latin typeface="Cambria"/>
                        </a:rPr>
                        <a:t>Applies machine learning to emergency evacuation-center site selection and neighborhood navigation.</a:t>
                      </a:r>
                    </a:p>
                  </a:txBody>
                  <a:tcPr>
                    <a:solidFill>
                      <a:srgbClr val="F1F5F9"/>
                    </a:solidFill>
                  </a:tcPr>
                </a:tc>
                <a:extLst>
                  <a:ext uri="{0D108BD9-81ED-4DB2-BD59-A6C34878D82A}">
                    <a16:rowId xmlns:a16="http://schemas.microsoft.com/office/drawing/2014/main" val="10004"/>
                  </a:ext>
                </a:extLst>
              </a:tr>
              <a:tr h="461356">
                <a:tc>
                  <a:txBody>
                    <a:bodyPr/>
                    <a:lstStyle/>
                    <a:p>
                      <a:pPr algn="ctr"/>
                      <a:r>
                        <a:rPr sz="950" b="0">
                          <a:solidFill>
                            <a:srgbClr val="000000"/>
                          </a:solidFill>
                          <a:latin typeface="Cambria"/>
                        </a:rPr>
                        <a:t>5</a:t>
                      </a:r>
                    </a:p>
                  </a:txBody>
                  <a:tcPr>
                    <a:solidFill>
                      <a:srgbClr val="FFFFFF"/>
                    </a:solidFill>
                  </a:tcPr>
                </a:tc>
                <a:tc>
                  <a:txBody>
                    <a:bodyPr/>
                    <a:lstStyle/>
                    <a:p>
                      <a:pPr algn="l"/>
                      <a:r>
                        <a:rPr sz="950" b="1">
                          <a:solidFill>
                            <a:srgbClr val="000000"/>
                          </a:solidFill>
                          <a:latin typeface="Cambria"/>
                        </a:rPr>
                        <a:t>Sarma et al. (2020/2022) — Cost Minimization Resource Allocation for Disaster Relief</a:t>
                      </a:r>
                    </a:p>
                  </a:txBody>
                  <a:tcPr>
                    <a:solidFill>
                      <a:srgbClr val="FFFFFF"/>
                    </a:solidFill>
                  </a:tcPr>
                </a:tc>
                <a:tc>
                  <a:txBody>
                    <a:bodyPr/>
                    <a:lstStyle/>
                    <a:p>
                      <a:pPr algn="l"/>
                      <a:r>
                        <a:rPr sz="950" b="0" dirty="0">
                          <a:solidFill>
                            <a:srgbClr val="000000"/>
                          </a:solidFill>
                          <a:latin typeface="Cambria"/>
                        </a:rPr>
                        <a:t>Combines crowdsourced information, MCDM and optimization to improve disaster-relief resource allocation.</a:t>
                      </a:r>
                    </a:p>
                  </a:txBody>
                  <a:tcPr>
                    <a:solidFill>
                      <a:srgbClr val="FFFFFF"/>
                    </a:solidFill>
                  </a:tcPr>
                </a:tc>
                <a:extLst>
                  <a:ext uri="{0D108BD9-81ED-4DB2-BD59-A6C34878D82A}">
                    <a16:rowId xmlns:a16="http://schemas.microsoft.com/office/drawing/2014/main" val="10005"/>
                  </a:ext>
                </a:extLst>
              </a:tr>
              <a:tr h="461356">
                <a:tc>
                  <a:txBody>
                    <a:bodyPr/>
                    <a:lstStyle/>
                    <a:p>
                      <a:pPr algn="ctr"/>
                      <a:r>
                        <a:rPr sz="950" b="0">
                          <a:solidFill>
                            <a:srgbClr val="000000"/>
                          </a:solidFill>
                          <a:latin typeface="Cambria"/>
                        </a:rPr>
                        <a:t>6</a:t>
                      </a:r>
                    </a:p>
                  </a:txBody>
                  <a:tcPr>
                    <a:solidFill>
                      <a:srgbClr val="F1F5F9"/>
                    </a:solidFill>
                  </a:tcPr>
                </a:tc>
                <a:tc>
                  <a:txBody>
                    <a:bodyPr/>
                    <a:lstStyle/>
                    <a:p>
                      <a:pPr algn="l"/>
                      <a:r>
                        <a:rPr sz="950" b="1">
                          <a:solidFill>
                            <a:srgbClr val="000000"/>
                          </a:solidFill>
                          <a:latin typeface="Cambria"/>
                        </a:rPr>
                        <a:t>Li, Li &amp; Wang (2009) — Emergency Service Facility Location</a:t>
                      </a:r>
                    </a:p>
                  </a:txBody>
                  <a:tcPr>
                    <a:solidFill>
                      <a:srgbClr val="F1F5F9"/>
                    </a:solidFill>
                  </a:tcPr>
                </a:tc>
                <a:tc>
                  <a:txBody>
                    <a:bodyPr/>
                    <a:lstStyle/>
                    <a:p>
                      <a:pPr algn="l"/>
                      <a:r>
                        <a:rPr sz="950" b="0">
                          <a:solidFill>
                            <a:srgbClr val="000000"/>
                          </a:solidFill>
                          <a:latin typeface="Cambria"/>
                        </a:rPr>
                        <a:t>Formulates facility-location and algorithmic approaches relevant to locating emergency service facilities.</a:t>
                      </a:r>
                    </a:p>
                  </a:txBody>
                  <a:tcPr>
                    <a:solidFill>
                      <a:srgbClr val="F1F5F9"/>
                    </a:solidFill>
                  </a:tcPr>
                </a:tc>
                <a:extLst>
                  <a:ext uri="{0D108BD9-81ED-4DB2-BD59-A6C34878D82A}">
                    <a16:rowId xmlns:a16="http://schemas.microsoft.com/office/drawing/2014/main" val="10006"/>
                  </a:ext>
                </a:extLst>
              </a:tr>
              <a:tr h="461356">
                <a:tc>
                  <a:txBody>
                    <a:bodyPr/>
                    <a:lstStyle/>
                    <a:p>
                      <a:pPr algn="ctr"/>
                      <a:r>
                        <a:rPr sz="950" b="0">
                          <a:solidFill>
                            <a:srgbClr val="000000"/>
                          </a:solidFill>
                          <a:latin typeface="Cambria"/>
                        </a:rPr>
                        <a:t>7</a:t>
                      </a:r>
                    </a:p>
                  </a:txBody>
                  <a:tcPr>
                    <a:solidFill>
                      <a:srgbClr val="FFFFFF"/>
                    </a:solidFill>
                  </a:tcPr>
                </a:tc>
                <a:tc>
                  <a:txBody>
                    <a:bodyPr/>
                    <a:lstStyle/>
                    <a:p>
                      <a:pPr algn="l"/>
                      <a:r>
                        <a:rPr sz="950" b="1">
                          <a:solidFill>
                            <a:srgbClr val="000000"/>
                          </a:solidFill>
                          <a:latin typeface="Cambria"/>
                        </a:rPr>
                        <a:t>Tanti et al. (2022) — Dynamic Facility-Location After Disaster</a:t>
                      </a:r>
                    </a:p>
                  </a:txBody>
                  <a:tcPr>
                    <a:solidFill>
                      <a:srgbClr val="FFFFFF"/>
                    </a:solidFill>
                  </a:tcPr>
                </a:tc>
                <a:tc>
                  <a:txBody>
                    <a:bodyPr/>
                    <a:lstStyle/>
                    <a:p>
                      <a:pPr algn="l"/>
                      <a:r>
                        <a:rPr sz="950" b="0" dirty="0">
                          <a:solidFill>
                            <a:srgbClr val="000000"/>
                          </a:solidFill>
                          <a:latin typeface="Cambria"/>
                        </a:rPr>
                        <a:t>Considers uncertain demand, capacity, cost and travel time for dynamic emergency facility location and routing.</a:t>
                      </a:r>
                    </a:p>
                  </a:txBody>
                  <a:tcPr>
                    <a:solidFill>
                      <a:srgbClr val="FFFFFF"/>
                    </a:solidFill>
                  </a:tcPr>
                </a:tc>
                <a:extLst>
                  <a:ext uri="{0D108BD9-81ED-4DB2-BD59-A6C34878D82A}">
                    <a16:rowId xmlns:a16="http://schemas.microsoft.com/office/drawing/2014/main" val="10007"/>
                  </a:ext>
                </a:extLst>
              </a:tr>
              <a:tr h="461356">
                <a:tc>
                  <a:txBody>
                    <a:bodyPr/>
                    <a:lstStyle/>
                    <a:p>
                      <a:pPr algn="ctr"/>
                      <a:r>
                        <a:rPr sz="950" b="0">
                          <a:solidFill>
                            <a:srgbClr val="000000"/>
                          </a:solidFill>
                          <a:latin typeface="Cambria"/>
                        </a:rPr>
                        <a:t>8</a:t>
                      </a:r>
                    </a:p>
                  </a:txBody>
                  <a:tcPr>
                    <a:solidFill>
                      <a:srgbClr val="F1F5F9"/>
                    </a:solidFill>
                  </a:tcPr>
                </a:tc>
                <a:tc>
                  <a:txBody>
                    <a:bodyPr/>
                    <a:lstStyle/>
                    <a:p>
                      <a:pPr algn="l"/>
                      <a:r>
                        <a:rPr sz="950" b="1">
                          <a:solidFill>
                            <a:srgbClr val="000000"/>
                          </a:solidFill>
                          <a:latin typeface="Cambria"/>
                        </a:rPr>
                        <a:t>Cui et al. (2019) — Emergency Material Allocation After Disaster</a:t>
                      </a:r>
                    </a:p>
                  </a:txBody>
                  <a:tcPr>
                    <a:solidFill>
                      <a:srgbClr val="F1F5F9"/>
                    </a:solidFill>
                  </a:tcPr>
                </a:tc>
                <a:tc>
                  <a:txBody>
                    <a:bodyPr/>
                    <a:lstStyle/>
                    <a:p>
                      <a:pPr algn="l"/>
                      <a:r>
                        <a:rPr sz="950" b="0" dirty="0">
                          <a:solidFill>
                            <a:srgbClr val="000000"/>
                          </a:solidFill>
                          <a:latin typeface="Cambria"/>
                        </a:rPr>
                        <a:t>Considers disrupted supply chains and route risk; optimizes transport time and cost.</a:t>
                      </a:r>
                    </a:p>
                  </a:txBody>
                  <a:tcPr>
                    <a:solidFill>
                      <a:srgbClr val="F1F5F9"/>
                    </a:solidFill>
                  </a:tcPr>
                </a:tc>
                <a:extLst>
                  <a:ext uri="{0D108BD9-81ED-4DB2-BD59-A6C34878D82A}">
                    <a16:rowId xmlns:a16="http://schemas.microsoft.com/office/drawing/2014/main" val="10008"/>
                  </a:ext>
                </a:extLst>
              </a:tr>
              <a:tr h="461356">
                <a:tc>
                  <a:txBody>
                    <a:bodyPr/>
                    <a:lstStyle/>
                    <a:p>
                      <a:pPr algn="ctr"/>
                      <a:r>
                        <a:rPr sz="950" b="0">
                          <a:solidFill>
                            <a:srgbClr val="000000"/>
                          </a:solidFill>
                          <a:latin typeface="Cambria"/>
                        </a:rPr>
                        <a:t>9</a:t>
                      </a:r>
                    </a:p>
                  </a:txBody>
                  <a:tcPr>
                    <a:solidFill>
                      <a:srgbClr val="FFFFFF"/>
                    </a:solidFill>
                  </a:tcPr>
                </a:tc>
                <a:tc>
                  <a:txBody>
                    <a:bodyPr/>
                    <a:lstStyle/>
                    <a:p>
                      <a:pPr algn="l"/>
                      <a:r>
                        <a:rPr sz="950" b="1">
                          <a:solidFill>
                            <a:srgbClr val="000000"/>
                          </a:solidFill>
                          <a:latin typeface="Cambria"/>
                        </a:rPr>
                        <a:t>Rodríguez-Espíndola (2022/2024) — Multi-Period Disaster Management</a:t>
                      </a:r>
                    </a:p>
                  </a:txBody>
                  <a:tcPr>
                    <a:solidFill>
                      <a:srgbClr val="FFFFFF"/>
                    </a:solidFill>
                  </a:tcPr>
                </a:tc>
                <a:tc>
                  <a:txBody>
                    <a:bodyPr/>
                    <a:lstStyle/>
                    <a:p>
                      <a:pPr algn="l"/>
                      <a:r>
                        <a:rPr sz="950" b="0" dirty="0">
                          <a:solidFill>
                            <a:srgbClr val="000000"/>
                          </a:solidFill>
                          <a:latin typeface="Cambria"/>
                        </a:rPr>
                        <a:t>Jointly considers facility location, resource allocation and distribution across multiple disaster periods.</a:t>
                      </a:r>
                    </a:p>
                  </a:txBody>
                  <a:tcPr>
                    <a:solidFill>
                      <a:srgbClr val="FFFFFF"/>
                    </a:solidFill>
                  </a:tcPr>
                </a:tc>
                <a:extLst>
                  <a:ext uri="{0D108BD9-81ED-4DB2-BD59-A6C34878D82A}">
                    <a16:rowId xmlns:a16="http://schemas.microsoft.com/office/drawing/2014/main" val="10009"/>
                  </a:ext>
                </a:extLst>
              </a:tr>
              <a:tr h="351632">
                <a:tc>
                  <a:txBody>
                    <a:bodyPr/>
                    <a:lstStyle/>
                    <a:p>
                      <a:pPr algn="ctr"/>
                      <a:r>
                        <a:rPr sz="950" b="0">
                          <a:solidFill>
                            <a:srgbClr val="000000"/>
                          </a:solidFill>
                          <a:latin typeface="Cambria"/>
                        </a:rPr>
                        <a:t>10</a:t>
                      </a:r>
                    </a:p>
                  </a:txBody>
                  <a:tcPr>
                    <a:solidFill>
                      <a:srgbClr val="F1F5F9"/>
                    </a:solidFill>
                  </a:tcPr>
                </a:tc>
                <a:tc>
                  <a:txBody>
                    <a:bodyPr/>
                    <a:lstStyle/>
                    <a:p>
                      <a:pPr algn="l"/>
                      <a:r>
                        <a:rPr sz="950" b="1">
                          <a:solidFill>
                            <a:srgbClr val="000000"/>
                          </a:solidFill>
                          <a:latin typeface="Cambria"/>
                        </a:rPr>
                        <a:t>Rajalakshmi et al. (2024) — AI for Resource Allocation in Humanitarian Aid</a:t>
                      </a:r>
                    </a:p>
                  </a:txBody>
                  <a:tcPr>
                    <a:solidFill>
                      <a:srgbClr val="F1F5F9"/>
                    </a:solidFill>
                  </a:tcPr>
                </a:tc>
                <a:tc>
                  <a:txBody>
                    <a:bodyPr/>
                    <a:lstStyle/>
                    <a:p>
                      <a:pPr algn="l"/>
                      <a:r>
                        <a:rPr sz="950" b="0" dirty="0">
                          <a:solidFill>
                            <a:srgbClr val="000000"/>
                          </a:solidFill>
                          <a:latin typeface="Cambria"/>
                        </a:rPr>
                        <a:t>Highlights AI-supported demand analysis, logistics and resource-allocation decision making.</a:t>
                      </a:r>
                    </a:p>
                  </a:txBody>
                  <a:tcPr>
                    <a:solidFill>
                      <a:srgbClr val="F1F5F9"/>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8136542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6D0BC35-19ED-73A9-EE75-1137E39454A8}"/>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2BB17B24-7E10-E0D9-F0F4-797FC7D4A35D}"/>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Architecture Diagram</a:t>
            </a:r>
          </a:p>
        </p:txBody>
      </p:sp>
      <p:sp>
        <p:nvSpPr>
          <p:cNvPr id="115" name="Google Shape;115;p17">
            <a:extLst>
              <a:ext uri="{FF2B5EF4-FFF2-40B4-BE49-F238E27FC236}">
                <a16:creationId xmlns:a16="http://schemas.microsoft.com/office/drawing/2014/main" id="{B656EE7D-C165-CFED-D8E1-B5E966F08961}"/>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116" name="Rounded Rectangle 115"/>
          <p:cNvSpPr/>
          <p:nvPr/>
        </p:nvSpPr>
        <p:spPr>
          <a:xfrm>
            <a:off x="873760" y="1600200"/>
            <a:ext cx="1920240" cy="6858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0C365C"/>
                </a:solidFill>
                <a:latin typeface="Cambria"/>
              </a:rPr>
              <a:t>Affected User</a:t>
            </a:r>
          </a:p>
        </p:txBody>
      </p:sp>
      <p:sp>
        <p:nvSpPr>
          <p:cNvPr id="117" name="Rounded Rectangle 116"/>
          <p:cNvSpPr/>
          <p:nvPr/>
        </p:nvSpPr>
        <p:spPr>
          <a:xfrm>
            <a:off x="873760" y="2514600"/>
            <a:ext cx="1920240" cy="6858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0C365C"/>
                </a:solidFill>
                <a:latin typeface="Cambria"/>
              </a:rPr>
              <a:t>Administrator</a:t>
            </a:r>
          </a:p>
        </p:txBody>
      </p:sp>
      <p:sp>
        <p:nvSpPr>
          <p:cNvPr id="118" name="Rounded Rectangle 117"/>
          <p:cNvSpPr/>
          <p:nvPr/>
        </p:nvSpPr>
        <p:spPr>
          <a:xfrm>
            <a:off x="9017000" y="1591056"/>
            <a:ext cx="1920240" cy="6858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0C365C"/>
                </a:solidFill>
                <a:latin typeface="Cambria"/>
              </a:rPr>
              <a:t>Map / Routing
Service</a:t>
            </a:r>
          </a:p>
        </p:txBody>
      </p:sp>
      <p:sp>
        <p:nvSpPr>
          <p:cNvPr id="119" name="Rounded Rectangle 118"/>
          <p:cNvSpPr/>
          <p:nvPr/>
        </p:nvSpPr>
        <p:spPr>
          <a:xfrm>
            <a:off x="3251200" y="1417320"/>
            <a:ext cx="4846320" cy="1051560"/>
          </a:xfrm>
          <a:prstGeom prst="roundRect">
            <a:avLst/>
          </a:prstGeom>
          <a:solidFill>
            <a:srgbClr val="FFFFFF"/>
          </a:solidFill>
          <a:ln w="19050">
            <a:solidFill>
              <a:srgbClr val="4B7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4B7EBE"/>
                </a:solidFill>
                <a:latin typeface="Cambria"/>
              </a:rPr>
              <a:t>Web Frontend
User &amp; Admin Interface
Shelter Search • Map • Allocation Result</a:t>
            </a:r>
          </a:p>
        </p:txBody>
      </p:sp>
      <p:sp>
        <p:nvSpPr>
          <p:cNvPr id="120" name="Rounded Rectangle 119"/>
          <p:cNvSpPr/>
          <p:nvPr/>
        </p:nvSpPr>
        <p:spPr>
          <a:xfrm>
            <a:off x="3251200" y="2971800"/>
            <a:ext cx="4846320" cy="1051560"/>
          </a:xfrm>
          <a:prstGeom prst="roundRect">
            <a:avLst/>
          </a:prstGeom>
          <a:solidFill>
            <a:srgbClr val="FFFFFF"/>
          </a:solidFill>
          <a:ln w="19050">
            <a:solidFill>
              <a:srgbClr val="4B7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4B7EBE"/>
                </a:solidFill>
                <a:latin typeface="Cambria"/>
              </a:rPr>
              <a:t>Application / API Layer
Authentication • Shelter Management • Allocation Logic • REST APIs</a:t>
            </a:r>
          </a:p>
        </p:txBody>
      </p:sp>
      <p:sp>
        <p:nvSpPr>
          <p:cNvPr id="121" name="Rounded Rectangle 120"/>
          <p:cNvSpPr/>
          <p:nvPr/>
        </p:nvSpPr>
        <p:spPr>
          <a:xfrm>
            <a:off x="3251200" y="4526280"/>
            <a:ext cx="4846320" cy="96012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0C365C"/>
                </a:solidFill>
                <a:latin typeface="Cambria"/>
              </a:rPr>
              <a:t>Database
Shelter • Capacity • Occupancy • User • Allocation Records</a:t>
            </a:r>
          </a:p>
        </p:txBody>
      </p:sp>
      <p:sp>
        <p:nvSpPr>
          <p:cNvPr id="122" name="Rounded Rectangle 121"/>
          <p:cNvSpPr/>
          <p:nvPr/>
        </p:nvSpPr>
        <p:spPr>
          <a:xfrm>
            <a:off x="9011920" y="3093858"/>
            <a:ext cx="2057400" cy="960120"/>
          </a:xfrm>
          <a:prstGeom prst="roundRect">
            <a:avLst/>
          </a:prstGeom>
          <a:solidFill>
            <a:srgbClr val="FFFFFF"/>
          </a:solidFill>
          <a:ln w="19050">
            <a:solidFill>
              <a:srgbClr val="4B7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4B7EBE"/>
                </a:solidFill>
                <a:latin typeface="Cambria"/>
              </a:rPr>
              <a:t>Routing &amp;
Geospatial Service</a:t>
            </a:r>
          </a:p>
        </p:txBody>
      </p:sp>
      <p:sp>
        <p:nvSpPr>
          <p:cNvPr id="123" name="Rounded Rectangle 122"/>
          <p:cNvSpPr/>
          <p:nvPr/>
        </p:nvSpPr>
        <p:spPr>
          <a:xfrm>
            <a:off x="9011920" y="4434840"/>
            <a:ext cx="2057400" cy="96012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C365C"/>
                </a:solidFill>
                <a:latin typeface="Cambria"/>
              </a:rPr>
              <a:t>Recommended Shelter
+ Route + Capacity</a:t>
            </a:r>
          </a:p>
        </p:txBody>
      </p:sp>
      <p:cxnSp>
        <p:nvCxnSpPr>
          <p:cNvPr id="124" name="Connector 123"/>
          <p:cNvCxnSpPr/>
          <p:nvPr/>
        </p:nvCxnSpPr>
        <p:spPr>
          <a:xfrm>
            <a:off x="2794000" y="1938528"/>
            <a:ext cx="457200"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794000" y="1938528"/>
            <a:ext cx="457200" cy="91440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674360" y="2468880"/>
            <a:ext cx="0" cy="50292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674360" y="4023360"/>
            <a:ext cx="0" cy="50292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8097520" y="3355848"/>
            <a:ext cx="914400" cy="13716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a:off x="8097520" y="1938528"/>
            <a:ext cx="914400"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8097520" y="3493008"/>
            <a:ext cx="914400" cy="1426464"/>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63537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C8B1B47-DF01-E1F4-26F3-14B9F826E2F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3128998-8B2C-F90B-C9A2-EF57AD968224}"/>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/Output Expected</a:t>
            </a:r>
          </a:p>
        </p:txBody>
      </p:sp>
      <p:sp>
        <p:nvSpPr>
          <p:cNvPr id="115" name="Google Shape;115;p17">
            <a:extLst>
              <a:ext uri="{FF2B5EF4-FFF2-40B4-BE49-F238E27FC236}">
                <a16:creationId xmlns:a16="http://schemas.microsoft.com/office/drawing/2014/main" id="{5B056FAF-9BF2-46B4-CC0B-9C32D2D9462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rtl="0">
              <a:spcBef>
                <a:spcPts val="0"/>
              </a:spcBef>
              <a:spcAft>
                <a:spcPts val="0"/>
              </a:spcAft>
              <a:buClr>
                <a:schemeClr val="dk1"/>
              </a:buClr>
              <a:buSzPct val="100000"/>
              <a:buNone/>
            </a:pPr>
            <a:r>
              <a:rPr sz="1800" dirty="0">
                <a:solidFill>
                  <a:srgbClr val="000000"/>
                </a:solidFill>
                <a:latin typeface="Cambria"/>
              </a:rPr>
              <a:t>1. </a:t>
            </a:r>
            <a:r>
              <a:rPr sz="1800" b="1" dirty="0">
                <a:solidFill>
                  <a:srgbClr val="000000"/>
                </a:solidFill>
                <a:latin typeface="Cambria"/>
              </a:rPr>
              <a:t>Shelter discovery</a:t>
            </a:r>
            <a:r>
              <a:rPr sz="1800" dirty="0">
                <a:solidFill>
                  <a:srgbClr val="000000"/>
                </a:solidFill>
                <a:latin typeface="Cambria"/>
              </a:rPr>
              <a:t>: Display shelters that are currently available and relevant to the user’s location.</a:t>
            </a:r>
            <a:endParaRPr lang="en-IN" sz="1800" dirty="0">
              <a:solidFill>
                <a:srgbClr val="000000"/>
              </a:solidFill>
              <a:latin typeface="Cambria"/>
            </a:endParaRPr>
          </a:p>
          <a:p>
            <a:pPr marL="342900" lvl="0" indent="-190500" algn="just" rtl="0">
              <a:spcBef>
                <a:spcPts val="0"/>
              </a:spcBef>
              <a:spcAft>
                <a:spcPts val="0"/>
              </a:spcAft>
              <a:buClr>
                <a:schemeClr val="dk1"/>
              </a:buClr>
              <a:buSzPct val="100000"/>
              <a:buNone/>
            </a:pPr>
            <a:r>
              <a:rPr sz="1800" dirty="0">
                <a:solidFill>
                  <a:srgbClr val="000000"/>
                </a:solidFill>
                <a:latin typeface="Cambria"/>
              </a:rPr>
              <a:t>
2. </a:t>
            </a:r>
            <a:r>
              <a:rPr sz="1800" b="1" dirty="0">
                <a:solidFill>
                  <a:srgbClr val="000000"/>
                </a:solidFill>
                <a:latin typeface="Cambria"/>
              </a:rPr>
              <a:t>Smart ranking</a:t>
            </a:r>
            <a:r>
              <a:rPr sz="1800" dirty="0">
                <a:solidFill>
                  <a:srgbClr val="000000"/>
                </a:solidFill>
                <a:latin typeface="Cambria"/>
              </a:rPr>
              <a:t>: Rank eligible shelters using distance, remaining capacity, suitability and facility criteria.</a:t>
            </a:r>
            <a:endParaRPr lang="en-IN" sz="1800" dirty="0">
              <a:solidFill>
                <a:srgbClr val="000000"/>
              </a:solidFill>
              <a:latin typeface="Cambria"/>
            </a:endParaRPr>
          </a:p>
          <a:p>
            <a:pPr marL="342900" lvl="0" indent="-190500" algn="just" rtl="0">
              <a:spcBef>
                <a:spcPts val="0"/>
              </a:spcBef>
              <a:spcAft>
                <a:spcPts val="0"/>
              </a:spcAft>
              <a:buClr>
                <a:schemeClr val="dk1"/>
              </a:buClr>
              <a:buSzPct val="100000"/>
              <a:buNone/>
            </a:pPr>
            <a:r>
              <a:rPr sz="1800" dirty="0">
                <a:solidFill>
                  <a:srgbClr val="000000"/>
                </a:solidFill>
                <a:latin typeface="Cambria"/>
              </a:rPr>
              <a:t>
3. </a:t>
            </a:r>
            <a:r>
              <a:rPr sz="1800" b="1" dirty="0">
                <a:solidFill>
                  <a:srgbClr val="000000"/>
                </a:solidFill>
                <a:latin typeface="Cambria"/>
              </a:rPr>
              <a:t>Allocation result</a:t>
            </a:r>
            <a:r>
              <a:rPr sz="1800" dirty="0">
                <a:solidFill>
                  <a:srgbClr val="000000"/>
                </a:solidFill>
                <a:latin typeface="Cambria"/>
              </a:rPr>
              <a:t>: Show the selected/recommended shelter, available capacity, occupancy, facilities and contact details.</a:t>
            </a:r>
            <a:endParaRPr lang="en-IN" sz="1800" dirty="0">
              <a:solidFill>
                <a:srgbClr val="000000"/>
              </a:solidFill>
              <a:latin typeface="Cambria"/>
            </a:endParaRPr>
          </a:p>
          <a:p>
            <a:pPr marL="342900" lvl="0" indent="-190500" algn="just" rtl="0">
              <a:spcBef>
                <a:spcPts val="0"/>
              </a:spcBef>
              <a:spcAft>
                <a:spcPts val="0"/>
              </a:spcAft>
              <a:buClr>
                <a:schemeClr val="dk1"/>
              </a:buClr>
              <a:buSzPct val="100000"/>
              <a:buNone/>
            </a:pPr>
            <a:r>
              <a:rPr sz="1800" dirty="0">
                <a:solidFill>
                  <a:srgbClr val="000000"/>
                </a:solidFill>
                <a:latin typeface="Cambria"/>
              </a:rPr>
              <a:t>
4. </a:t>
            </a:r>
            <a:r>
              <a:rPr sz="1800" b="1" dirty="0">
                <a:solidFill>
                  <a:srgbClr val="000000"/>
                </a:solidFill>
                <a:latin typeface="Cambria"/>
              </a:rPr>
              <a:t>Route guidance</a:t>
            </a:r>
            <a:r>
              <a:rPr sz="1800" dirty="0">
                <a:solidFill>
                  <a:srgbClr val="000000"/>
                </a:solidFill>
                <a:latin typeface="Cambria"/>
              </a:rPr>
              <a:t>: Present the recommended route and distance/time through the map interface.</a:t>
            </a:r>
            <a:endParaRPr lang="en-IN" sz="1800" dirty="0">
              <a:solidFill>
                <a:srgbClr val="000000"/>
              </a:solidFill>
              <a:latin typeface="Cambria"/>
            </a:endParaRPr>
          </a:p>
          <a:p>
            <a:pPr marL="342900" lvl="0" indent="-190500" algn="just" rtl="0">
              <a:spcBef>
                <a:spcPts val="0"/>
              </a:spcBef>
              <a:spcAft>
                <a:spcPts val="0"/>
              </a:spcAft>
              <a:buClr>
                <a:schemeClr val="dk1"/>
              </a:buClr>
              <a:buSzPct val="100000"/>
              <a:buNone/>
            </a:pPr>
            <a:r>
              <a:rPr sz="1800" dirty="0">
                <a:solidFill>
                  <a:srgbClr val="000000"/>
                </a:solidFill>
                <a:latin typeface="Cambria"/>
              </a:rPr>
              <a:t>
5. </a:t>
            </a:r>
            <a:r>
              <a:rPr sz="1800" b="1" dirty="0">
                <a:solidFill>
                  <a:srgbClr val="000000"/>
                </a:solidFill>
                <a:latin typeface="Cambria"/>
              </a:rPr>
              <a:t>Administrator view</a:t>
            </a:r>
            <a:r>
              <a:rPr sz="1800" dirty="0">
                <a:solidFill>
                  <a:srgbClr val="000000"/>
                </a:solidFill>
                <a:latin typeface="Cambria"/>
              </a:rPr>
              <a:t>: Provide shelter registration, status/occupancy updates and allocation monitoring.</a:t>
            </a:r>
            <a:endParaRPr lang="en-IN" sz="1800" dirty="0">
              <a:solidFill>
                <a:srgbClr val="000000"/>
              </a:solidFill>
              <a:latin typeface="Cambria"/>
            </a:endParaRPr>
          </a:p>
          <a:p>
            <a:pPr marL="342900" lvl="0" indent="-190500" algn="just" rtl="0">
              <a:spcBef>
                <a:spcPts val="0"/>
              </a:spcBef>
              <a:spcAft>
                <a:spcPts val="0"/>
              </a:spcAft>
              <a:buClr>
                <a:schemeClr val="dk1"/>
              </a:buClr>
              <a:buSzPct val="100000"/>
              <a:buNone/>
            </a:pPr>
            <a:r>
              <a:rPr sz="1800" dirty="0">
                <a:solidFill>
                  <a:srgbClr val="000000"/>
                </a:solidFill>
                <a:latin typeface="Cambria"/>
              </a:rPr>
              <a:t>
6. </a:t>
            </a:r>
            <a:r>
              <a:rPr sz="1800" b="1" dirty="0">
                <a:solidFill>
                  <a:srgbClr val="000000"/>
                </a:solidFill>
                <a:latin typeface="Cambria"/>
              </a:rPr>
              <a:t>Decision support</a:t>
            </a:r>
            <a:r>
              <a:rPr sz="1800" dirty="0">
                <a:solidFill>
                  <a:srgbClr val="000000"/>
                </a:solidFill>
                <a:latin typeface="Cambria"/>
              </a:rPr>
              <a:t>: Reduce manual searching and help distribute users across suitable shelters instead of overloading a single location.
Expected overall outcome: a usable web platform that converts shelter and user information into a clear, capacity-aware shelter recommendation.</a:t>
            </a:r>
          </a:p>
        </p:txBody>
      </p:sp>
    </p:spTree>
    <p:extLst>
      <p:ext uri="{BB962C8B-B14F-4D97-AF65-F5344CB8AC3E}">
        <p14:creationId xmlns:p14="http://schemas.microsoft.com/office/powerpoint/2010/main" val="38581926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26003"/>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flipH="1">
            <a:off x="10722864" y="6336792"/>
            <a:ext cx="45719" cy="45858"/>
          </a:xfrm>
          <a:prstGeom prst="rect">
            <a:avLst/>
          </a:prstGeom>
          <a:noFill/>
          <a:ln>
            <a:noFill/>
          </a:ln>
        </p:spPr>
        <p:txBody>
          <a:bodyPr spcFirstLastPara="1" wrap="square" lIns="91425" tIns="45700" rIns="91425" bIns="45700" anchor="t" anchorCtr="0">
            <a:noAutofit/>
          </a:bodyPr>
          <a:lstStyle/>
          <a:p>
            <a:pPr marL="342900" lvl="0" indent="-190500" algn="just" rtl="0">
              <a:lnSpc>
                <a:spcPct val="200000"/>
              </a:lnSpc>
              <a:spcBef>
                <a:spcPts val="0"/>
              </a:spcBef>
              <a:spcAft>
                <a:spcPts val="0"/>
              </a:spcAft>
              <a:buClr>
                <a:schemeClr val="dk1"/>
              </a:buClr>
              <a:buSzPct val="100000"/>
              <a:buNone/>
            </a:pPr>
            <a:endParaRPr lang="en-IN" sz="1500" b="0" dirty="0">
              <a:solidFill>
                <a:srgbClr val="000000"/>
              </a:solidFill>
              <a:latin typeface="Cambria"/>
            </a:endParaRPr>
          </a:p>
          <a:p>
            <a:pPr marL="342900" lvl="0" indent="-190500" algn="just" rtl="0">
              <a:lnSpc>
                <a:spcPct val="200000"/>
              </a:lnSpc>
              <a:spcBef>
                <a:spcPts val="0"/>
              </a:spcBef>
              <a:spcAft>
                <a:spcPts val="0"/>
              </a:spcAft>
              <a:buClr>
                <a:schemeClr val="dk1"/>
              </a:buClr>
              <a:buSzPct val="100000"/>
              <a:buNone/>
            </a:pPr>
            <a:endParaRPr lang="en-IN" sz="1500" dirty="0">
              <a:solidFill>
                <a:srgbClr val="000000"/>
              </a:solidFill>
              <a:latin typeface="Cambria"/>
            </a:endParaRPr>
          </a:p>
          <a:p>
            <a:pPr marL="342900" lvl="0" indent="-190500" algn="just" rtl="0">
              <a:lnSpc>
                <a:spcPct val="200000"/>
              </a:lnSpc>
              <a:spcBef>
                <a:spcPts val="0"/>
              </a:spcBef>
              <a:spcAft>
                <a:spcPts val="0"/>
              </a:spcAft>
              <a:buClr>
                <a:schemeClr val="dk1"/>
              </a:buClr>
              <a:buSzPct val="100000"/>
              <a:buNone/>
            </a:pPr>
            <a:endParaRPr lang="en-IN" sz="1500" b="0" dirty="0">
              <a:solidFill>
                <a:srgbClr val="000000"/>
              </a:solidFill>
              <a:latin typeface="Cambria"/>
            </a:endParaRPr>
          </a:p>
          <a:p>
            <a:pPr marL="342900" lvl="0" indent="-190500" algn="just" rtl="0">
              <a:lnSpc>
                <a:spcPct val="200000"/>
              </a:lnSpc>
              <a:spcBef>
                <a:spcPts val="0"/>
              </a:spcBef>
              <a:spcAft>
                <a:spcPts val="0"/>
              </a:spcAft>
              <a:buClr>
                <a:schemeClr val="dk1"/>
              </a:buClr>
              <a:buSzPct val="100000"/>
              <a:buNone/>
            </a:pPr>
            <a:endParaRPr lang="en-IN" sz="1500" dirty="0">
              <a:solidFill>
                <a:srgbClr val="000000"/>
              </a:solidFill>
              <a:latin typeface="Cambria"/>
            </a:endParaRPr>
          </a:p>
          <a:p>
            <a:pPr marL="342900" lvl="0" indent="-190500" algn="just" rtl="0">
              <a:lnSpc>
                <a:spcPct val="200000"/>
              </a:lnSpc>
              <a:spcBef>
                <a:spcPts val="0"/>
              </a:spcBef>
              <a:spcAft>
                <a:spcPts val="0"/>
              </a:spcAft>
              <a:buClr>
                <a:schemeClr val="dk1"/>
              </a:buClr>
              <a:buSzPct val="100000"/>
              <a:buNone/>
            </a:pPr>
            <a:endParaRPr lang="en-IN" sz="1500" b="0" dirty="0">
              <a:solidFill>
                <a:srgbClr val="000000"/>
              </a:solidFill>
              <a:latin typeface="Cambria"/>
            </a:endParaRPr>
          </a:p>
          <a:p>
            <a:pPr marL="342900" lvl="0" indent="-190500" algn="just" rtl="0">
              <a:lnSpc>
                <a:spcPct val="200000"/>
              </a:lnSpc>
              <a:spcBef>
                <a:spcPts val="0"/>
              </a:spcBef>
              <a:spcAft>
                <a:spcPts val="0"/>
              </a:spcAft>
              <a:buClr>
                <a:schemeClr val="dk1"/>
              </a:buClr>
              <a:buSzPct val="100000"/>
              <a:buNone/>
            </a:pPr>
            <a:endParaRPr lang="en-IN" sz="1500" dirty="0">
              <a:solidFill>
                <a:srgbClr val="000000"/>
              </a:solidFill>
              <a:latin typeface="Cambria"/>
            </a:endParaRPr>
          </a:p>
          <a:p>
            <a:pPr marL="342900" lvl="0" indent="-190500" algn="just" rtl="0">
              <a:lnSpc>
                <a:spcPct val="200000"/>
              </a:lnSpc>
              <a:spcBef>
                <a:spcPts val="0"/>
              </a:spcBef>
              <a:spcAft>
                <a:spcPts val="0"/>
              </a:spcAft>
              <a:buClr>
                <a:schemeClr val="dk1"/>
              </a:buClr>
              <a:buSzPct val="100000"/>
              <a:buNone/>
            </a:pPr>
            <a:endParaRPr lang="en-IN" sz="1500" b="0" dirty="0">
              <a:solidFill>
                <a:srgbClr val="000000"/>
              </a:solidFill>
              <a:latin typeface="Cambria"/>
            </a:endParaRPr>
          </a:p>
          <a:p>
            <a:pPr marL="342900" lvl="0" indent="-190500" algn="just" rtl="0">
              <a:lnSpc>
                <a:spcPct val="200000"/>
              </a:lnSpc>
              <a:spcBef>
                <a:spcPts val="0"/>
              </a:spcBef>
              <a:spcAft>
                <a:spcPts val="0"/>
              </a:spcAft>
              <a:buClr>
                <a:schemeClr val="dk1"/>
              </a:buClr>
              <a:buSzPct val="100000"/>
              <a:buNone/>
            </a:pPr>
            <a:endParaRPr lang="en-IN" sz="1500" dirty="0">
              <a:solidFill>
                <a:srgbClr val="000000"/>
              </a:solidFill>
              <a:latin typeface="Cambria"/>
            </a:endParaRPr>
          </a:p>
          <a:p>
            <a:pPr marL="342900" lvl="0" indent="-190500" algn="just" rtl="0">
              <a:lnSpc>
                <a:spcPct val="200000"/>
              </a:lnSpc>
              <a:spcBef>
                <a:spcPts val="0"/>
              </a:spcBef>
              <a:spcAft>
                <a:spcPts val="0"/>
              </a:spcAft>
              <a:buClr>
                <a:schemeClr val="dk1"/>
              </a:buClr>
              <a:buSzPct val="100000"/>
              <a:buNone/>
            </a:pPr>
            <a:r>
              <a:rPr sz="1500" b="0" dirty="0">
                <a:solidFill>
                  <a:srgbClr val="000000"/>
                </a:solidFill>
                <a:latin typeface="Cambria"/>
              </a:rPr>
              <a:t>
</a:t>
            </a:r>
          </a:p>
        </p:txBody>
      </p:sp>
      <p:sp>
        <p:nvSpPr>
          <p:cNvPr id="2" name="Rectangle: Rounded Corners 1">
            <a:extLst>
              <a:ext uri="{FF2B5EF4-FFF2-40B4-BE49-F238E27FC236}">
                <a16:creationId xmlns:a16="http://schemas.microsoft.com/office/drawing/2014/main" id="{F4BE6E6E-BCFA-548D-C0F0-6F77752A2D82}"/>
              </a:ext>
            </a:extLst>
          </p:cNvPr>
          <p:cNvSpPr/>
          <p:nvPr/>
        </p:nvSpPr>
        <p:spPr>
          <a:xfrm>
            <a:off x="534924" y="663035"/>
            <a:ext cx="11132820" cy="3977640"/>
          </a:xfrm>
          <a:prstGeom prst="roundRect">
            <a:avLst/>
          </a:prstGeom>
          <a:ln>
            <a:solidFill>
              <a:schemeClr val="bg2">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342900" lvl="0" indent="-190500" algn="just">
              <a:lnSpc>
                <a:spcPct val="200000"/>
              </a:lnSpc>
              <a:buClr>
                <a:schemeClr val="dk1"/>
              </a:buClr>
              <a:buSzPct val="100000"/>
            </a:pPr>
            <a:r>
              <a:rPr lang="en-IN" sz="1800" b="1" u="sng" dirty="0">
                <a:solidFill>
                  <a:srgbClr val="000000"/>
                </a:solidFill>
                <a:latin typeface="Cambria"/>
              </a:rPr>
              <a:t>Software Requirements</a:t>
            </a:r>
          </a:p>
          <a:p>
            <a:pPr marL="342900" lvl="0" indent="-190500" algn="just">
              <a:lnSpc>
                <a:spcPct val="200000"/>
              </a:lnSpc>
              <a:buClr>
                <a:schemeClr val="dk1"/>
              </a:buClr>
              <a:buSzPct val="100000"/>
            </a:pPr>
            <a:r>
              <a:rPr lang="en-IN" dirty="0">
                <a:solidFill>
                  <a:srgbClr val="000000"/>
                </a:solidFill>
                <a:latin typeface="Cambria"/>
              </a:rPr>
              <a:t>• </a:t>
            </a:r>
            <a:r>
              <a:rPr lang="en-IN" b="1" dirty="0">
                <a:solidFill>
                  <a:srgbClr val="000000"/>
                </a:solidFill>
                <a:latin typeface="Cambria"/>
              </a:rPr>
              <a:t>Frontend</a:t>
            </a:r>
            <a:r>
              <a:rPr lang="en-IN" dirty="0">
                <a:solidFill>
                  <a:srgbClr val="000000"/>
                </a:solidFill>
                <a:latin typeface="Cambria"/>
              </a:rPr>
              <a:t>: React.js, HTML5, CSS3 / responsive UI
• </a:t>
            </a:r>
            <a:r>
              <a:rPr lang="en-IN" b="1" dirty="0">
                <a:solidFill>
                  <a:srgbClr val="000000"/>
                </a:solidFill>
                <a:latin typeface="Cambria"/>
              </a:rPr>
              <a:t>Backend</a:t>
            </a:r>
            <a:r>
              <a:rPr lang="en-IN" dirty="0">
                <a:solidFill>
                  <a:srgbClr val="000000"/>
                </a:solidFill>
                <a:latin typeface="Cambria"/>
              </a:rPr>
              <a:t>: Node.js with Express.js and REST APIs
• </a:t>
            </a:r>
            <a:r>
              <a:rPr lang="en-IN" b="1" dirty="0">
                <a:solidFill>
                  <a:srgbClr val="000000"/>
                </a:solidFill>
                <a:latin typeface="Cambria"/>
              </a:rPr>
              <a:t>Database</a:t>
            </a:r>
            <a:r>
              <a:rPr lang="en-IN" dirty="0">
                <a:solidFill>
                  <a:srgbClr val="000000"/>
                </a:solidFill>
                <a:latin typeface="Cambria"/>
              </a:rPr>
              <a:t>: PostgreSQL (</a:t>
            </a:r>
            <a:r>
              <a:rPr lang="en-IN" dirty="0" err="1">
                <a:solidFill>
                  <a:srgbClr val="000000"/>
                </a:solidFill>
                <a:latin typeface="Cambria"/>
              </a:rPr>
              <a:t>PostGIS</a:t>
            </a:r>
            <a:r>
              <a:rPr lang="en-IN" dirty="0">
                <a:solidFill>
                  <a:srgbClr val="000000"/>
                </a:solidFill>
                <a:latin typeface="Cambria"/>
              </a:rPr>
              <a:t>-ready for geospatial data)
• </a:t>
            </a:r>
            <a:r>
              <a:rPr lang="en-IN" b="1" dirty="0">
                <a:solidFill>
                  <a:srgbClr val="000000"/>
                </a:solidFill>
                <a:latin typeface="Cambria"/>
              </a:rPr>
              <a:t>Maps</a:t>
            </a:r>
            <a:r>
              <a:rPr lang="en-IN" dirty="0">
                <a:solidFill>
                  <a:srgbClr val="000000"/>
                </a:solidFill>
                <a:latin typeface="Cambria"/>
              </a:rPr>
              <a:t> </a:t>
            </a:r>
            <a:r>
              <a:rPr lang="en-IN" b="1" dirty="0">
                <a:solidFill>
                  <a:srgbClr val="000000"/>
                </a:solidFill>
                <a:latin typeface="Cambria"/>
              </a:rPr>
              <a:t>&amp;</a:t>
            </a:r>
            <a:r>
              <a:rPr lang="en-IN" dirty="0">
                <a:solidFill>
                  <a:srgbClr val="000000"/>
                </a:solidFill>
                <a:latin typeface="Cambria"/>
              </a:rPr>
              <a:t> </a:t>
            </a:r>
            <a:r>
              <a:rPr lang="en-IN" b="1" dirty="0">
                <a:solidFill>
                  <a:srgbClr val="000000"/>
                </a:solidFill>
                <a:latin typeface="Cambria"/>
              </a:rPr>
              <a:t>routing</a:t>
            </a:r>
            <a:r>
              <a:rPr lang="en-IN" dirty="0">
                <a:solidFill>
                  <a:srgbClr val="000000"/>
                </a:solidFill>
                <a:latin typeface="Cambria"/>
              </a:rPr>
              <a:t>: OpenStreetMap with Leaflet; routing API/service
• </a:t>
            </a:r>
            <a:r>
              <a:rPr lang="en-IN" b="1" dirty="0">
                <a:solidFill>
                  <a:srgbClr val="000000"/>
                </a:solidFill>
                <a:latin typeface="Cambria"/>
              </a:rPr>
              <a:t>Development</a:t>
            </a:r>
            <a:r>
              <a:rPr lang="en-IN" dirty="0">
                <a:solidFill>
                  <a:srgbClr val="000000"/>
                </a:solidFill>
                <a:latin typeface="Cambria"/>
              </a:rPr>
              <a:t> </a:t>
            </a:r>
            <a:r>
              <a:rPr lang="en-IN" b="1" dirty="0">
                <a:solidFill>
                  <a:srgbClr val="000000"/>
                </a:solidFill>
                <a:latin typeface="Cambria"/>
              </a:rPr>
              <a:t>tools</a:t>
            </a:r>
            <a:r>
              <a:rPr lang="en-IN" dirty="0">
                <a:solidFill>
                  <a:srgbClr val="000000"/>
                </a:solidFill>
                <a:latin typeface="Cambria"/>
              </a:rPr>
              <a:t>: Visual Studio Code, Git, GitHub, </a:t>
            </a:r>
            <a:r>
              <a:rPr lang="en-IN" dirty="0" err="1">
                <a:solidFill>
                  <a:srgbClr val="000000"/>
                </a:solidFill>
                <a:latin typeface="Cambria"/>
              </a:rPr>
              <a:t>npm</a:t>
            </a:r>
            <a:r>
              <a:rPr lang="en-IN" dirty="0">
                <a:solidFill>
                  <a:srgbClr val="000000"/>
                </a:solidFill>
                <a:latin typeface="Cambria"/>
              </a:rPr>
              <a:t>
• </a:t>
            </a:r>
            <a:r>
              <a:rPr lang="en-IN" b="1" dirty="0">
                <a:solidFill>
                  <a:srgbClr val="000000"/>
                </a:solidFill>
                <a:latin typeface="Cambria"/>
              </a:rPr>
              <a:t>Testing</a:t>
            </a:r>
            <a:r>
              <a:rPr lang="en-IN" dirty="0">
                <a:solidFill>
                  <a:srgbClr val="000000"/>
                </a:solidFill>
                <a:latin typeface="Cambria"/>
              </a:rPr>
              <a:t>: Postman and browser developer tools
• </a:t>
            </a:r>
            <a:r>
              <a:rPr lang="en-IN" b="1" dirty="0">
                <a:solidFill>
                  <a:srgbClr val="000000"/>
                </a:solidFill>
                <a:latin typeface="Cambria"/>
              </a:rPr>
              <a:t>Deployment</a:t>
            </a:r>
            <a:r>
              <a:rPr lang="en-IN" dirty="0">
                <a:solidFill>
                  <a:srgbClr val="000000"/>
                </a:solidFill>
                <a:latin typeface="Cambria"/>
              </a:rPr>
              <a:t>: GitHub-based workflow with a cloud hosting platform</a:t>
            </a:r>
            <a:endParaRPr lang="en-IN" dirty="0"/>
          </a:p>
        </p:txBody>
      </p:sp>
      <p:sp>
        <p:nvSpPr>
          <p:cNvPr id="3" name="Rectangle: Rounded Corners 2">
            <a:extLst>
              <a:ext uri="{FF2B5EF4-FFF2-40B4-BE49-F238E27FC236}">
                <a16:creationId xmlns:a16="http://schemas.microsoft.com/office/drawing/2014/main" id="{F70CCD2C-59EB-FDFC-9625-53755A6DD8C6}"/>
              </a:ext>
            </a:extLst>
          </p:cNvPr>
          <p:cNvSpPr/>
          <p:nvPr/>
        </p:nvSpPr>
        <p:spPr>
          <a:xfrm>
            <a:off x="534924" y="4711549"/>
            <a:ext cx="11132820" cy="1335024"/>
          </a:xfrm>
          <a:prstGeom prst="roundRect">
            <a:avLst/>
          </a:prstGeom>
          <a:ln>
            <a:solidFill>
              <a:schemeClr val="bg2">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342900" lvl="0" indent="-190500" algn="just">
              <a:lnSpc>
                <a:spcPct val="200000"/>
              </a:lnSpc>
              <a:buClr>
                <a:schemeClr val="dk1"/>
              </a:buClr>
              <a:buSzPct val="100000"/>
            </a:pPr>
            <a:r>
              <a:rPr lang="en-US" sz="1800" b="1" dirty="0">
                <a:solidFill>
                  <a:srgbClr val="000000"/>
                </a:solidFill>
                <a:latin typeface="Cambria"/>
              </a:rPr>
              <a:t>   </a:t>
            </a:r>
            <a:r>
              <a:rPr lang="en-US" sz="1800" b="1" u="sng" dirty="0">
                <a:solidFill>
                  <a:srgbClr val="000000"/>
                </a:solidFill>
                <a:latin typeface="Cambria"/>
              </a:rPr>
              <a:t>Hardware Requirements</a:t>
            </a:r>
            <a:r>
              <a:rPr lang="en-US" dirty="0">
                <a:solidFill>
                  <a:srgbClr val="000000"/>
                </a:solidFill>
                <a:latin typeface="Cambria"/>
              </a:rPr>
              <a:t>
 • No dedicated hardware is required.</a:t>
            </a:r>
          </a:p>
          <a:p>
            <a:pPr marL="342900" lvl="0" indent="-190500" algn="just">
              <a:lnSpc>
                <a:spcPct val="200000"/>
              </a:lnSpc>
              <a:buSzPct val="100000"/>
            </a:pPr>
            <a:r>
              <a:rPr lang="en-US" dirty="0">
                <a:solidFill>
                  <a:srgbClr val="000000"/>
                </a:solidFill>
                <a:latin typeface="Cambria"/>
              </a:rPr>
              <a:t> • Development/testing can be performed on a standard laptop/desktop with internet access.</a:t>
            </a:r>
          </a:p>
        </p:txBody>
      </p:sp>
    </p:spTree>
    <p:extLst>
      <p:ext uri="{BB962C8B-B14F-4D97-AF65-F5344CB8AC3E}">
        <p14:creationId xmlns:p14="http://schemas.microsoft.com/office/powerpoint/2010/main" val="33388325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p>
        </p:txBody>
      </p:sp>
      <p:sp>
        <p:nvSpPr>
          <p:cNvPr id="116" name="TextBox 115"/>
          <p:cNvSpPr txBox="1"/>
          <p:nvPr/>
        </p:nvSpPr>
        <p:spPr>
          <a:xfrm>
            <a:off x="868680" y="1143000"/>
            <a:ext cx="10515600" cy="457200"/>
          </a:xfrm>
          <a:prstGeom prst="rect">
            <a:avLst/>
          </a:prstGeom>
          <a:noFill/>
        </p:spPr>
        <p:txBody>
          <a:bodyPr wrap="square" anchor="t">
            <a:spAutoFit/>
          </a:bodyPr>
          <a:lstStyle/>
          <a:p>
            <a:pPr algn="ctr"/>
            <a:r>
              <a:rPr sz="2000" b="1">
                <a:solidFill>
                  <a:srgbClr val="0C365C"/>
                </a:solidFill>
                <a:latin typeface="Cambria"/>
              </a:rPr>
              <a:t>Proposed Functional Workflow</a:t>
            </a:r>
          </a:p>
        </p:txBody>
      </p:sp>
      <p:sp>
        <p:nvSpPr>
          <p:cNvPr id="117" name="Rounded Rectangle 116"/>
          <p:cNvSpPr/>
          <p:nvPr/>
        </p:nvSpPr>
        <p:spPr>
          <a:xfrm>
            <a:off x="388620" y="1965960"/>
            <a:ext cx="1417320" cy="11430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0C365C"/>
                </a:solidFill>
                <a:latin typeface="Cambria"/>
              </a:rPr>
              <a:t>1
</a:t>
            </a:r>
            <a:r>
              <a:rPr sz="1100" b="1" dirty="0">
                <a:solidFill>
                  <a:schemeClr val="tx1"/>
                </a:solidFill>
                <a:latin typeface="Cambria"/>
              </a:rPr>
              <a:t>User / Admin
Login or access</a:t>
            </a:r>
          </a:p>
        </p:txBody>
      </p:sp>
      <p:cxnSp>
        <p:nvCxnSpPr>
          <p:cNvPr id="118" name="Connector 117"/>
          <p:cNvCxnSpPr/>
          <p:nvPr/>
        </p:nvCxnSpPr>
        <p:spPr>
          <a:xfrm>
            <a:off x="1805940" y="2537460"/>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2052828" y="1975104"/>
            <a:ext cx="1417320" cy="1143000"/>
          </a:xfrm>
          <a:prstGeom prst="roundRect">
            <a:avLst/>
          </a:prstGeom>
          <a:solidFill>
            <a:srgbClr val="FFFFFF"/>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0C365C"/>
                </a:solidFill>
                <a:latin typeface="Cambria"/>
              </a:rPr>
              <a:t>2
</a:t>
            </a:r>
            <a:r>
              <a:rPr sz="1100" b="1" dirty="0">
                <a:solidFill>
                  <a:schemeClr val="tx1"/>
                </a:solidFill>
                <a:latin typeface="Cambria"/>
              </a:rPr>
              <a:t>Enter location
&amp; requirements</a:t>
            </a:r>
          </a:p>
        </p:txBody>
      </p:sp>
      <p:cxnSp>
        <p:nvCxnSpPr>
          <p:cNvPr id="120" name="Connector 119"/>
          <p:cNvCxnSpPr/>
          <p:nvPr/>
        </p:nvCxnSpPr>
        <p:spPr>
          <a:xfrm>
            <a:off x="3470148" y="2537460"/>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1" name="Rounded Rectangle 120"/>
          <p:cNvSpPr/>
          <p:nvPr/>
        </p:nvSpPr>
        <p:spPr>
          <a:xfrm>
            <a:off x="3717036" y="1965960"/>
            <a:ext cx="1417320" cy="1143000"/>
          </a:xfrm>
          <a:prstGeom prst="roundRect">
            <a:avLst/>
          </a:prstGeom>
          <a:solidFill>
            <a:schemeClr val="bg2">
              <a:lumMod val="40000"/>
              <a:lumOff val="60000"/>
            </a:schemeClr>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0C365C"/>
                </a:solidFill>
                <a:latin typeface="Cambria"/>
              </a:rPr>
              <a:t>3
</a:t>
            </a:r>
            <a:r>
              <a:rPr sz="1100" b="1" dirty="0">
                <a:solidFill>
                  <a:schemeClr val="tx1"/>
                </a:solidFill>
                <a:latin typeface="Cambria"/>
              </a:rPr>
              <a:t>Fetch shelters
&amp; current status</a:t>
            </a:r>
          </a:p>
        </p:txBody>
      </p:sp>
      <p:cxnSp>
        <p:nvCxnSpPr>
          <p:cNvPr id="122" name="Connector 121"/>
          <p:cNvCxnSpPr/>
          <p:nvPr/>
        </p:nvCxnSpPr>
        <p:spPr>
          <a:xfrm>
            <a:off x="5134356" y="2546604"/>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3" name="Rounded Rectangle 122"/>
          <p:cNvSpPr/>
          <p:nvPr/>
        </p:nvSpPr>
        <p:spPr>
          <a:xfrm>
            <a:off x="5417820" y="1965960"/>
            <a:ext cx="1417320" cy="1143000"/>
          </a:xfrm>
          <a:prstGeom prst="roundRect">
            <a:avLst/>
          </a:prstGeom>
          <a:solidFill>
            <a:schemeClr val="bg2">
              <a:lumMod val="40000"/>
              <a:lumOff val="60000"/>
            </a:schemeClr>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0C365C"/>
                </a:solidFill>
                <a:latin typeface="Cambria"/>
              </a:rPr>
              <a:t>4
</a:t>
            </a:r>
            <a:r>
              <a:rPr sz="1100" b="1" dirty="0">
                <a:solidFill>
                  <a:schemeClr val="tx1"/>
                </a:solidFill>
                <a:latin typeface="Cambria"/>
              </a:rPr>
              <a:t>Filter by
capacity / suitability</a:t>
            </a:r>
          </a:p>
        </p:txBody>
      </p:sp>
      <p:cxnSp>
        <p:nvCxnSpPr>
          <p:cNvPr id="124" name="Connector 123"/>
          <p:cNvCxnSpPr/>
          <p:nvPr/>
        </p:nvCxnSpPr>
        <p:spPr>
          <a:xfrm>
            <a:off x="6835140" y="2537460"/>
            <a:ext cx="246887"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5" name="Rounded Rectangle 124"/>
          <p:cNvSpPr/>
          <p:nvPr/>
        </p:nvSpPr>
        <p:spPr>
          <a:xfrm>
            <a:off x="7082027" y="1975104"/>
            <a:ext cx="1417320" cy="1143000"/>
          </a:xfrm>
          <a:prstGeom prst="roundRect">
            <a:avLst/>
          </a:prstGeom>
          <a:solidFill>
            <a:schemeClr val="bg1"/>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0C365C"/>
                </a:solidFill>
                <a:latin typeface="Cambria"/>
              </a:rPr>
              <a:t>5
</a:t>
            </a:r>
            <a:r>
              <a:rPr sz="1100" b="1" dirty="0">
                <a:solidFill>
                  <a:schemeClr val="tx1"/>
                </a:solidFill>
                <a:latin typeface="Cambria"/>
              </a:rPr>
              <a:t>Rank by distance,
capacity &amp; suitability</a:t>
            </a:r>
          </a:p>
        </p:txBody>
      </p:sp>
      <p:cxnSp>
        <p:nvCxnSpPr>
          <p:cNvPr id="126" name="Connector 125"/>
          <p:cNvCxnSpPr/>
          <p:nvPr/>
        </p:nvCxnSpPr>
        <p:spPr>
          <a:xfrm>
            <a:off x="8499347" y="2537460"/>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8746235" y="1981963"/>
            <a:ext cx="1417320" cy="1143000"/>
          </a:xfrm>
          <a:prstGeom prst="roundRect">
            <a:avLst/>
          </a:prstGeom>
          <a:solidFill>
            <a:srgbClr val="FFFFFF"/>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0C365C"/>
                </a:solidFill>
                <a:latin typeface="Cambria"/>
              </a:rPr>
              <a:t>6
</a:t>
            </a:r>
            <a:r>
              <a:rPr sz="1100" b="1" dirty="0">
                <a:solidFill>
                  <a:schemeClr val="tx1"/>
                </a:solidFill>
                <a:latin typeface="Cambria"/>
              </a:rPr>
              <a:t>Display shelter
+ route + details</a:t>
            </a:r>
          </a:p>
        </p:txBody>
      </p:sp>
      <p:cxnSp>
        <p:nvCxnSpPr>
          <p:cNvPr id="128" name="Connector 127"/>
          <p:cNvCxnSpPr/>
          <p:nvPr/>
        </p:nvCxnSpPr>
        <p:spPr>
          <a:xfrm>
            <a:off x="10163555" y="2546604"/>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9" name="Rounded Rectangle 128"/>
          <p:cNvSpPr/>
          <p:nvPr/>
        </p:nvSpPr>
        <p:spPr>
          <a:xfrm>
            <a:off x="10410443" y="1965960"/>
            <a:ext cx="1417320" cy="1143000"/>
          </a:xfrm>
          <a:prstGeom prst="roundRect">
            <a:avLst/>
          </a:prstGeom>
          <a:solidFill>
            <a:schemeClr val="bg2">
              <a:lumMod val="40000"/>
              <a:lumOff val="60000"/>
            </a:schemeClr>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0C365C"/>
                </a:solidFill>
                <a:latin typeface="Cambria"/>
              </a:rPr>
              <a:t>7
</a:t>
            </a:r>
            <a:r>
              <a:rPr sz="1100" b="1" dirty="0">
                <a:solidFill>
                  <a:schemeClr val="tx1"/>
                </a:solidFill>
                <a:latin typeface="Cambria"/>
              </a:rPr>
              <a:t>Record allocation
&amp; update occupancy</a:t>
            </a:r>
          </a:p>
        </p:txBody>
      </p:sp>
      <p:sp>
        <p:nvSpPr>
          <p:cNvPr id="130" name="TextBox 129"/>
          <p:cNvSpPr txBox="1"/>
          <p:nvPr/>
        </p:nvSpPr>
        <p:spPr>
          <a:xfrm>
            <a:off x="960120" y="3703320"/>
            <a:ext cx="10287000" cy="1554480"/>
          </a:xfrm>
          <a:prstGeom prst="rect">
            <a:avLst/>
          </a:prstGeom>
          <a:noFill/>
        </p:spPr>
        <p:txBody>
          <a:bodyPr wrap="square" anchor="ctr">
            <a:spAutoFit/>
          </a:bodyPr>
          <a:lstStyle/>
          <a:p>
            <a:pPr algn="ctr"/>
            <a:r>
              <a:rPr sz="1500" b="0">
                <a:solidFill>
                  <a:srgbClr val="000000"/>
                </a:solidFill>
                <a:latin typeface="Cambria"/>
              </a:rPr>
              <a:t>Allocation logic: remove unavailable shelters → check capacity → check disaster/shelter suitability → calculate distance → apply ranking score → return the best feasible shelter(s). The administrator can update shelter capacity/occupancy, after which recommendations are recalculated.</a:t>
            </a:r>
          </a:p>
        </p:txBody>
      </p:sp>
      <p:sp>
        <p:nvSpPr>
          <p:cNvPr id="131" name="TextBox 130"/>
          <p:cNvSpPr txBox="1"/>
          <p:nvPr/>
        </p:nvSpPr>
        <p:spPr>
          <a:xfrm>
            <a:off x="960120" y="5440680"/>
            <a:ext cx="10287000" cy="502920"/>
          </a:xfrm>
          <a:prstGeom prst="rect">
            <a:avLst/>
          </a:prstGeom>
          <a:noFill/>
        </p:spPr>
        <p:txBody>
          <a:bodyPr wrap="square" anchor="t">
            <a:spAutoFit/>
          </a:bodyPr>
          <a:lstStyle/>
          <a:p>
            <a:pPr algn="ctr"/>
            <a:r>
              <a:rPr sz="1100" b="1">
                <a:solidFill>
                  <a:srgbClr val="5A5A5A"/>
                </a:solidFill>
                <a:latin typeface="Cambria"/>
              </a:rPr>
              <a:t>The system is designed as a decision-support platform; final emergency decisions remain with authorized personnel.</a:t>
            </a:r>
          </a:p>
        </p:txBody>
      </p:sp>
    </p:spTree>
    <p:extLst>
      <p:ext uri="{BB962C8B-B14F-4D97-AF65-F5344CB8AC3E}">
        <p14:creationId xmlns:p14="http://schemas.microsoft.com/office/powerpoint/2010/main" val="20004557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3ADE3EBB-ED13-5470-22F6-A2F7542F369B}"/>
              </a:ext>
            </a:extLst>
          </p:cNvPr>
          <p:cNvPicPr>
            <a:picLocks noChangeAspect="1"/>
          </p:cNvPicPr>
          <p:nvPr/>
        </p:nvPicPr>
        <p:blipFill>
          <a:blip r:embed="rId3"/>
          <a:stretch>
            <a:fillRect/>
          </a:stretch>
        </p:blipFill>
        <p:spPr>
          <a:xfrm>
            <a:off x="812800" y="987553"/>
            <a:ext cx="10668000" cy="4970796"/>
          </a:xfrm>
          <a:prstGeom prst="rect">
            <a:avLst/>
          </a:prstGeom>
        </p:spPr>
      </p:pic>
    </p:spTree>
    <p:extLst>
      <p:ext uri="{BB962C8B-B14F-4D97-AF65-F5344CB8AC3E}">
        <p14:creationId xmlns:p14="http://schemas.microsoft.com/office/powerpoint/2010/main" val="4798902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TextBox 144"/>
          <p:cNvSpPr txBox="1"/>
          <p:nvPr/>
        </p:nvSpPr>
        <p:spPr>
          <a:xfrm>
            <a:off x="841248" y="1078992"/>
            <a:ext cx="10652760" cy="320040"/>
          </a:xfrm>
          <a:prstGeom prst="rect">
            <a:avLst/>
          </a:prstGeom>
          <a:noFill/>
        </p:spPr>
        <p:txBody>
          <a:bodyPr wrap="square" anchor="t">
            <a:spAutoFit/>
          </a:bodyPr>
          <a:lstStyle/>
          <a:p>
            <a:pPr algn="ctr"/>
            <a:r>
              <a:rPr sz="1100" b="1" dirty="0">
                <a:solidFill>
                  <a:srgbClr val="0C365C"/>
                </a:solidFill>
                <a:latin typeface="Cambria"/>
              </a:rPr>
              <a:t>APA-style citations with direct DOI / IEEE Xplore links</a:t>
            </a:r>
          </a:p>
        </p:txBody>
      </p:sp>
      <p:sp>
        <p:nvSpPr>
          <p:cNvPr id="146" name="TextBox 145"/>
          <p:cNvSpPr txBox="1"/>
          <p:nvPr/>
        </p:nvSpPr>
        <p:spPr>
          <a:xfrm>
            <a:off x="896112" y="1481328"/>
            <a:ext cx="5074920" cy="850392"/>
          </a:xfrm>
          <a:prstGeom prst="rect">
            <a:avLst/>
          </a:prstGeom>
          <a:noFill/>
        </p:spPr>
        <p:txBody>
          <a:bodyPr wrap="square" anchor="t">
            <a:spAutoFit/>
          </a:bodyPr>
          <a:lstStyle/>
          <a:p>
            <a:pPr algn="l"/>
            <a:r>
              <a:rPr sz="969" b="0">
                <a:solidFill>
                  <a:srgbClr val="000000"/>
                </a:solidFill>
                <a:latin typeface="Cambria"/>
                <a:hlinkClick r:id="rId3"/>
              </a:rPr>
              <a:t>[1] Yang, K., Shekhar, A. H., Rehman, F. U., Lahza, H., Basalamah, S., Shekhar, S., Ahmed, I., &amp; Ghafoor, A. (2015). Intelligent shelter allotment for emergency evacuation planning: A case study of Makkah. IEEE Intelligent Systems, 30(5), 66–76. https://doi.org/10.1109/MIS.2015.39</a:t>
            </a:r>
          </a:p>
        </p:txBody>
      </p:sp>
      <p:sp>
        <p:nvSpPr>
          <p:cNvPr id="147" name="TextBox 146"/>
          <p:cNvSpPr txBox="1"/>
          <p:nvPr/>
        </p:nvSpPr>
        <p:spPr>
          <a:xfrm>
            <a:off x="896112" y="2395728"/>
            <a:ext cx="5074920" cy="850392"/>
          </a:xfrm>
          <a:prstGeom prst="rect">
            <a:avLst/>
          </a:prstGeom>
          <a:noFill/>
        </p:spPr>
        <p:txBody>
          <a:bodyPr wrap="square" anchor="t">
            <a:spAutoFit/>
          </a:bodyPr>
          <a:lstStyle/>
          <a:p>
            <a:pPr algn="l"/>
            <a:r>
              <a:rPr sz="969" b="0">
                <a:solidFill>
                  <a:srgbClr val="000000"/>
                </a:solidFill>
                <a:latin typeface="Cambria"/>
                <a:hlinkClick r:id="rId4"/>
              </a:rPr>
              <a:t>[2] Zhang, J., Zhang, M., Ren, F., &amp; Liu, J. (2016). An innovation approach for optimal resource allocation in emergency management. IEEE Transactions on Computers. https://doi.org/10.1109/TC.2016.2601331</a:t>
            </a:r>
          </a:p>
        </p:txBody>
      </p:sp>
      <p:sp>
        <p:nvSpPr>
          <p:cNvPr id="148" name="TextBox 147"/>
          <p:cNvSpPr txBox="1"/>
          <p:nvPr/>
        </p:nvSpPr>
        <p:spPr>
          <a:xfrm>
            <a:off x="896112" y="3310128"/>
            <a:ext cx="5074920" cy="850392"/>
          </a:xfrm>
          <a:prstGeom prst="rect">
            <a:avLst/>
          </a:prstGeom>
          <a:noFill/>
        </p:spPr>
        <p:txBody>
          <a:bodyPr wrap="square" anchor="t">
            <a:spAutoFit/>
          </a:bodyPr>
          <a:lstStyle/>
          <a:p>
            <a:pPr algn="l"/>
            <a:r>
              <a:rPr sz="969" b="0">
                <a:solidFill>
                  <a:srgbClr val="000000"/>
                </a:solidFill>
                <a:latin typeface="Cambria"/>
                <a:hlinkClick r:id="rId5"/>
              </a:rPr>
              <a:t>[3] Wang, F., Pei, Z., Dong, L., &amp; Ma, J. (2020). Emergency resource allocation for multi-period post-disaster using multi-objective cellular genetic algorithm. IEEE Access, 8, 82255–82265. https://doi.org/10.1109/ACCESS.2020.2991865</a:t>
            </a:r>
          </a:p>
        </p:txBody>
      </p:sp>
      <p:sp>
        <p:nvSpPr>
          <p:cNvPr id="149" name="TextBox 148"/>
          <p:cNvSpPr txBox="1"/>
          <p:nvPr/>
        </p:nvSpPr>
        <p:spPr>
          <a:xfrm>
            <a:off x="896112" y="4224528"/>
            <a:ext cx="5074920" cy="850392"/>
          </a:xfrm>
          <a:prstGeom prst="rect">
            <a:avLst/>
          </a:prstGeom>
          <a:noFill/>
        </p:spPr>
        <p:txBody>
          <a:bodyPr wrap="square" anchor="t">
            <a:spAutoFit/>
          </a:bodyPr>
          <a:lstStyle/>
          <a:p>
            <a:pPr algn="l"/>
            <a:r>
              <a:rPr sz="969" b="0">
                <a:solidFill>
                  <a:srgbClr val="000000"/>
                </a:solidFill>
                <a:latin typeface="Cambria"/>
                <a:hlinkClick r:id="rId6"/>
              </a:rPr>
              <a:t>[4] Amiran, A., Behnam, B., &amp; Seyedin, S. (2025). Machine learning for earthquake emergency evacuation: Site selection and neighborhood navigation. IEEE Access, 13, 91595–91610. https://doi.org/10.1109/ACCESS.2025.3573207</a:t>
            </a:r>
          </a:p>
        </p:txBody>
      </p:sp>
      <p:sp>
        <p:nvSpPr>
          <p:cNvPr id="150" name="TextBox 149"/>
          <p:cNvSpPr txBox="1"/>
          <p:nvPr/>
        </p:nvSpPr>
        <p:spPr>
          <a:xfrm>
            <a:off x="896112" y="5138928"/>
            <a:ext cx="5074920" cy="850392"/>
          </a:xfrm>
          <a:prstGeom prst="rect">
            <a:avLst/>
          </a:prstGeom>
          <a:noFill/>
        </p:spPr>
        <p:txBody>
          <a:bodyPr wrap="square" anchor="t">
            <a:spAutoFit/>
          </a:bodyPr>
          <a:lstStyle/>
          <a:p>
            <a:pPr algn="l"/>
            <a:r>
              <a:rPr sz="969" b="0">
                <a:solidFill>
                  <a:srgbClr val="000000"/>
                </a:solidFill>
                <a:latin typeface="Cambria"/>
                <a:hlinkClick r:id="rId7"/>
              </a:rPr>
              <a:t>[5] Sarma, D., Das, A., Bera, U. K., &amp; Singh, A. (2020). A cost minimization resource allocation model for disaster relief operations with an information crowdsourcing-based MCDM approach. IEEE Transactions on Engineering Management, 69(5), 2454–2474. https://doi.org/10.1109/TEM.2020.3015775</a:t>
            </a:r>
          </a:p>
        </p:txBody>
      </p:sp>
      <p:sp>
        <p:nvSpPr>
          <p:cNvPr id="151" name="TextBox 150"/>
          <p:cNvSpPr txBox="1"/>
          <p:nvPr/>
        </p:nvSpPr>
        <p:spPr>
          <a:xfrm>
            <a:off x="6382512" y="1481328"/>
            <a:ext cx="5074920" cy="850392"/>
          </a:xfrm>
          <a:prstGeom prst="rect">
            <a:avLst/>
          </a:prstGeom>
          <a:noFill/>
        </p:spPr>
        <p:txBody>
          <a:bodyPr wrap="square" anchor="t">
            <a:spAutoFit/>
          </a:bodyPr>
          <a:lstStyle/>
          <a:p>
            <a:pPr algn="l"/>
            <a:r>
              <a:rPr sz="969" b="0">
                <a:solidFill>
                  <a:srgbClr val="000000"/>
                </a:solidFill>
                <a:latin typeface="Cambria"/>
                <a:hlinkClick r:id="rId8"/>
              </a:rPr>
              <a:t>[6] Li, D., Li, Y., &amp; Wang, L. (2009). Model and algorithms for emergency service facility location problem. In 2009 IITA International Conference on Services Science, Management and Engineering (SSME), 15–18. https://doi.org/10.1109/SSME.2009.80</a:t>
            </a:r>
          </a:p>
        </p:txBody>
      </p:sp>
      <p:sp>
        <p:nvSpPr>
          <p:cNvPr id="152" name="TextBox 151"/>
          <p:cNvSpPr txBox="1"/>
          <p:nvPr/>
        </p:nvSpPr>
        <p:spPr>
          <a:xfrm>
            <a:off x="6382512" y="2395728"/>
            <a:ext cx="5074920" cy="850392"/>
          </a:xfrm>
          <a:prstGeom prst="rect">
            <a:avLst/>
          </a:prstGeom>
          <a:noFill/>
        </p:spPr>
        <p:txBody>
          <a:bodyPr wrap="square" anchor="t">
            <a:spAutoFit/>
          </a:bodyPr>
          <a:lstStyle/>
          <a:p>
            <a:pPr algn="l"/>
            <a:r>
              <a:rPr sz="969" b="0">
                <a:solidFill>
                  <a:srgbClr val="000000"/>
                </a:solidFill>
                <a:latin typeface="Cambria"/>
                <a:hlinkClick r:id="rId9"/>
              </a:rPr>
              <a:t>[7] Tanti, L., Efendi, S., Lydia, M. S., &amp; Mawengkang, H. (2022). Designing an optimization model for dynamic facility-location problem at post-disaster area considering uncertainty. In 2022 4th International Conference on Cybernetics and Intelligent System (ICORIS), 1–6. https://doi.org/10.1109/ICORIS56080.2022.10031495</a:t>
            </a:r>
          </a:p>
        </p:txBody>
      </p:sp>
      <p:sp>
        <p:nvSpPr>
          <p:cNvPr id="153" name="TextBox 152"/>
          <p:cNvSpPr txBox="1"/>
          <p:nvPr/>
        </p:nvSpPr>
        <p:spPr>
          <a:xfrm>
            <a:off x="6382512" y="3310128"/>
            <a:ext cx="5074920" cy="850392"/>
          </a:xfrm>
          <a:prstGeom prst="rect">
            <a:avLst/>
          </a:prstGeom>
          <a:noFill/>
        </p:spPr>
        <p:txBody>
          <a:bodyPr wrap="square" anchor="t">
            <a:spAutoFit/>
          </a:bodyPr>
          <a:lstStyle/>
          <a:p>
            <a:pPr algn="l"/>
            <a:r>
              <a:rPr sz="969" b="0">
                <a:solidFill>
                  <a:srgbClr val="000000"/>
                </a:solidFill>
                <a:latin typeface="Cambria"/>
                <a:hlinkClick r:id="rId10"/>
              </a:rPr>
              <a:t>[8] Cui, S., Liu, S., Tang, X., &amp; Zhu, T. (2019). Emergency material allocation problem considering post-disaster impact. In 2019 8th International Conference on Industrial Technology and Management (ICITM), 290–294. https://doi.org/10.1109/ICITM.2019.8710729</a:t>
            </a:r>
          </a:p>
        </p:txBody>
      </p:sp>
      <p:sp>
        <p:nvSpPr>
          <p:cNvPr id="154" name="TextBox 153"/>
          <p:cNvSpPr txBox="1"/>
          <p:nvPr/>
        </p:nvSpPr>
        <p:spPr>
          <a:xfrm>
            <a:off x="6382512" y="4224528"/>
            <a:ext cx="5074920" cy="850392"/>
          </a:xfrm>
          <a:prstGeom prst="rect">
            <a:avLst/>
          </a:prstGeom>
          <a:noFill/>
        </p:spPr>
        <p:txBody>
          <a:bodyPr wrap="square" anchor="t">
            <a:spAutoFit/>
          </a:bodyPr>
          <a:lstStyle/>
          <a:p>
            <a:pPr algn="l"/>
            <a:r>
              <a:rPr sz="969" b="0">
                <a:solidFill>
                  <a:srgbClr val="000000"/>
                </a:solidFill>
                <a:latin typeface="Cambria"/>
                <a:hlinkClick r:id="rId11"/>
              </a:rPr>
              <a:t>[9] Rodríguez-Espíndola, O. (2022). Multi-period model for disaster management in simultaneous disasters. IEEE Transactions on Engineering Management, 71, 4971–4984. https://doi.org/10.1109/TEM.2022.3227329</a:t>
            </a:r>
          </a:p>
        </p:txBody>
      </p:sp>
      <p:sp>
        <p:nvSpPr>
          <p:cNvPr id="155" name="TextBox 154"/>
          <p:cNvSpPr txBox="1"/>
          <p:nvPr/>
        </p:nvSpPr>
        <p:spPr>
          <a:xfrm>
            <a:off x="6382512" y="5138928"/>
            <a:ext cx="5074920" cy="850392"/>
          </a:xfrm>
          <a:prstGeom prst="rect">
            <a:avLst/>
          </a:prstGeom>
          <a:noFill/>
        </p:spPr>
        <p:txBody>
          <a:bodyPr wrap="square" anchor="t">
            <a:spAutoFit/>
          </a:bodyPr>
          <a:lstStyle/>
          <a:p>
            <a:pPr algn="l"/>
            <a:r>
              <a:rPr sz="969" b="0">
                <a:solidFill>
                  <a:srgbClr val="000000"/>
                </a:solidFill>
                <a:latin typeface="Cambria"/>
                <a:hlinkClick r:id="rId12"/>
              </a:rPr>
              <a:t>[10] Rajalakshmi, B., Aswini, P., Thethi, H. P., Goyal, H. R., Sravanthi, J., &amp; Hameed, A. A. (2024). Utilizing artificial intelligence for efficient resource allocation and logistics in humanitarian aid. In 2024 1st International Conference on Sustainable Computing and Integrated Communication in Changing Landscape of AI (ICSCAI), 1–6. https://doi.org/10.1109/ICSCAI61790.2024.10866107</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Bioinformatics">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d62f681-7444-4666-891e-c71d42de2ddf">
      <Terms xmlns="http://schemas.microsoft.com/office/infopath/2007/PartnerControls"/>
    </lcf76f155ced4ddcb4097134ff3c332f>
    <TaxCatchAll xmlns="b8676f30-e579-463a-a8aa-821338b0037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A8A2C149D477E4E814B4B477F0E243C" ma:contentTypeVersion="13" ma:contentTypeDescription="Create a new document." ma:contentTypeScope="" ma:versionID="89242249e9f2fc9f35c8ac40d1749aa8">
  <xsd:schema xmlns:xsd="http://www.w3.org/2001/XMLSchema" xmlns:xs="http://www.w3.org/2001/XMLSchema" xmlns:p="http://schemas.microsoft.com/office/2006/metadata/properties" xmlns:ns2="ed62f681-7444-4666-891e-c71d42de2ddf" xmlns:ns3="b8676f30-e579-463a-a8aa-821338b00374" targetNamespace="http://schemas.microsoft.com/office/2006/metadata/properties" ma:root="true" ma:fieldsID="a661edb3eb918c130b5b038713d75e6b" ns2:_="" ns3:_="">
    <xsd:import namespace="ed62f681-7444-4666-891e-c71d42de2ddf"/>
    <xsd:import namespace="b8676f30-e579-463a-a8aa-821338b0037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62f681-7444-4666-891e-c71d42de2d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8676f30-e579-463a-a8aa-821338b0037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f08d022-328e-4f53-b2cf-c730c7a35dee}" ma:internalName="TaxCatchAll" ma:showField="CatchAllData" ma:web="b8676f30-e579-463a-a8aa-821338b003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D2043A-A905-44DC-A627-E0BB4B155825}">
  <ds:schemaRefs>
    <ds:schemaRef ds:uri="http://schemas.microsoft.com/sharepoint/v3/contenttype/forms"/>
  </ds:schemaRefs>
</ds:datastoreItem>
</file>

<file path=customXml/itemProps2.xml><?xml version="1.0" encoding="utf-8"?>
<ds:datastoreItem xmlns:ds="http://schemas.openxmlformats.org/officeDocument/2006/customXml" ds:itemID="{C31A4896-B9C1-4471-B691-16FF8CBFF7E9}">
  <ds:schemaRefs>
    <ds:schemaRef ds:uri="http://purl.org/dc/terms/"/>
    <ds:schemaRef ds:uri="http://www.w3.org/XML/1998/namespace"/>
    <ds:schemaRef ds:uri="http://schemas.openxmlformats.org/package/2006/metadata/core-properties"/>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purl.org/dc/dcmitype/"/>
    <ds:schemaRef ds:uri="b8676f30-e579-463a-a8aa-821338b00374"/>
    <ds:schemaRef ds:uri="ed62f681-7444-4666-891e-c71d42de2ddf"/>
  </ds:schemaRefs>
</ds:datastoreItem>
</file>

<file path=customXml/itemProps3.xml><?xml version="1.0" encoding="utf-8"?>
<ds:datastoreItem xmlns:ds="http://schemas.openxmlformats.org/officeDocument/2006/customXml" ds:itemID="{80799BD1-F224-430F-A4F0-5AAD34602B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62f681-7444-4666-891e-c71d42de2ddf"/>
    <ds:schemaRef ds:uri="b8676f30-e579-463a-a8aa-821338b003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753</TotalTime>
  <Words>2710</Words>
  <Application>Microsoft Office PowerPoint</Application>
  <PresentationFormat>Widescreen</PresentationFormat>
  <Paragraphs>170</Paragraphs>
  <Slides>14</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Cambria</vt:lpstr>
      <vt:lpstr>Verdana</vt:lpstr>
      <vt:lpstr>Wingdings</vt:lpstr>
      <vt:lpstr>Bioinformatics</vt:lpstr>
      <vt:lpstr>PowerPoint Presentation</vt:lpstr>
      <vt:lpstr>EMERGENCY SHELTER ALLOCATION PLATFORM</vt:lpstr>
      <vt:lpstr>INDEX</vt:lpstr>
      <vt:lpstr>Problem Statement Number:</vt:lpstr>
      <vt:lpstr>PowerPoint Presentation</vt:lpstr>
      <vt:lpstr>Introduction</vt:lpstr>
      <vt:lpstr>Literature Review</vt:lpstr>
      <vt:lpstr>Architecture Diagram</vt:lpstr>
      <vt:lpstr>Analysis of Problem Statement /Output Expected</vt:lpstr>
      <vt:lpstr>Analysis of Problem Statement (contd...)</vt:lpstr>
      <vt:lpstr>Analysis of Problem Statement </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HARSHIL KUMAR GURJAR</cp:lastModifiedBy>
  <cp:revision>55</cp:revision>
  <dcterms:modified xsi:type="dcterms:W3CDTF">2026-08-29T07:06:41Z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0x010100FA8A2C149D477E4E814B4B477F0E243C</vt:lpwstr>
  </property>
</Properties>
</file>