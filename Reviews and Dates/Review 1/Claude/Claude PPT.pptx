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4"/>
  </p:sldMasterIdLst>
  <p:notesMasterIdLst>
    <p:notesMasterId r:id="rId19"/>
  </p:notesMasterIdLst>
  <p:sldIdLst>
    <p:sldId id="274" r:id="rId5"/>
    <p:sldId id="256" r:id="rId6"/>
    <p:sldId id="257" r:id="rId7"/>
    <p:sldId id="269" r:id="rId8"/>
    <p:sldId id="268" r:id="rId9"/>
    <p:sldId id="273" r:id="rId10"/>
    <p:sldId id="275" r:id="rId11"/>
    <p:sldId id="277" r:id="rId12"/>
    <p:sldId id="276" r:id="rId13"/>
    <p:sldId id="272" r:id="rId14"/>
    <p:sldId id="271" r:id="rId15"/>
    <p:sldId id="270" r:id="rId16"/>
    <p:sldId id="265" r:id="rId17"/>
    <p:sldId id="266"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305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399B6F38-D768-A670-DEF3-8469058A8BC5}"/>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ABCA4031-CC8F-236D-A27B-EA7F87420EE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85DF2172-DEF1-9770-F577-039FE971356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577616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517255E8-76FD-C420-1987-D13B1E67A4A6}"/>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29260288-5C20-329D-9AB3-D8C410F70E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17C5EB74-31E0-ABB2-15A4-4FB1F28C8EE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036653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95D514E0-B1BE-2630-77D3-31C095E36194}"/>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99E4099B-7B1F-A0FA-3ABB-CE9838C0278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6E08A7C6-D14D-41A9-F2DD-738662370A8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33383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42109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1_Title Slide">
    <p:spTree>
      <p:nvGrpSpPr>
        <p:cNvPr id="1" name=""/>
        <p:cNvGrpSpPr/>
        <p:nvPr/>
      </p:nvGrpSpPr>
      <p:grpSpPr>
        <a:xfrm>
          <a:off x="0" y="0"/>
          <a:ext cx="0" cy="0"/>
          <a:chOff x="0" y="0"/>
          <a:chExt cx="0" cy="0"/>
        </a:xfrm>
      </p:grpSpPr>
      <p:sp>
        <p:nvSpPr>
          <p:cNvPr id="14" name="Slide Number"/>
          <p:cNvSpPr txBox="1">
            <a:spLocks noGrp="1"/>
          </p:cNvSpPr>
          <p:nvPr>
            <p:ph type="sldNum" sz="quarter" idx="2"/>
          </p:nvPr>
        </p:nvSpPr>
        <p:spPr>
          <a:prstGeom prst="rect">
            <a:avLst/>
          </a:prstGeom>
        </p:spPr>
        <p:txBody>
          <a:bodyPr/>
          <a:lstStyle/>
          <a:p>
            <a:fld id="{86CB4B4D-7CA3-9044-876B-883B54F8677D}" type="slidenum">
              <a:t>‹#›</a:t>
            </a:fld>
            <a:endParaRPr/>
          </a:p>
        </p:txBody>
      </p:sp>
      <p:pic>
        <p:nvPicPr>
          <p:cNvPr id="9" name="Picture 8">
            <a:extLst>
              <a:ext uri="{FF2B5EF4-FFF2-40B4-BE49-F238E27FC236}">
                <a16:creationId xmlns:a16="http://schemas.microsoft.com/office/drawing/2014/main" id="{FDA50E9A-5B29-3F48-C37D-89C17238E29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391275"/>
            <a:ext cx="12192000" cy="466725"/>
          </a:xfrm>
          <a:prstGeom prst="rect">
            <a:avLst/>
          </a:prstGeom>
        </p:spPr>
      </p:pic>
    </p:spTree>
    <p:extLst>
      <p:ext uri="{BB962C8B-B14F-4D97-AF65-F5344CB8AC3E}">
        <p14:creationId xmlns:p14="http://schemas.microsoft.com/office/powerpoint/2010/main" val="2148158555"/>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4">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5" Type="http://schemas.openxmlformats.org/officeDocument/2006/relationships/image" Target="../media/image7.sv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CC2DD66-7A7B-3141-248C-33B219894259}"/>
              </a:ext>
            </a:extLst>
          </p:cNvPr>
          <p:cNvPicPr>
            <a:picLocks noChangeAspect="1"/>
          </p:cNvPicPr>
          <p:nvPr/>
        </p:nvPicPr>
        <p:blipFill>
          <a:blip r:embed="rId2"/>
          <a:stretch>
            <a:fillRect/>
          </a:stretch>
        </p:blipFill>
        <p:spPr>
          <a:xfrm>
            <a:off x="-72887" y="-20500"/>
            <a:ext cx="12264887" cy="6898999"/>
          </a:xfrm>
          <a:prstGeom prst="rect">
            <a:avLst/>
          </a:prstGeom>
        </p:spPr>
      </p:pic>
      <p:sp>
        <p:nvSpPr>
          <p:cNvPr id="200" name="TextBox 5"/>
          <p:cNvSpPr txBox="1">
            <a:spLocks noGrp="1"/>
          </p:cNvSpPr>
          <p:nvPr>
            <p:ph type="sldNum" sz="quarter" idx="2"/>
          </p:nvPr>
        </p:nvSpPr>
        <p:spPr>
          <a:xfrm>
            <a:off x="11396678" y="454968"/>
            <a:ext cx="162863" cy="24622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a:t>
            </a:fld>
            <a:endParaRPr/>
          </a:p>
        </p:txBody>
      </p:sp>
      <p:pic>
        <p:nvPicPr>
          <p:cNvPr id="3" name="Picture 2">
            <a:extLst>
              <a:ext uri="{FF2B5EF4-FFF2-40B4-BE49-F238E27FC236}">
                <a16:creationId xmlns:a16="http://schemas.microsoft.com/office/drawing/2014/main" id="{99BBA17B-3BC2-6BF3-E9AA-D4BFBC2AD5B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6283" y="380240"/>
            <a:ext cx="1378341" cy="298744"/>
          </a:xfrm>
          <a:prstGeom prst="rect">
            <a:avLst/>
          </a:prstGeom>
        </p:spPr>
      </p:pic>
      <p:pic>
        <p:nvPicPr>
          <p:cNvPr id="10" name="Picture 9">
            <a:extLst>
              <a:ext uri="{FF2B5EF4-FFF2-40B4-BE49-F238E27FC236}">
                <a16:creationId xmlns:a16="http://schemas.microsoft.com/office/drawing/2014/main" id="{379FE14F-095F-73F1-B975-3CCBF67C0CA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6440771"/>
            <a:ext cx="12192000" cy="469900"/>
          </a:xfrm>
          <a:prstGeom prst="rect">
            <a:avLst/>
          </a:prstGeom>
        </p:spPr>
      </p:pic>
      <p:pic>
        <p:nvPicPr>
          <p:cNvPr id="6" name="Graphic 5">
            <a:extLst>
              <a:ext uri="{FF2B5EF4-FFF2-40B4-BE49-F238E27FC236}">
                <a16:creationId xmlns:a16="http://schemas.microsoft.com/office/drawing/2014/main" id="{75EEC80A-389A-0914-B331-80471CDD528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81615" y="52673"/>
            <a:ext cx="7779079" cy="1309350"/>
          </a:xfrm>
          <a:prstGeom prst="rect">
            <a:avLst/>
          </a:prstGeom>
        </p:spPr>
      </p:pic>
      <p:sp>
        <p:nvSpPr>
          <p:cNvPr id="16" name="Rounded Rectangle 2">
            <a:extLst>
              <a:ext uri="{FF2B5EF4-FFF2-40B4-BE49-F238E27FC236}">
                <a16:creationId xmlns:a16="http://schemas.microsoft.com/office/drawing/2014/main" id="{EC0F06BD-D995-B09D-2B28-06CD559DF695}"/>
              </a:ext>
            </a:extLst>
          </p:cNvPr>
          <p:cNvSpPr/>
          <p:nvPr/>
        </p:nvSpPr>
        <p:spPr>
          <a:xfrm>
            <a:off x="-72888" y="5569149"/>
            <a:ext cx="12264887" cy="1309350"/>
          </a:xfrm>
          <a:prstGeom prst="roundRect">
            <a:avLst/>
          </a:prstGeom>
          <a:solidFill>
            <a:srgbClr val="08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18" name="TextBox 17">
            <a:extLst>
              <a:ext uri="{FF2B5EF4-FFF2-40B4-BE49-F238E27FC236}">
                <a16:creationId xmlns:a16="http://schemas.microsoft.com/office/drawing/2014/main" id="{25FAE776-B1B4-1F6F-0EE9-2D02B291CE9E}"/>
              </a:ext>
            </a:extLst>
          </p:cNvPr>
          <p:cNvSpPr txBox="1"/>
          <p:nvPr/>
        </p:nvSpPr>
        <p:spPr>
          <a:xfrm>
            <a:off x="4748252" y="5447308"/>
            <a:ext cx="2860077" cy="769441"/>
          </a:xfrm>
          <a:prstGeom prst="rect">
            <a:avLst/>
          </a:prstGeom>
          <a:noFill/>
        </p:spPr>
        <p:txBody>
          <a:bodyPr wrap="none" anchor="ctr">
            <a:spAutoFit/>
          </a:bodyPr>
          <a:lstStyle/>
          <a:p>
            <a:pPr algn="ctr">
              <a:defRPr sz="3100" b="1">
                <a:solidFill>
                  <a:srgbClr val="FFFFFF"/>
                </a:solidFill>
                <a:latin typeface="Aptos Display"/>
              </a:defRPr>
            </a:pPr>
            <a:r>
              <a:rPr sz="4400" dirty="0"/>
              <a:t>Presidency</a:t>
            </a:r>
          </a:p>
        </p:txBody>
      </p:sp>
      <p:sp>
        <p:nvSpPr>
          <p:cNvPr id="20" name="Rectangle 19">
            <a:extLst>
              <a:ext uri="{FF2B5EF4-FFF2-40B4-BE49-F238E27FC236}">
                <a16:creationId xmlns:a16="http://schemas.microsoft.com/office/drawing/2014/main" id="{540268FC-2D4B-1595-4CC0-BF00B3A0E047}"/>
              </a:ext>
            </a:extLst>
          </p:cNvPr>
          <p:cNvSpPr/>
          <p:nvPr/>
        </p:nvSpPr>
        <p:spPr>
          <a:xfrm>
            <a:off x="4837363" y="6139774"/>
            <a:ext cx="2646802" cy="45719"/>
          </a:xfrm>
          <a:prstGeom prst="rect">
            <a:avLst/>
          </a:prstGeom>
          <a:solidFill>
            <a:srgbClr val="F4B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a:extLst>
              <a:ext uri="{FF2B5EF4-FFF2-40B4-BE49-F238E27FC236}">
                <a16:creationId xmlns:a16="http://schemas.microsoft.com/office/drawing/2014/main" id="{C3EFB6EA-449F-B759-D837-A2CDBD5E10E2}"/>
              </a:ext>
            </a:extLst>
          </p:cNvPr>
          <p:cNvSpPr txBox="1"/>
          <p:nvPr/>
        </p:nvSpPr>
        <p:spPr>
          <a:xfrm>
            <a:off x="2353623" y="6178261"/>
            <a:ext cx="7961243" cy="584775"/>
          </a:xfrm>
          <a:prstGeom prst="rect">
            <a:avLst/>
          </a:prstGeom>
          <a:noFill/>
        </p:spPr>
        <p:txBody>
          <a:bodyPr wrap="square" anchor="ctr">
            <a:spAutoFit/>
          </a:bodyPr>
          <a:lstStyle/>
          <a:p>
            <a:pPr algn="l">
              <a:defRPr sz="2000" b="1">
                <a:solidFill>
                  <a:srgbClr val="FFFFFF"/>
                </a:solidFill>
                <a:latin typeface="Aptos Display"/>
              </a:defRPr>
            </a:pPr>
            <a:r>
              <a:rPr sz="3200" dirty="0"/>
              <a:t>School of Computer Science</a:t>
            </a:r>
            <a:r>
              <a:rPr lang="en-IN" sz="3200" dirty="0"/>
              <a:t> </a:t>
            </a:r>
            <a:r>
              <a:rPr sz="3200" dirty="0"/>
              <a:t>and Engineering</a:t>
            </a:r>
          </a:p>
        </p:txBody>
      </p:sp>
      <p:sp>
        <p:nvSpPr>
          <p:cNvPr id="24" name="Rectangle 23">
            <a:extLst>
              <a:ext uri="{FF2B5EF4-FFF2-40B4-BE49-F238E27FC236}">
                <a16:creationId xmlns:a16="http://schemas.microsoft.com/office/drawing/2014/main" id="{84E6A419-D98D-646B-0945-71577D3C9949}"/>
              </a:ext>
            </a:extLst>
          </p:cNvPr>
          <p:cNvSpPr/>
          <p:nvPr/>
        </p:nvSpPr>
        <p:spPr>
          <a:xfrm flipV="1">
            <a:off x="2477862" y="6717317"/>
            <a:ext cx="7712764" cy="45719"/>
          </a:xfrm>
          <a:prstGeom prst="rect">
            <a:avLst/>
          </a:prstGeom>
          <a:solidFill>
            <a:srgbClr val="F4B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a:extLst>
              <a:ext uri="{FF2B5EF4-FFF2-40B4-BE49-F238E27FC236}">
                <a16:creationId xmlns:a16="http://schemas.microsoft.com/office/drawing/2014/main" id="{BD844D43-4EA8-BF96-7FC3-15A05CEA246A}"/>
              </a:ext>
            </a:extLst>
          </p:cNvPr>
          <p:cNvSpPr txBox="1"/>
          <p:nvPr/>
        </p:nvSpPr>
        <p:spPr>
          <a:xfrm>
            <a:off x="4072463" y="1168079"/>
            <a:ext cx="4240263" cy="1569660"/>
          </a:xfrm>
          <a:prstGeom prst="rect">
            <a:avLst/>
          </a:prstGeom>
          <a:noFill/>
        </p:spPr>
        <p:txBody>
          <a:bodyPr wrap="none" anchor="ctr">
            <a:spAutoFit/>
          </a:bodyPr>
          <a:lstStyle/>
          <a:p>
            <a:pPr algn="ctr">
              <a:defRPr sz="3100" b="1">
                <a:solidFill>
                  <a:srgbClr val="FFFFFF"/>
                </a:solidFill>
                <a:latin typeface="Aptos Display"/>
              </a:defRPr>
            </a:pPr>
            <a:r>
              <a:rPr lang="en-IN" sz="3200" dirty="0">
                <a:solidFill>
                  <a:srgbClr val="002060"/>
                </a:solidFill>
              </a:rPr>
              <a:t>Mini Project (CSE7102)</a:t>
            </a:r>
          </a:p>
          <a:p>
            <a:pPr algn="ctr">
              <a:defRPr sz="3100" b="1">
                <a:solidFill>
                  <a:srgbClr val="FFFFFF"/>
                </a:solidFill>
                <a:latin typeface="Aptos Display"/>
              </a:defRPr>
            </a:pPr>
            <a:r>
              <a:rPr lang="en-IN" sz="3200" dirty="0">
                <a:solidFill>
                  <a:srgbClr val="002060"/>
                </a:solidFill>
              </a:rPr>
              <a:t>REVIEW-1</a:t>
            </a:r>
          </a:p>
          <a:p>
            <a:pPr algn="ctr">
              <a:defRPr sz="3100" b="1">
                <a:solidFill>
                  <a:srgbClr val="FFFFFF"/>
                </a:solidFill>
                <a:latin typeface="Aptos Display"/>
              </a:defRPr>
            </a:pPr>
            <a:r>
              <a:rPr lang="en-IN" sz="3200" dirty="0">
                <a:solidFill>
                  <a:srgbClr val="002060"/>
                </a:solidFill>
              </a:rPr>
              <a:t>29-08-2026</a:t>
            </a:r>
            <a:endParaRPr sz="3200" dirty="0">
              <a:solidFill>
                <a:srgbClr val="002060"/>
              </a:solidFill>
            </a:endParaRPr>
          </a:p>
        </p:txBody>
      </p:sp>
    </p:spTree>
    <p:extLst>
      <p:ext uri="{BB962C8B-B14F-4D97-AF65-F5344CB8AC3E}">
        <p14:creationId xmlns:p14="http://schemas.microsoft.com/office/powerpoint/2010/main" val="1466048090"/>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51140" y="951239"/>
            <a:ext cx="10363200" cy="898047"/>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lang="en-GB" dirty="0">
                <a:solidFill>
                  <a:schemeClr val="tx1"/>
                </a:solidFill>
                <a:latin typeface="Cambria" panose="02040503050406030204" pitchFamily="18" charset="0"/>
                <a:ea typeface="Cambria" panose="02040503050406030204" pitchFamily="18" charset="0"/>
              </a:rPr>
              <a:t>Emergency Shelter Allocation Platform</a:t>
            </a:r>
            <a:endParaRPr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553347" y="1709355"/>
            <a:ext cx="3970500"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dirty="0">
                <a:latin typeface="Cambria" panose="02040503050406030204" pitchFamily="18" charset="0"/>
                <a:ea typeface="Cambria" panose="02040503050406030204" pitchFamily="18" charset="0"/>
              </a:rPr>
              <a:t>Project ID:</a:t>
            </a:r>
            <a:endParaRPr dirty="0">
              <a:latin typeface="Cambria" panose="02040503050406030204" pitchFamily="18" charset="0"/>
              <a:ea typeface="Cambria" panose="02040503050406030204" pitchFamily="18" charset="0"/>
            </a:endParaRPr>
          </a:p>
          <a:p>
            <a:pPr marL="0" lvl="0" indent="0" algn="l" rtl="0">
              <a:spcBef>
                <a:spcPts val="400"/>
              </a:spcBef>
              <a:spcAft>
                <a:spcPts val="0"/>
              </a:spcAft>
              <a:buClr>
                <a:srgbClr val="17365D"/>
              </a:buClr>
              <a:buSzPts val="2000"/>
              <a:buNone/>
            </a:pPr>
            <a:endParaRPr dirty="0">
              <a:latin typeface="Cambria" panose="02040503050406030204" pitchFamily="18" charset="0"/>
              <a:ea typeface="Cambria" panose="02040503050406030204" pitchFamily="18" charset="0"/>
            </a:endParaRPr>
          </a:p>
        </p:txBody>
      </p:sp>
      <p:graphicFrame>
        <p:nvGraphicFramePr>
          <p:cNvPr id="89" name="Google Shape;89;p13"/>
          <p:cNvGraphicFramePr/>
          <p:nvPr>
            <p:extLst>
              <p:ext uri="{D42A27DB-BD31-4B8C-83A1-F6EECF244321}">
                <p14:modId xmlns:p14="http://schemas.microsoft.com/office/powerpoint/2010/main" val="599362439"/>
              </p:ext>
            </p:extLst>
          </p:nvPr>
        </p:nvGraphicFramePr>
        <p:xfrm>
          <a:off x="553347" y="2721840"/>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Mr. Irfan Rajab Bhat</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Associate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91" name="Google Shape;91;p13"/>
          <p:cNvSpPr txBox="1"/>
          <p:nvPr/>
        </p:nvSpPr>
        <p:spPr>
          <a:xfrm>
            <a:off x="3986771" y="334089"/>
            <a:ext cx="5425083" cy="552300"/>
          </a:xfrm>
          <a:prstGeom prst="rect">
            <a:avLst/>
          </a:prstGeom>
          <a:noFill/>
          <a:ln>
            <a:noFill/>
          </a:ln>
        </p:spPr>
        <p:txBody>
          <a:bodyPr spcFirstLastPara="1" wrap="square" lIns="91425" tIns="45700" rIns="91425" bIns="45700" anchor="t" anchorCtr="0">
            <a:normAutofit/>
          </a:bodyPr>
          <a:lstStyle/>
          <a:p>
            <a:pPr marL="0" marR="0" lvl="0" indent="0" rtl="0">
              <a:spcBef>
                <a:spcPts val="0"/>
              </a:spcBef>
              <a:spcAft>
                <a:spcPts val="0"/>
              </a:spcAft>
              <a:buClr>
                <a:srgbClr val="17365D"/>
              </a:buClr>
              <a:buSzPct val="100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CSS7102- Mini  Project Review-1</a:t>
            </a: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199449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Program(s): </a:t>
            </a:r>
            <a:r>
              <a:t>Emergency Shelter Allocation Platform</a:t>
            </a:r>
          </a:p>
          <a:p>
            <a:pPr marL="0" marR="0" lvl="0" indent="0" rtl="0">
              <a:spcBef>
                <a:spcPts val="0"/>
              </a:spcBef>
              <a:spcAft>
                <a:spcPts val="0"/>
              </a:spcAft>
              <a:buClr>
                <a:srgbClr val="17365D"/>
              </a:buClr>
              <a:buSzPct val="100000"/>
              <a:buFont typeface="Arial"/>
              <a:buNone/>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a:t>
            </a:r>
            <a:r>
              <a:rPr lang="en-US" sz="2000" b="1" dirty="0" err="1">
                <a:solidFill>
                  <a:schemeClr val="accent1"/>
                </a:solidFill>
                <a:latin typeface="Cambria" panose="02040503050406030204" pitchFamily="18" charset="0"/>
                <a:ea typeface="Cambria" panose="02040503050406030204" pitchFamily="18" charset="0"/>
                <a:cs typeface="Verdana"/>
                <a:sym typeface="Verdana"/>
              </a:rPr>
              <a:t>HoD</a:t>
            </a:r>
            <a:r>
              <a:rPr lang="en-US" sz="2000" b="1" dirty="0">
                <a:solidFill>
                  <a:schemeClr val="accent1"/>
                </a:solidFill>
                <a:latin typeface="Cambria" panose="02040503050406030204" pitchFamily="18" charset="0"/>
                <a:ea typeface="Cambria" panose="02040503050406030204" pitchFamily="18" charset="0"/>
                <a:cs typeface="Verdana"/>
                <a:sym typeface="Verdana"/>
              </a:rPr>
              <a:t> (Team Leader’s): </a:t>
            </a:r>
            <a:r>
              <a:t>Dr. Gopal K Shyam</a:t>
            </a:r>
          </a:p>
          <a:p>
            <a:pPr lvl="0">
              <a:buClr>
                <a:srgbClr val="17365D"/>
              </a:buClr>
              <a:buSzPct val="100000"/>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2000" b="1" dirty="0">
                <a:solidFill>
                  <a:schemeClr val="accent1"/>
                </a:solidFill>
                <a:latin typeface="Cambria" panose="02040503050406030204" pitchFamily="18" charset="0"/>
                <a:ea typeface="Cambria" panose="02040503050406030204" pitchFamily="18" charset="0"/>
                <a:cs typeface="Verdana"/>
                <a:sym typeface="Verdana"/>
              </a:rPr>
              <a:t>(Team Leader’s)</a:t>
            </a: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 </a:t>
            </a: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2000" b="1" dirty="0">
                <a:solidFill>
                  <a:schemeClr val="tx1"/>
                </a:solidFill>
                <a:latin typeface="Cambria" panose="02040503050406030204" pitchFamily="18" charset="0"/>
                <a:ea typeface="Cambria" panose="02040503050406030204" pitchFamily="18" charset="0"/>
                <a:cs typeface="Verdana"/>
                <a:sym typeface="Verdana"/>
              </a:rPr>
              <a:t>M</a:t>
            </a:r>
            <a:r>
              <a:rPr lang="en-US" sz="2000" b="1" i="0" u="none" strike="noStrike" cap="none" dirty="0">
                <a:solidFill>
                  <a:schemeClr val="tx1"/>
                </a:solidFill>
                <a:latin typeface="Cambria" panose="02040503050406030204" pitchFamily="18" charset="0"/>
                <a:ea typeface="Cambria" panose="02040503050406030204" pitchFamily="18" charset="0"/>
                <a:cs typeface="Verdana"/>
                <a:sym typeface="Verdana"/>
              </a:rPr>
              <a:t>r. </a:t>
            </a:r>
            <a:r>
              <a:rPr lang="en-US" sz="2000" b="1" dirty="0">
                <a:solidFill>
                  <a:schemeClr val="tx1"/>
                </a:solidFill>
                <a:latin typeface="Cambria" panose="02040503050406030204" pitchFamily="18" charset="0"/>
                <a:ea typeface="Cambria" panose="02040503050406030204" pitchFamily="18" charset="0"/>
                <a:cs typeface="Verdana"/>
                <a:sym typeface="Verdana"/>
              </a:rPr>
              <a:t>Muthuraju V</a:t>
            </a:r>
            <a:endParaRPr sz="20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graphicFrame>
        <p:nvGraphicFramePr>
          <p:cNvPr id="2" name="Table 1">
            <a:extLst>
              <a:ext uri="{FF2B5EF4-FFF2-40B4-BE49-F238E27FC236}">
                <a16:creationId xmlns:a16="http://schemas.microsoft.com/office/drawing/2014/main" id="{67669B82-28E1-6B84-884A-EF2B68034CD5}"/>
              </a:ext>
            </a:extLst>
          </p:cNvPr>
          <p:cNvGraphicFramePr>
            <a:graphicFrameLocks noGrp="1"/>
          </p:cNvGraphicFramePr>
          <p:nvPr>
            <p:extLst>
              <p:ext uri="{D42A27DB-BD31-4B8C-83A1-F6EECF244321}">
                <p14:modId xmlns:p14="http://schemas.microsoft.com/office/powerpoint/2010/main" val="4238291382"/>
              </p:ext>
            </p:extLst>
          </p:nvPr>
        </p:nvGraphicFramePr>
        <p:xfrm>
          <a:off x="429369" y="2820448"/>
          <a:ext cx="5542653" cy="1483360"/>
        </p:xfrm>
        <a:graphic>
          <a:graphicData uri="http://schemas.openxmlformats.org/drawingml/2006/table">
            <a:tbl>
              <a:tblPr firstRow="1" bandRow="1"/>
              <a:tblGrid>
                <a:gridCol w="659051">
                  <a:extLst>
                    <a:ext uri="{9D8B030D-6E8A-4147-A177-3AD203B41FA5}">
                      <a16:colId xmlns:a16="http://schemas.microsoft.com/office/drawing/2014/main" val="3892496743"/>
                    </a:ext>
                  </a:extLst>
                </a:gridCol>
                <a:gridCol w="2897486">
                  <a:extLst>
                    <a:ext uri="{9D8B030D-6E8A-4147-A177-3AD203B41FA5}">
                      <a16:colId xmlns:a16="http://schemas.microsoft.com/office/drawing/2014/main" val="1797090138"/>
                    </a:ext>
                  </a:extLst>
                </a:gridCol>
                <a:gridCol w="1986116">
                  <a:extLst>
                    <a:ext uri="{9D8B030D-6E8A-4147-A177-3AD203B41FA5}">
                      <a16:colId xmlns:a16="http://schemas.microsoft.com/office/drawing/2014/main" val="2191578378"/>
                    </a:ext>
                  </a:extLst>
                </a:gridCol>
              </a:tblGrid>
              <a:tr h="370840">
                <a:tc>
                  <a:txBody>
                    <a:bodyPr/>
                    <a:lstStyle/>
                    <a:p>
                      <a:pPr algn="ctr"/>
                      <a:r>
                        <a:rPr lang="en-IN" b="1" dirty="0" err="1"/>
                        <a:t>Sl.No</a:t>
                      </a:r>
                      <a:endParaRPr lang="en-GB" b="1" dirty="0"/>
                    </a:p>
                  </a:txBody>
                  <a:tcPr/>
                </a:tc>
                <a:tc>
                  <a:txBody>
                    <a:bodyPr/>
                    <a:lstStyle/>
                    <a:p>
                      <a:pPr algn="ctr"/>
                      <a:r>
                        <a:rPr lang="en-IN" b="1" dirty="0"/>
                        <a:t>Student Name</a:t>
                      </a:r>
                      <a:endParaRPr lang="en-GB" b="1" dirty="0"/>
                    </a:p>
                  </a:txBody>
                  <a:tcPr/>
                </a:tc>
                <a:tc>
                  <a:txBody>
                    <a:bodyPr/>
                    <a:lstStyle/>
                    <a:p>
                      <a:pPr algn="ctr"/>
                      <a:r>
                        <a:rPr lang="en-IN" b="1" dirty="0"/>
                        <a:t>Roll Number</a:t>
                      </a:r>
                      <a:endParaRPr lang="en-GB" b="1" dirty="0"/>
                    </a:p>
                  </a:txBody>
                  <a:tcPr/>
                </a:tc>
                <a:extLst>
                  <a:ext uri="{0D108BD9-81ED-4DB2-BD59-A6C34878D82A}">
                    <a16:rowId xmlns:a16="http://schemas.microsoft.com/office/drawing/2014/main" val="3700901227"/>
                  </a:ext>
                </a:extLst>
              </a:tr>
              <a:tr h="370840">
                <a:tc>
                  <a:txBody>
                    <a:bodyPr/>
                    <a:lstStyle/>
                    <a:p>
                      <a:r>
                        <a:rPr lang="en-IN" dirty="0"/>
                        <a:t>1</a:t>
                      </a:r>
                      <a:endParaRPr lang="en-GB" dirty="0"/>
                    </a:p>
                  </a:txBody>
                  <a:tcPr/>
                </a:tc>
                <a:tc>
                  <a:txBody>
                    <a:bodyPr/>
                    <a:lstStyle/>
                    <a:p>
                      <a:pPr>
                        <a:defRPr sz="1200" b="0"/>
                      </a:pPr>
                      <a:r>
                        <a:t>Sharan Poojari (Team Leader)</a:t>
                      </a:r>
                    </a:p>
                  </a:txBody>
                  <a:tcPr/>
                </a:tc>
                <a:tc>
                  <a:txBody>
                    <a:bodyPr/>
                    <a:lstStyle/>
                    <a:p>
                      <a:pPr>
                        <a:defRPr sz="1200" b="0"/>
                      </a:pPr>
                      <a:r>
                        <a:t>20231ISE0089</a:t>
                      </a:r>
                    </a:p>
                  </a:txBody>
                  <a:tcPr/>
                </a:tc>
                <a:extLst>
                  <a:ext uri="{0D108BD9-81ED-4DB2-BD59-A6C34878D82A}">
                    <a16:rowId xmlns:a16="http://schemas.microsoft.com/office/drawing/2014/main" val="2510047620"/>
                  </a:ext>
                </a:extLst>
              </a:tr>
              <a:tr h="370840">
                <a:tc>
                  <a:txBody>
                    <a:bodyPr/>
                    <a:lstStyle/>
                    <a:p>
                      <a:r>
                        <a:rPr lang="en-IN" dirty="0"/>
                        <a:t>2</a:t>
                      </a:r>
                      <a:endParaRPr lang="en-GB" dirty="0"/>
                    </a:p>
                  </a:txBody>
                  <a:tcPr/>
                </a:tc>
                <a:tc>
                  <a:txBody>
                    <a:bodyPr/>
                    <a:lstStyle/>
                    <a:p>
                      <a:pPr>
                        <a:defRPr sz="1200" b="0"/>
                      </a:pPr>
                      <a:r>
                        <a:t>Suhas S Kattimani</a:t>
                      </a:r>
                    </a:p>
                  </a:txBody>
                  <a:tcPr/>
                </a:tc>
                <a:tc>
                  <a:txBody>
                    <a:bodyPr/>
                    <a:lstStyle/>
                    <a:p>
                      <a:pPr>
                        <a:defRPr sz="1200" b="0"/>
                      </a:pPr>
                      <a:r>
                        <a:t>20231ISE0090</a:t>
                      </a:r>
                    </a:p>
                  </a:txBody>
                  <a:tcPr/>
                </a:tc>
                <a:extLst>
                  <a:ext uri="{0D108BD9-81ED-4DB2-BD59-A6C34878D82A}">
                    <a16:rowId xmlns:a16="http://schemas.microsoft.com/office/drawing/2014/main" val="1024758356"/>
                  </a:ext>
                </a:extLst>
              </a:tr>
              <a:tr h="370840">
                <a:tc>
                  <a:txBody>
                    <a:bodyPr/>
                    <a:lstStyle/>
                    <a:p>
                      <a:r>
                        <a:rPr lang="en-IN" dirty="0"/>
                        <a:t>3</a:t>
                      </a:r>
                      <a:endParaRPr lang="en-GB" dirty="0"/>
                    </a:p>
                  </a:txBody>
                  <a:tcPr/>
                </a:tc>
                <a:tc>
                  <a:txBody>
                    <a:bodyPr/>
                    <a:lstStyle/>
                    <a:p>
                      <a:pPr>
                        <a:defRPr sz="1200" b="0"/>
                      </a:pPr>
                      <a:r>
                        <a:t>Harshil Gurjar</a:t>
                      </a:r>
                    </a:p>
                  </a:txBody>
                  <a:tcPr/>
                </a:tc>
                <a:tc>
                  <a:txBody>
                    <a:bodyPr/>
                    <a:lstStyle/>
                    <a:p>
                      <a:pPr>
                        <a:defRPr sz="1200" b="0"/>
                      </a:pPr>
                      <a:r>
                        <a:t>20231ISE0056</a:t>
                      </a:r>
                    </a:p>
                  </a:txBody>
                  <a:tcPr/>
                </a:tc>
                <a:extLst>
                  <a:ext uri="{0D108BD9-81ED-4DB2-BD59-A6C34878D82A}">
                    <a16:rowId xmlns:a16="http://schemas.microsoft.com/office/drawing/2014/main" val="2664575553"/>
                  </a:ext>
                </a:extLst>
              </a:tr>
            </a:tbl>
          </a:graphicData>
        </a:graphic>
      </p:graphicFrame>
      <p:sp>
        <p:nvSpPr>
          <p:cNvPr id="4" name="TextBox 3">
            <a:extLst>
              <a:ext uri="{FF2B5EF4-FFF2-40B4-BE49-F238E27FC236}">
                <a16:creationId xmlns:a16="http://schemas.microsoft.com/office/drawing/2014/main" id="{8ADAAE0D-9E2B-1BC4-51AE-E3E0CC59230D}"/>
              </a:ext>
            </a:extLst>
          </p:cNvPr>
          <p:cNvSpPr txBox="1"/>
          <p:nvPr/>
        </p:nvSpPr>
        <p:spPr>
          <a:xfrm>
            <a:off x="429369" y="2330214"/>
            <a:ext cx="6159910" cy="400110"/>
          </a:xfrm>
          <a:prstGeom prst="rect">
            <a:avLst/>
          </a:prstGeom>
          <a:noFill/>
        </p:spPr>
        <p:txBody>
          <a:bodyPr wrap="square">
            <a:spAutoFit/>
          </a:bodyPr>
          <a:lstStyle/>
          <a:p>
            <a:pPr marL="0" lvl="0" indent="0" algn="l" rtl="0">
              <a:spcBef>
                <a:spcPts val="0"/>
              </a:spcBef>
              <a:spcAft>
                <a:spcPts val="0"/>
              </a:spcAft>
              <a:buClr>
                <a:srgbClr val="17365D"/>
              </a:buClr>
              <a:buSzPts val="2000"/>
              <a:buNone/>
            </a:pPr>
            <a:r>
              <a:rPr lang="en-GB" sz="2000" b="1" dirty="0">
                <a:solidFill>
                  <a:srgbClr val="17365D"/>
                </a:solidFill>
                <a:latin typeface="Cambria" panose="02040503050406030204" pitchFamily="18" charset="0"/>
                <a:ea typeface="Cambria" panose="02040503050406030204" pitchFamily="18" charset="0"/>
                <a:sym typeface="Verdana"/>
              </a:rPr>
              <a:t>Group members details:</a:t>
            </a:r>
          </a:p>
        </p:txBody>
      </p:sp>
      <p:sp>
        <p:nvSpPr>
          <p:cNvPr id="5" name="Google Shape;88;p13">
            <a:extLst>
              <a:ext uri="{FF2B5EF4-FFF2-40B4-BE49-F238E27FC236}">
                <a16:creationId xmlns:a16="http://schemas.microsoft.com/office/drawing/2014/main" id="{C68A9A96-FA24-D641-CFDC-9A25FFD27478}"/>
              </a:ext>
            </a:extLst>
          </p:cNvPr>
          <p:cNvSpPr txBox="1">
            <a:spLocks/>
          </p:cNvSpPr>
          <p:nvPr/>
        </p:nvSpPr>
        <p:spPr>
          <a:xfrm>
            <a:off x="7668155" y="1709355"/>
            <a:ext cx="3970500" cy="552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ctr" rtl="0">
              <a:lnSpc>
                <a:spcPct val="100000"/>
              </a:lnSpc>
              <a:spcBef>
                <a:spcPts val="400"/>
              </a:spcBef>
              <a:spcAft>
                <a:spcPts val="0"/>
              </a:spcAft>
              <a:buClr>
                <a:srgbClr val="17365D"/>
              </a:buClr>
              <a:buSzPts val="2000"/>
              <a:buFont typeface="Arial"/>
              <a:buNone/>
              <a:defRPr sz="2000" b="1" i="0" u="none" strike="noStrike" cap="none">
                <a:solidFill>
                  <a:srgbClr val="17365D"/>
                </a:solidFill>
                <a:latin typeface="Verdana"/>
                <a:ea typeface="Verdana"/>
                <a:cs typeface="Verdana"/>
                <a:sym typeface="Verdana"/>
              </a:defRPr>
            </a:lvl1pPr>
            <a:lvl2pPr marL="914400" marR="0" lvl="1"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Verdana"/>
                <a:ea typeface="Verdana"/>
                <a:cs typeface="Verdana"/>
                <a:sym typeface="Verdana"/>
              </a:defRPr>
            </a:lvl2pPr>
            <a:lvl3pPr marL="1371600" marR="0" lvl="2" indent="-342900" algn="ctr" rtl="0">
              <a:lnSpc>
                <a:spcPct val="100000"/>
              </a:lnSpc>
              <a:spcBef>
                <a:spcPts val="360"/>
              </a:spcBef>
              <a:spcAft>
                <a:spcPts val="0"/>
              </a:spcAft>
              <a:buClr>
                <a:srgbClr val="888888"/>
              </a:buClr>
              <a:buSzPts val="1800"/>
              <a:buFont typeface="Arial"/>
              <a:buNone/>
              <a:defRPr sz="1800" b="0" i="0" u="none" strike="noStrike" cap="none">
                <a:solidFill>
                  <a:srgbClr val="888888"/>
                </a:solidFill>
                <a:latin typeface="Verdana"/>
                <a:ea typeface="Verdana"/>
                <a:cs typeface="Verdana"/>
                <a:sym typeface="Verdana"/>
              </a:defRPr>
            </a:lvl3pPr>
            <a:lvl4pPr marL="1828800" marR="0" lvl="3" indent="-330200" algn="ctr" rtl="0">
              <a:lnSpc>
                <a:spcPct val="100000"/>
              </a:lnSpc>
              <a:spcBef>
                <a:spcPts val="320"/>
              </a:spcBef>
              <a:spcAft>
                <a:spcPts val="0"/>
              </a:spcAft>
              <a:buClr>
                <a:srgbClr val="888888"/>
              </a:buClr>
              <a:buSzPts val="1600"/>
              <a:buFont typeface="Arial"/>
              <a:buNone/>
              <a:defRPr sz="1600" b="0" i="0" u="none" strike="noStrike" cap="none">
                <a:solidFill>
                  <a:srgbClr val="888888"/>
                </a:solidFill>
                <a:latin typeface="Verdana"/>
                <a:ea typeface="Verdana"/>
                <a:cs typeface="Verdana"/>
                <a:sym typeface="Verdana"/>
              </a:defRPr>
            </a:lvl4pPr>
            <a:lvl5pPr marL="2286000" marR="0" lvl="4" indent="-330200" algn="ctr" rtl="0">
              <a:lnSpc>
                <a:spcPct val="100000"/>
              </a:lnSpc>
              <a:spcBef>
                <a:spcPts val="320"/>
              </a:spcBef>
              <a:spcAft>
                <a:spcPts val="0"/>
              </a:spcAft>
              <a:buClr>
                <a:srgbClr val="888888"/>
              </a:buClr>
              <a:buSzPts val="1600"/>
              <a:buFont typeface="Arial"/>
              <a:buNone/>
              <a:defRPr sz="1600" b="0" i="0" u="none" strike="noStrike" cap="none">
                <a:solidFill>
                  <a:srgbClr val="888888"/>
                </a:solidFill>
                <a:latin typeface="Verdana"/>
                <a:ea typeface="Verdana"/>
                <a:cs typeface="Verdana"/>
                <a:sym typeface="Verdana"/>
              </a:defRPr>
            </a:lvl5pPr>
            <a:lvl6pPr marL="2743200" marR="0" lvl="5"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Bookman Old Style"/>
                <a:ea typeface="Bookman Old Style"/>
                <a:cs typeface="Bookman Old Style"/>
                <a:sym typeface="Bookman Old Style"/>
              </a:defRPr>
            </a:lvl6pPr>
            <a:lvl7pPr marL="3200400" marR="0" lvl="6"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Bookman Old Style"/>
                <a:ea typeface="Bookman Old Style"/>
                <a:cs typeface="Bookman Old Style"/>
                <a:sym typeface="Bookman Old Style"/>
              </a:defRPr>
            </a:lvl7pPr>
            <a:lvl8pPr marL="3657600" marR="0" lvl="7"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Bookman Old Style"/>
                <a:ea typeface="Bookman Old Style"/>
                <a:cs typeface="Bookman Old Style"/>
                <a:sym typeface="Bookman Old Style"/>
              </a:defRPr>
            </a:lvl8pPr>
            <a:lvl9pPr marL="4114800" marR="0" lvl="8"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Bookman Old Style"/>
                <a:ea typeface="Bookman Old Style"/>
                <a:cs typeface="Bookman Old Style"/>
                <a:sym typeface="Bookman Old Style"/>
              </a:defRPr>
            </a:lvl9pPr>
          </a:lstStyle>
          <a:p>
            <a:pPr marL="0" indent="0" algn="l">
              <a:spcBef>
                <a:spcPts val="0"/>
              </a:spcBef>
            </a:pPr>
            <a:r>
              <a:rPr lang="en-GB" dirty="0">
                <a:latin typeface="Cambria" panose="02040503050406030204" pitchFamily="18" charset="0"/>
                <a:ea typeface="Cambria" panose="02040503050406030204" pitchFamily="18" charset="0"/>
              </a:rPr>
              <a:t>Panel No:</a:t>
            </a:r>
          </a:p>
          <a:p>
            <a:pPr marL="0" indent="0" algn="l"/>
            <a:endParaRPr lang="en-GB" dirty="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IN" dirty="0">
                <a:latin typeface="Cambria" panose="02040503050406030204" pitchFamily="18" charset="0"/>
                <a:ea typeface="Cambria" panose="02040503050406030204" pitchFamily="18" charset="0"/>
              </a:rPr>
              <a:t>I</a:t>
            </a:r>
            <a:r>
              <a:rPr lang="en-GB" dirty="0">
                <a:latin typeface="Cambria" panose="02040503050406030204" pitchFamily="18" charset="0"/>
                <a:ea typeface="Cambria" panose="02040503050406030204" pitchFamily="18" charset="0"/>
              </a:rPr>
              <a:t>NDEX</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3924299"/>
          </a:xfrm>
          <a:prstGeom prst="rect">
            <a:avLst/>
          </a:prstGeom>
          <a:noFill/>
          <a:ln>
            <a:noFill/>
          </a:ln>
        </p:spPr>
        <p:txBody>
          <a:bodyPr spcFirstLastPara="1" wrap="square" lIns="91425" tIns="45700" rIns="91425" bIns="45700" anchor="t" anchorCtr="0">
            <a:normAutofit fontScale="70000" lnSpcReduction="20000"/>
          </a:bodyPr>
          <a:lstStyle/>
          <a:p>
            <a:pPr marL="495300" indent="-342900" algn="just">
              <a:lnSpc>
                <a:spcPct val="200000"/>
              </a:lnSpc>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Problem Statement</a:t>
            </a:r>
          </a:p>
          <a:p>
            <a:pPr marL="495300" indent="-342900" algn="just">
              <a:lnSpc>
                <a:spcPct val="200000"/>
              </a:lnSpc>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Git Hub Link</a:t>
            </a:r>
          </a:p>
          <a:p>
            <a:pPr marL="495300" indent="-342900" algn="just">
              <a:lnSpc>
                <a:spcPct val="200000"/>
              </a:lnSpc>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Introduction</a:t>
            </a:r>
          </a:p>
          <a:p>
            <a:pPr marL="495300" indent="-342900" algn="just">
              <a:lnSpc>
                <a:spcPct val="200000"/>
              </a:lnSpc>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Literature Review</a:t>
            </a:r>
          </a:p>
          <a:p>
            <a:pPr marL="495300" indent="-342900" algn="just">
              <a:lnSpc>
                <a:spcPct val="200000"/>
              </a:lnSpc>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Architecture Diagram</a:t>
            </a:r>
          </a:p>
          <a:p>
            <a:pPr marL="495300" lvl="0" indent="-342900" algn="just">
              <a:lnSpc>
                <a:spcPct val="200000"/>
              </a:lnSpc>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Analysis of Problem Statement/Output Expected</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r>
              <a:rPr lang="en-US" dirty="0">
                <a:latin typeface="Cambria" panose="02040503050406030204" pitchFamily="18" charset="0"/>
                <a:ea typeface="Cambria" panose="02040503050406030204" pitchFamily="18" charset="0"/>
              </a:rPr>
              <a:t>Timeline of the Project(Gantt Chart)</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r>
              <a:rPr lang="en-US"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533626" cy="5247967"/>
          </a:xfrm>
          <a:prstGeom prst="rect">
            <a:avLst/>
          </a:prstGeom>
          <a:noFill/>
          <a:ln>
            <a:noFill/>
          </a:ln>
        </p:spPr>
        <p:txBody>
          <a:bodyPr spcFirstLastPara="1" wrap="square" lIns="91425" tIns="45700" rIns="91425" bIns="45700" anchor="t" anchorCtr="0">
            <a:normAutofit fontScale="85000" lnSpcReduction="20000"/>
          </a:bodyPr>
          <a:lstStyle/>
          <a:p>
            <a:pPr marL="342900" lvl="0" indent="-190500" algn="just">
              <a:lnSpc>
                <a:spcPct val="200000"/>
              </a:lnSpc>
              <a:spcBef>
                <a:spcPts val="0"/>
              </a:spcBef>
              <a:buNone/>
            </a:pPr>
            <a:r>
              <a:rPr lang="en-US" dirty="0">
                <a:latin typeface="Cambria" panose="02040503050406030204" pitchFamily="18" charset="0"/>
                <a:ea typeface="Cambria" panose="02040503050406030204" pitchFamily="18" charset="0"/>
              </a:rPr>
              <a:t>Category (Hardware / Software / Both) :</a:t>
            </a:r>
            <a:r>
              <a:rPr dirty="0"/>
              <a:t> Software</a:t>
            </a:r>
          </a:p>
          <a:p>
            <a:pPr marL="342900" lvl="0" indent="-190500" algn="just">
              <a:lnSpc>
                <a:spcPct val="200000"/>
              </a:lnSpc>
              <a:spcBef>
                <a:spcPts val="0"/>
              </a:spcBef>
              <a:buNone/>
            </a:pPr>
            <a:r>
              <a:rPr lang="en-US" dirty="0">
                <a:latin typeface="Cambria" panose="02040503050406030204" pitchFamily="18" charset="0"/>
                <a:ea typeface="Cambria" panose="02040503050406030204" pitchFamily="18" charset="0"/>
              </a:rPr>
              <a:t>Problem Description:</a:t>
            </a:r>
            <a:r>
              <a:rPr dirty="0"/>
              <a:t> Displaced populations during floods, cyclones and earthquakes must be matched to safe, capacity-limited shelters quickly and fairly. Manual allocation is slow, error-prone and does not scale across districts or hazard types. This project builds a pluggable pipeline that discovers hazard-safe shelters from open map data, estimates their capacity, and computes an optimal, capacity-constrained, vulnerability-aware allocation of displaced groups to shelters, validated on a real Assam flood scenario.</a:t>
            </a:r>
          </a:p>
          <a:p>
            <a:pPr marL="342900" lvl="0" indent="-190500" algn="just">
              <a:lnSpc>
                <a:spcPct val="200000"/>
              </a:lnSpc>
              <a:spcBef>
                <a:spcPts val="0"/>
              </a:spcBef>
              <a:buNone/>
            </a:pPr>
            <a:r>
              <a:rPr lang="en-US" dirty="0">
                <a:latin typeface="Cambria" panose="02040503050406030204" pitchFamily="18" charset="0"/>
                <a:ea typeface="Cambria" panose="02040503050406030204" pitchFamily="18" charset="0"/>
              </a:rPr>
              <a:t>Difficulty Level: </a:t>
            </a:r>
            <a:r>
              <a:rPr dirty="0"/>
              <a:t> High</a:t>
            </a: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dirty="0">
                <a:latin typeface="Cambria" panose="02040503050406030204" pitchFamily="18" charset="0"/>
                <a:ea typeface="Cambria" panose="02040503050406030204" pitchFamily="18" charset="0"/>
              </a:rPr>
              <a:t>The Github link provided should have public access permission.</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r>
              <a:rPr lang="en-US" b="1" dirty="0">
                <a:solidFill>
                  <a:schemeClr val="accent2">
                    <a:lumMod val="75000"/>
                  </a:schemeClr>
                </a:solidFill>
                <a:latin typeface="Cambria" panose="02040503050406030204" pitchFamily="18" charset="0"/>
                <a:ea typeface="Cambria" panose="02040503050406030204" pitchFamily="18" charset="0"/>
              </a:rPr>
              <a:t>Github Link</a:t>
            </a:r>
            <a:r>
              <a:rPr sz="1600"/>
              <a:t>: https://github.com/HarshilxAI/Emergency-Shelter-Allocation-Platform</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algn="just">
              <a:lnSpc>
                <a:spcPct val="200000"/>
              </a:lnSpc>
            </a:pPr>
            <a:r>
              <a:rPr lang="en-US" dirty="0">
                <a:latin typeface="Cambria" panose="02040503050406030204" pitchFamily="18" charset="0"/>
                <a:ea typeface="Cambria" panose="02040503050406030204" pitchFamily="18" charset="0"/>
              </a:rPr>
              <a:t>Introduction</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r>
              <a:rPr lang="en-US" dirty="0">
                <a:latin typeface="Cambria" panose="02040503050406030204" pitchFamily="18" charset="0"/>
                <a:ea typeface="Cambria" panose="02040503050406030204" pitchFamily="18" charset="0"/>
              </a:rPr>
              <a:t>About the project:</a:t>
            </a:r>
            <a:r>
              <a:rPr sz="1500"/>
              <a:t> The Emergency Shelter Allocation Platform is a disaster-response decision-support system that identifies suitable emergency shelters and optimally allocates displaced populations to them during floods, cyclones and earthquakes. It is architected as a pluggable eight-stage pipeline (event setup, shelter discovery, suitability scoring, capacity estimation, population input, distance calculation, optimization and persistence, visualization and dashboard) so that the same engineering works for any Indian state and any hazard type, with only the data sources and suitability rules changing. Assam flood response is used as the fully validated pilot implementation, backtested against a real historical flood event. The platform is built entirely on free, open-source geospatial tools (OpenStreetMap, OpenRouteService, PuLP, Streamlit) so it can be adopted by resource-limited state disaster authorities without licensing cost.</a:t>
            </a: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0308161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20CF3E6C-9D22-F1F7-4C96-42BCE8ACBD17}"/>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395F6BE3-C2E7-E383-C049-39CB89CBDC3C}"/>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algn="just">
              <a:lnSpc>
                <a:spcPct val="200000"/>
              </a:lnSpc>
            </a:pPr>
            <a:r>
              <a:rPr lang="en-US" dirty="0">
                <a:latin typeface="Cambria" panose="02040503050406030204" pitchFamily="18" charset="0"/>
                <a:ea typeface="Cambria" panose="02040503050406030204" pitchFamily="18" charset="0"/>
              </a:rPr>
              <a:t>Literature Review</a:t>
            </a:r>
          </a:p>
        </p:txBody>
      </p:sp>
      <p:sp>
        <p:nvSpPr>
          <p:cNvPr id="115" name="Google Shape;115;p17">
            <a:extLst>
              <a:ext uri="{FF2B5EF4-FFF2-40B4-BE49-F238E27FC236}">
                <a16:creationId xmlns:a16="http://schemas.microsoft.com/office/drawing/2014/main" id="{4E2DF033-1663-A121-868A-192390F88A5F}"/>
              </a:ext>
            </a:extLst>
          </p:cNvPr>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r>
              <a:rPr lang="en-US" sz="1300" dirty="0">
                <a:latin typeface="Cambria" panose="02040503050406030204" pitchFamily="18" charset="0"/>
                <a:ea typeface="Cambria" panose="02040503050406030204" pitchFamily="18" charset="0"/>
              </a:rPr>
              <a:t>10 IEEE Xplore papers were reviewed, spanning shelter-allocation optimisation, GIS-based flood/hazard analysis and open-source disaster mapping:</a:t>
            </a: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graphicFrame>
        <p:nvGraphicFramePr>
          <p:cNvPr id="116" name="Table 115"/>
          <p:cNvGraphicFramePr>
            <a:graphicFrameLocks noGrp="1"/>
          </p:cNvGraphicFramePr>
          <p:nvPr/>
        </p:nvGraphicFramePr>
        <p:xfrm>
          <a:off x="812800" y="1750000"/>
          <a:ext cx="10668000" cy="4300000"/>
        </p:xfrm>
        <a:graphic>
          <a:graphicData uri="http://schemas.openxmlformats.org/drawingml/2006/table">
            <a:tbl>
              <a:tblPr firstRow="1" bandRow="1">
                <a:tableStyleId>{5C22544A-7EE6-4342-B048-85BDC9FD1C3A}</a:tableStyleId>
              </a:tblPr>
              <a:tblGrid>
                <a:gridCol w="6800000">
                  <a:extLst>
                    <a:ext uri="{9D8B030D-6E8A-4147-A177-3AD203B41FA5}">
                      <a16:colId xmlns:a16="http://schemas.microsoft.com/office/drawing/2014/main" val="20000"/>
                    </a:ext>
                  </a:extLst>
                </a:gridCol>
                <a:gridCol w="1500000">
                  <a:extLst>
                    <a:ext uri="{9D8B030D-6E8A-4147-A177-3AD203B41FA5}">
                      <a16:colId xmlns:a16="http://schemas.microsoft.com/office/drawing/2014/main" val="20001"/>
                    </a:ext>
                  </a:extLst>
                </a:gridCol>
                <a:gridCol w="2368000">
                  <a:extLst>
                    <a:ext uri="{9D8B030D-6E8A-4147-A177-3AD203B41FA5}">
                      <a16:colId xmlns:a16="http://schemas.microsoft.com/office/drawing/2014/main" val="20002"/>
                    </a:ext>
                  </a:extLst>
                </a:gridCol>
              </a:tblGrid>
              <a:tr h="390909">
                <a:tc>
                  <a:txBody>
                    <a:bodyPr/>
                    <a:lstStyle/>
                    <a:p>
                      <a:pPr>
                        <a:defRPr sz="1100" b="1"/>
                      </a:pPr>
                      <a:r>
                        <a:t>Paper Title</a:t>
                      </a:r>
                    </a:p>
                  </a:txBody>
                  <a:tcPr/>
                </a:tc>
                <a:tc>
                  <a:txBody>
                    <a:bodyPr/>
                    <a:lstStyle/>
                    <a:p>
                      <a:pPr>
                        <a:defRPr sz="1100" b="1"/>
                      </a:pPr>
                      <a:r>
                        <a:t>Source</a:t>
                      </a:r>
                    </a:p>
                  </a:txBody>
                  <a:tcPr/>
                </a:tc>
                <a:tc>
                  <a:txBody>
                    <a:bodyPr/>
                    <a:lstStyle/>
                    <a:p>
                      <a:pPr>
                        <a:defRPr sz="1100" b="1"/>
                      </a:pPr>
                      <a:r>
                        <a:t>IEEE Xplore Link</a:t>
                      </a:r>
                    </a:p>
                  </a:txBody>
                  <a:tcPr/>
                </a:tc>
                <a:extLst>
                  <a:ext uri="{0D108BD9-81ED-4DB2-BD59-A6C34878D82A}">
                    <a16:rowId xmlns:a16="http://schemas.microsoft.com/office/drawing/2014/main" val="10000"/>
                  </a:ext>
                </a:extLst>
              </a:tr>
              <a:tr h="390909">
                <a:tc>
                  <a:txBody>
                    <a:bodyPr/>
                    <a:lstStyle/>
                    <a:p>
                      <a:pPr>
                        <a:defRPr sz="900" b="0"/>
                      </a:pPr>
                      <a:r>
                        <a:t>Optimization of Emergency Logistics Scheduling in Complex Disaster Relief Situations</a:t>
                      </a:r>
                    </a:p>
                  </a:txBody>
                  <a:tcPr/>
                </a:tc>
                <a:tc>
                  <a:txBody>
                    <a:bodyPr/>
                    <a:lstStyle/>
                    <a:p>
                      <a:pPr>
                        <a:defRPr sz="900" b="0"/>
                      </a:pPr>
                      <a:r>
                        <a:t>IEEE, 2024</a:t>
                      </a:r>
                    </a:p>
                  </a:txBody>
                  <a:tcPr/>
                </a:tc>
                <a:tc>
                  <a:txBody>
                    <a:bodyPr/>
                    <a:lstStyle/>
                    <a:p>
                      <a:pPr>
                        <a:defRPr sz="800" b="0"/>
                      </a:pPr>
                      <a:r>
                        <a:t>ieeexplore.ieee.org/document/10703875</a:t>
                      </a:r>
                    </a:p>
                  </a:txBody>
                  <a:tcPr/>
                </a:tc>
                <a:extLst>
                  <a:ext uri="{0D108BD9-81ED-4DB2-BD59-A6C34878D82A}">
                    <a16:rowId xmlns:a16="http://schemas.microsoft.com/office/drawing/2014/main" val="10001"/>
                  </a:ext>
                </a:extLst>
              </a:tr>
              <a:tr h="390909">
                <a:tc>
                  <a:txBody>
                    <a:bodyPr/>
                    <a:lstStyle/>
                    <a:p>
                      <a:pPr>
                        <a:defRPr sz="900" b="0"/>
                      </a:pPr>
                      <a:r>
                        <a:t>An Optimized Resource Allocation Approach in Limited Emergency Situations using NSGA-II</a:t>
                      </a:r>
                    </a:p>
                  </a:txBody>
                  <a:tcPr/>
                </a:tc>
                <a:tc>
                  <a:txBody>
                    <a:bodyPr/>
                    <a:lstStyle/>
                    <a:p>
                      <a:pPr>
                        <a:defRPr sz="900" b="0"/>
                      </a:pPr>
                      <a:r>
                        <a:t>IEEE, 2024</a:t>
                      </a:r>
                    </a:p>
                  </a:txBody>
                  <a:tcPr/>
                </a:tc>
                <a:tc>
                  <a:txBody>
                    <a:bodyPr/>
                    <a:lstStyle/>
                    <a:p>
                      <a:pPr>
                        <a:defRPr sz="800" b="0"/>
                      </a:pPr>
                      <a:r>
                        <a:t>ieeexplore.ieee.org/document/10429276</a:t>
                      </a:r>
                    </a:p>
                  </a:txBody>
                  <a:tcPr/>
                </a:tc>
                <a:extLst>
                  <a:ext uri="{0D108BD9-81ED-4DB2-BD59-A6C34878D82A}">
                    <a16:rowId xmlns:a16="http://schemas.microsoft.com/office/drawing/2014/main" val="10002"/>
                  </a:ext>
                </a:extLst>
              </a:tr>
              <a:tr h="390909">
                <a:tc>
                  <a:txBody>
                    <a:bodyPr/>
                    <a:lstStyle/>
                    <a:p>
                      <a:pPr>
                        <a:defRPr sz="900" b="0"/>
                      </a:pPr>
                      <a:r>
                        <a:t>Urban Emergency Shelter Site Selection</a:t>
                      </a:r>
                    </a:p>
                  </a:txBody>
                  <a:tcPr/>
                </a:tc>
                <a:tc>
                  <a:txBody>
                    <a:bodyPr/>
                    <a:lstStyle/>
                    <a:p>
                      <a:pPr>
                        <a:defRPr sz="900" b="0"/>
                      </a:pPr>
                      <a:r>
                        <a:t>IEEE Conf.</a:t>
                      </a:r>
                    </a:p>
                  </a:txBody>
                  <a:tcPr/>
                </a:tc>
                <a:tc>
                  <a:txBody>
                    <a:bodyPr/>
                    <a:lstStyle/>
                    <a:p>
                      <a:pPr>
                        <a:defRPr sz="800" b="0"/>
                      </a:pPr>
                      <a:r>
                        <a:t>ieeexplore.ieee.org/document/8256375</a:t>
                      </a:r>
                    </a:p>
                  </a:txBody>
                  <a:tcPr/>
                </a:tc>
                <a:extLst>
                  <a:ext uri="{0D108BD9-81ED-4DB2-BD59-A6C34878D82A}">
                    <a16:rowId xmlns:a16="http://schemas.microsoft.com/office/drawing/2014/main" val="10003"/>
                  </a:ext>
                </a:extLst>
              </a:tr>
              <a:tr h="390909">
                <a:tc>
                  <a:txBody>
                    <a:bodyPr/>
                    <a:lstStyle/>
                    <a:p>
                      <a:pPr>
                        <a:defRPr sz="900" b="0"/>
                      </a:pPr>
                      <a:r>
                        <a:t>Designing an Optimization Model for Dynamic Facility-Location Problem at Post-Disaster Area Considering Uncertainty</a:t>
                      </a:r>
                    </a:p>
                  </a:txBody>
                  <a:tcPr/>
                </a:tc>
                <a:tc>
                  <a:txBody>
                    <a:bodyPr/>
                    <a:lstStyle/>
                    <a:p>
                      <a:pPr>
                        <a:defRPr sz="900" b="0"/>
                      </a:pPr>
                      <a:r>
                        <a:t>IEEE, 2022</a:t>
                      </a:r>
                    </a:p>
                  </a:txBody>
                  <a:tcPr/>
                </a:tc>
                <a:tc>
                  <a:txBody>
                    <a:bodyPr/>
                    <a:lstStyle/>
                    <a:p>
                      <a:pPr>
                        <a:defRPr sz="800" b="0"/>
                      </a:pPr>
                      <a:r>
                        <a:t>ieeexplore.ieee.org/document/10031495</a:t>
                      </a:r>
                    </a:p>
                  </a:txBody>
                  <a:tcPr/>
                </a:tc>
                <a:extLst>
                  <a:ext uri="{0D108BD9-81ED-4DB2-BD59-A6C34878D82A}">
                    <a16:rowId xmlns:a16="http://schemas.microsoft.com/office/drawing/2014/main" val="10004"/>
                  </a:ext>
                </a:extLst>
              </a:tr>
              <a:tr h="390909">
                <a:tc>
                  <a:txBody>
                    <a:bodyPr/>
                    <a:lstStyle/>
                    <a:p>
                      <a:pPr>
                        <a:defRPr sz="900" b="0"/>
                      </a:pPr>
                      <a:r>
                        <a:t>Disaster Management System Based on GIS Web Services</a:t>
                      </a:r>
                    </a:p>
                  </a:txBody>
                  <a:tcPr/>
                </a:tc>
                <a:tc>
                  <a:txBody>
                    <a:bodyPr/>
                    <a:lstStyle/>
                    <a:p>
                      <a:pPr>
                        <a:defRPr sz="900" b="0"/>
                      </a:pPr>
                      <a:r>
                        <a:t>IEEE Conf.</a:t>
                      </a:r>
                    </a:p>
                  </a:txBody>
                  <a:tcPr/>
                </a:tc>
                <a:tc>
                  <a:txBody>
                    <a:bodyPr/>
                    <a:lstStyle/>
                    <a:p>
                      <a:pPr>
                        <a:defRPr sz="800" b="0"/>
                      </a:pPr>
                      <a:r>
                        <a:t>ieeexplore.ieee.org/document/5712855</a:t>
                      </a:r>
                    </a:p>
                  </a:txBody>
                  <a:tcPr/>
                </a:tc>
                <a:extLst>
                  <a:ext uri="{0D108BD9-81ED-4DB2-BD59-A6C34878D82A}">
                    <a16:rowId xmlns:a16="http://schemas.microsoft.com/office/drawing/2014/main" val="10005"/>
                  </a:ext>
                </a:extLst>
              </a:tr>
              <a:tr h="390909">
                <a:tc>
                  <a:txBody>
                    <a:bodyPr/>
                    <a:lstStyle/>
                    <a:p>
                      <a:pPr>
                        <a:defRPr sz="900" b="0"/>
                      </a:pPr>
                      <a:r>
                        <a:t>OpenStreetMap for the Disaster Management in Bangladesh</a:t>
                      </a:r>
                    </a:p>
                  </a:txBody>
                  <a:tcPr/>
                </a:tc>
                <a:tc>
                  <a:txBody>
                    <a:bodyPr/>
                    <a:lstStyle/>
                    <a:p>
                      <a:pPr>
                        <a:defRPr sz="900" b="0"/>
                      </a:pPr>
                      <a:r>
                        <a:t>IEEE Conf.</a:t>
                      </a:r>
                    </a:p>
                  </a:txBody>
                  <a:tcPr/>
                </a:tc>
                <a:tc>
                  <a:txBody>
                    <a:bodyPr/>
                    <a:lstStyle/>
                    <a:p>
                      <a:pPr>
                        <a:defRPr sz="800" b="0"/>
                      </a:pPr>
                      <a:r>
                        <a:t>ieeexplore.ieee.org/document/6079240</a:t>
                      </a:r>
                    </a:p>
                  </a:txBody>
                  <a:tcPr/>
                </a:tc>
                <a:extLst>
                  <a:ext uri="{0D108BD9-81ED-4DB2-BD59-A6C34878D82A}">
                    <a16:rowId xmlns:a16="http://schemas.microsoft.com/office/drawing/2014/main" val="10006"/>
                  </a:ext>
                </a:extLst>
              </a:tr>
              <a:tr h="390909">
                <a:tc>
                  <a:txBody>
                    <a:bodyPr/>
                    <a:lstStyle/>
                    <a:p>
                      <a:pPr>
                        <a:defRPr sz="900" b="0"/>
                      </a:pPr>
                      <a:r>
                        <a:t>Open Source Web-Based GIS and Database Tools for Emergency Response</a:t>
                      </a:r>
                    </a:p>
                  </a:txBody>
                  <a:tcPr/>
                </a:tc>
                <a:tc>
                  <a:txBody>
                    <a:bodyPr/>
                    <a:lstStyle/>
                    <a:p>
                      <a:pPr>
                        <a:defRPr sz="900" b="0"/>
                      </a:pPr>
                      <a:r>
                        <a:t>IEEE Conf.</a:t>
                      </a:r>
                    </a:p>
                  </a:txBody>
                  <a:tcPr/>
                </a:tc>
                <a:tc>
                  <a:txBody>
                    <a:bodyPr/>
                    <a:lstStyle/>
                    <a:p>
                      <a:pPr>
                        <a:defRPr sz="800" b="0"/>
                      </a:pPr>
                      <a:r>
                        <a:t>ieeexplore.ieee.org/document/4636686</a:t>
                      </a:r>
                    </a:p>
                  </a:txBody>
                  <a:tcPr/>
                </a:tc>
                <a:extLst>
                  <a:ext uri="{0D108BD9-81ED-4DB2-BD59-A6C34878D82A}">
                    <a16:rowId xmlns:a16="http://schemas.microsoft.com/office/drawing/2014/main" val="10007"/>
                  </a:ext>
                </a:extLst>
              </a:tr>
              <a:tr h="390909">
                <a:tc>
                  <a:txBody>
                    <a:bodyPr/>
                    <a:lstStyle/>
                    <a:p>
                      <a:pPr>
                        <a:defRPr sz="900" b="0"/>
                      </a:pPr>
                      <a:r>
                        <a:t>WebGIS-Based Flood Emergency Management Scenario</a:t>
                      </a:r>
                    </a:p>
                  </a:txBody>
                  <a:tcPr/>
                </a:tc>
                <a:tc>
                  <a:txBody>
                    <a:bodyPr/>
                    <a:lstStyle/>
                    <a:p>
                      <a:pPr>
                        <a:defRPr sz="900" b="0"/>
                      </a:pPr>
                      <a:r>
                        <a:t>IEEE Conf.</a:t>
                      </a:r>
                    </a:p>
                  </a:txBody>
                  <a:tcPr/>
                </a:tc>
                <a:tc>
                  <a:txBody>
                    <a:bodyPr/>
                    <a:lstStyle/>
                    <a:p>
                      <a:pPr>
                        <a:defRPr sz="800" b="0"/>
                      </a:pPr>
                      <a:r>
                        <a:t>ieeexplore.ieee.org/document/4782684</a:t>
                      </a:r>
                    </a:p>
                  </a:txBody>
                  <a:tcPr/>
                </a:tc>
                <a:extLst>
                  <a:ext uri="{0D108BD9-81ED-4DB2-BD59-A6C34878D82A}">
                    <a16:rowId xmlns:a16="http://schemas.microsoft.com/office/drawing/2014/main" val="10008"/>
                  </a:ext>
                </a:extLst>
              </a:tr>
              <a:tr h="390909">
                <a:tc>
                  <a:txBody>
                    <a:bodyPr/>
                    <a:lstStyle/>
                    <a:p>
                      <a:pPr>
                        <a:defRPr sz="900" b="0"/>
                      </a:pPr>
                      <a:r>
                        <a:t>GIS Support for Flood Rescue</a:t>
                      </a:r>
                    </a:p>
                  </a:txBody>
                  <a:tcPr/>
                </a:tc>
                <a:tc>
                  <a:txBody>
                    <a:bodyPr/>
                    <a:lstStyle/>
                    <a:p>
                      <a:pPr>
                        <a:defRPr sz="900" b="0"/>
                      </a:pPr>
                      <a:r>
                        <a:t>IEEE Conf.</a:t>
                      </a:r>
                    </a:p>
                  </a:txBody>
                  <a:tcPr/>
                </a:tc>
                <a:tc>
                  <a:txBody>
                    <a:bodyPr/>
                    <a:lstStyle/>
                    <a:p>
                      <a:pPr>
                        <a:defRPr sz="800" b="0"/>
                      </a:pPr>
                      <a:r>
                        <a:t>ieeexplore.ieee.org/document/4423474</a:t>
                      </a:r>
                    </a:p>
                  </a:txBody>
                  <a:tcPr/>
                </a:tc>
                <a:extLst>
                  <a:ext uri="{0D108BD9-81ED-4DB2-BD59-A6C34878D82A}">
                    <a16:rowId xmlns:a16="http://schemas.microsoft.com/office/drawing/2014/main" val="10009"/>
                  </a:ext>
                </a:extLst>
              </a:tr>
              <a:tr h="390910">
                <a:tc>
                  <a:txBody>
                    <a:bodyPr/>
                    <a:lstStyle/>
                    <a:p>
                      <a:pPr>
                        <a:defRPr sz="900" b="0"/>
                      </a:pPr>
                      <a:r>
                        <a:t>Risk Zoning of Flood Disaster Based on GIS: Xiangjiang River, Hunan Province, China</a:t>
                      </a:r>
                    </a:p>
                  </a:txBody>
                  <a:tcPr/>
                </a:tc>
                <a:tc>
                  <a:txBody>
                    <a:bodyPr/>
                    <a:lstStyle/>
                    <a:p>
                      <a:pPr>
                        <a:defRPr sz="900" b="0"/>
                      </a:pPr>
                      <a:r>
                        <a:t>IEEE Conf.</a:t>
                      </a:r>
                    </a:p>
                  </a:txBody>
                  <a:tcPr/>
                </a:tc>
                <a:tc>
                  <a:txBody>
                    <a:bodyPr/>
                    <a:lstStyle/>
                    <a:p>
                      <a:pPr>
                        <a:defRPr sz="800" b="0"/>
                      </a:pPr>
                      <a:r>
                        <a:t>ieeexplore.ieee.org/document/5964809</a:t>
                      </a:r>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18136542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66D0BC35-19ED-73A9-EE75-1137E39454A8}"/>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2BB17B24-7E10-E0D9-F0F4-797FC7D4A35D}"/>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algn="just">
              <a:lnSpc>
                <a:spcPct val="200000"/>
              </a:lnSpc>
            </a:pPr>
            <a:r>
              <a:rPr lang="en-US" dirty="0">
                <a:latin typeface="Cambria" panose="02040503050406030204" pitchFamily="18" charset="0"/>
                <a:ea typeface="Cambria" panose="02040503050406030204" pitchFamily="18" charset="0"/>
              </a:rPr>
              <a:t>Architecture Diagram</a:t>
            </a:r>
          </a:p>
        </p:txBody>
      </p:sp>
      <p:sp>
        <p:nvSpPr>
          <p:cNvPr id="115" name="Google Shape;115;p17">
            <a:extLst>
              <a:ext uri="{FF2B5EF4-FFF2-40B4-BE49-F238E27FC236}">
                <a16:creationId xmlns:a16="http://schemas.microsoft.com/office/drawing/2014/main" id="{B656EE7D-C165-CFED-D8E1-B5E966F08961}"/>
              </a:ext>
            </a:extLst>
          </p:cNvPr>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pic>
        <p:nvPicPr>
          <p:cNvPr id="116" name="Picture 115" descr="pipeline_diagram.png"/>
          <p:cNvPicPr>
            <a:picLocks noChangeAspect="1"/>
          </p:cNvPicPr>
          <p:nvPr/>
        </p:nvPicPr>
        <p:blipFill>
          <a:blip r:embed="rId3"/>
          <a:stretch>
            <a:fillRect/>
          </a:stretch>
        </p:blipFill>
        <p:spPr>
          <a:xfrm>
            <a:off x="1000000" y="1250000"/>
            <a:ext cx="10200000" cy="6335905"/>
          </a:xfrm>
          <a:prstGeom prst="rect">
            <a:avLst/>
          </a:prstGeom>
        </p:spPr>
      </p:pic>
    </p:spTree>
    <p:extLst>
      <p:ext uri="{BB962C8B-B14F-4D97-AF65-F5344CB8AC3E}">
        <p14:creationId xmlns:p14="http://schemas.microsoft.com/office/powerpoint/2010/main" val="39663537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1C8B1B47-DF01-E1F4-26F3-14B9F826E2F5}"/>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73128998-8B2C-F90B-C9A2-EF57AD968224}"/>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/Output Expected</a:t>
            </a:r>
          </a:p>
        </p:txBody>
      </p:sp>
      <p:sp>
        <p:nvSpPr>
          <p:cNvPr id="115" name="Google Shape;115;p17">
            <a:extLst>
              <a:ext uri="{FF2B5EF4-FFF2-40B4-BE49-F238E27FC236}">
                <a16:creationId xmlns:a16="http://schemas.microsoft.com/office/drawing/2014/main" id="{5B056FAF-9BF2-46B4-CC0B-9C32D2D94626}"/>
              </a:ext>
            </a:extLst>
          </p:cNvPr>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fontScale="92500" lnSpcReduction="20000"/>
          </a:bodyPr>
          <a:lstStyle/>
          <a:p>
            <a:pPr marL="342900" lvl="0" indent="-190500" algn="just" rtl="0">
              <a:spcBef>
                <a:spcPts val="0"/>
              </a:spcBef>
              <a:spcAft>
                <a:spcPts val="0"/>
              </a:spcAft>
              <a:buClr>
                <a:schemeClr val="dk1"/>
              </a:buClr>
              <a:buSzPct val="100000"/>
              <a:buNone/>
            </a:pPr>
            <a:r>
              <a:rPr lang="en-US" dirty="0">
                <a:latin typeface="Cambria" panose="02040503050406030204" pitchFamily="18" charset="0"/>
                <a:ea typeface="Cambria" panose="02040503050406030204" pitchFamily="18" charset="0"/>
              </a:rPr>
              <a:t>Explain about the expected output from this project</a:t>
            </a:r>
            <a:r>
              <a:rPr dirty="0"/>
              <a:t> A working </a:t>
            </a:r>
            <a:r>
              <a:rPr dirty="0" err="1"/>
              <a:t>Streamlit</a:t>
            </a:r>
            <a:r>
              <a:rPr dirty="0"/>
              <a:t> dashboard where a coordinator selects/creates a disaster event and gets:</a:t>
            </a: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lvl="1">
              <a:defRPr sz="1400"/>
            </a:pPr>
            <a:r>
              <a:rPr lang="en-US" dirty="0"/>
              <a:t>Suitable shelters map — candidate buildings filtered and scored for the active hazard, with an estimated capacity for each.</a:t>
            </a:r>
          </a:p>
          <a:p>
            <a:pPr lvl="1">
              <a:defRPr sz="1400"/>
            </a:pPr>
            <a:r>
              <a:rPr lang="en-US" dirty="0"/>
              <a:t>•  Allocation results table — population group, assigned shelter, people housed, and distance travelled.</a:t>
            </a:r>
          </a:p>
          <a:p>
            <a:pPr lvl="1">
              <a:defRPr sz="1400"/>
            </a:pPr>
            <a:r>
              <a:rPr lang="en-US" dirty="0"/>
              <a:t>•  Live occupancy map — shelters shaded by occupancy, with lines joining each group to its assigned shelter.</a:t>
            </a:r>
          </a:p>
          <a:p>
            <a:pPr lvl="1">
              <a:defRPr sz="1400"/>
            </a:pPr>
            <a:r>
              <a:rPr lang="en-US" dirty="0"/>
              <a:t>•  Unmet-demand alert — any group that cannot be fully housed is reported explicitly as a waitlist, not silently overcrowded.</a:t>
            </a:r>
          </a:p>
          <a:p>
            <a:pPr lvl="1">
              <a:defRPr sz="1400"/>
            </a:pPr>
            <a:r>
              <a:rPr lang="en-US" dirty="0"/>
              <a:t>•  Backtest report — model allocation compared against the real historical Assam flood shelter response.</a:t>
            </a: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a:p>
            <a:pPr lvl="1">
              <a:defRPr sz="1400"/>
            </a:pPr>
            <a:r>
              <a:rPr dirty="0"/>
              <a:t>•</a:t>
            </a:r>
          </a:p>
        </p:txBody>
      </p:sp>
    </p:spTree>
    <p:extLst>
      <p:ext uri="{BB962C8B-B14F-4D97-AF65-F5344CB8AC3E}">
        <p14:creationId xmlns:p14="http://schemas.microsoft.com/office/powerpoint/2010/main" val="3858192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fontScale="85000" lnSpcReduction="10000"/>
          </a:bodyPr>
          <a:lstStyle/>
          <a:p>
            <a:pPr marL="342900" lvl="0" indent="-190500" algn="just" rtl="0">
              <a:lnSpc>
                <a:spcPct val="200000"/>
              </a:lnSpc>
              <a:spcBef>
                <a:spcPts val="0"/>
              </a:spcBef>
              <a:spcAft>
                <a:spcPts val="0"/>
              </a:spcAft>
              <a:buClr>
                <a:schemeClr val="dk1"/>
              </a:buClr>
              <a:buSzPct val="100000"/>
              <a:buNone/>
            </a:pPr>
            <a:r>
              <a:rPr lang="en-US" dirty="0">
                <a:latin typeface="Cambria" panose="02040503050406030204" pitchFamily="18" charset="0"/>
                <a:ea typeface="Cambria" panose="02040503050406030204" pitchFamily="18" charset="0"/>
              </a:rPr>
              <a:t>Software and Hardware Requirements: </a:t>
            </a:r>
            <a:r>
              <a:t> Python, Streamlit (dashboard), Folium/Leaflet (maps), OpenStreetMap + Overpass API (building/road data), Nominatim (geocoding), OpenRouteService (routing, OSRM fallback), PuLP (linear programming optimisation), SQLite (database), GeoPandas (geospatial processing), Bhuvan/IMD/CWC (India hazard data).</a:t>
            </a: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a:p>
            <a:pPr>
              <a:defRPr sz="1500" b="1"/>
            </a:pPr>
            <a:r>
              <a:t>Hardware Requirements:</a:t>
            </a:r>
          </a:p>
          <a:p>
            <a:pPr>
              <a:defRPr sz="1400"/>
            </a:pPr>
            <a:r>
              <a:t>Standard development laptop/PC (8 GB RAM, quad-core CPU, internet access for API calls); no specialised or GPU hardware required. Optional: cloud VM for shared department deployment.</a:t>
            </a:r>
          </a:p>
        </p:txBody>
      </p:sp>
    </p:spTree>
    <p:extLst>
      <p:ext uri="{BB962C8B-B14F-4D97-AF65-F5344CB8AC3E}">
        <p14:creationId xmlns:p14="http://schemas.microsoft.com/office/powerpoint/2010/main" val="33388325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lnSpc>
                <a:spcPct val="200000"/>
              </a:lnSpc>
              <a:spcBef>
                <a:spcPts val="0"/>
              </a:spcBef>
              <a:spcAft>
                <a:spcPts val="0"/>
              </a:spcAft>
              <a:buClr>
                <a:schemeClr val="dk1"/>
              </a:buClr>
              <a:buSzPct val="100000"/>
              <a:buNone/>
              <a:defRPr sz="1600" b="1"/>
            </a:pPr>
            <a:r>
              <a:t>User Workflow:</a:t>
            </a:r>
            <a:endParaRPr dirty="0">
              <a:latin typeface="Cambria" panose="02040503050406030204" pitchFamily="18" charset="0"/>
              <a:ea typeface="Cambria" panose="02040503050406030204" pitchFamily="18" charset="0"/>
            </a:endParaRPr>
          </a:p>
          <a:p>
            <a:pPr>
              <a:defRPr sz="1500" b="1"/>
            </a:pPr>
            <a:r>
              <a:t>Create Disaster Event  →  Identify Shelters  →  Enter Population  →  Calculate Distances  →  Run Allocation  →  View Results</a:t>
            </a:r>
          </a:p>
          <a:p>
            <a:pPr>
              <a:defRPr sz="1300"/>
            </a:pPr>
            <a:r>
              <a:t>The coordinator's only manual actions are creating the event, entering/uploading population data, and clicking Run Allocation — every other step (shelter scoring, distance calculation, optimisation, persistence, visualization) is automatic.</a:t>
            </a:r>
          </a:p>
        </p:txBody>
      </p:sp>
    </p:spTree>
    <p:extLst>
      <p:ext uri="{BB962C8B-B14F-4D97-AF65-F5344CB8AC3E}">
        <p14:creationId xmlns:p14="http://schemas.microsoft.com/office/powerpoint/2010/main" val="20004557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pic>
        <p:nvPicPr>
          <p:cNvPr id="116" name="Picture 115" descr="gantt_slide.png"/>
          <p:cNvPicPr>
            <a:picLocks noChangeAspect="1"/>
          </p:cNvPicPr>
          <p:nvPr/>
        </p:nvPicPr>
        <p:blipFill>
          <a:blip r:embed="rId3"/>
          <a:stretch>
            <a:fillRect/>
          </a:stretch>
        </p:blipFill>
        <p:spPr>
          <a:xfrm>
            <a:off x="300000" y="1250000"/>
            <a:ext cx="11600000" cy="5272727"/>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lnSpcReduction="10000"/>
          </a:bodyPr>
          <a:lstStyle/>
          <a:p>
            <a:pPr marL="495300" indent="-342900">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Add APA Citation for all references.</a:t>
            </a:r>
          </a:p>
          <a:p>
            <a:pPr marL="495300" indent="-342900">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Use the below link for various APA styles :</a:t>
            </a:r>
          </a:p>
          <a:p>
            <a:pPr marL="495300" indent="-342900">
              <a:spcBef>
                <a:spcPts val="0"/>
              </a:spcBef>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152400" indent="0">
              <a:spcBef>
                <a:spcPts val="0"/>
              </a:spcBef>
              <a:buNone/>
            </a:pPr>
            <a:r>
              <a:rPr lang="en-US" dirty="0">
                <a:latin typeface="Cambria" panose="02040503050406030204" pitchFamily="18" charset="0"/>
                <a:ea typeface="Cambria" panose="02040503050406030204" pitchFamily="18" charset="0"/>
              </a:rPr>
              <a:t>https://www.indeed.com/career-advice/career-development/how-to-cite-a-research-paper</a:t>
            </a:r>
          </a:p>
          <a:p>
            <a:pPr marL="152400" indent="0">
              <a:spcBef>
                <a:spcPts val="0"/>
              </a:spcBef>
              <a:buNone/>
            </a:pPr>
            <a:r>
              <a:rPr lang="en-US" dirty="0">
                <a:latin typeface="Cambria" panose="02040503050406030204" pitchFamily="18" charset="0"/>
                <a:ea typeface="Cambria" panose="02040503050406030204" pitchFamily="18" charset="0"/>
              </a:rPr>
              <a:t> </a:t>
            </a:r>
            <a:endParaRPr dirty="0">
              <a:latin typeface="Cambria" panose="02040503050406030204" pitchFamily="18" charset="0"/>
              <a:ea typeface="Cambria" panose="02040503050406030204" pitchFamily="18" charset="0"/>
            </a:endParaRPr>
          </a:p>
          <a:p>
            <a:pPr>
              <a:defRPr sz="1050"/>
            </a:pPr>
            <a:r>
              <a:t>Author(s). Optimization of Emergency Logistics Scheduling in Complex Disaster Relief Situations. IEEE Xplore. https://ieeexplore.ieee.org/document/10703875</a:t>
            </a:r>
          </a:p>
          <a:p>
            <a:pPr>
              <a:defRPr sz="1050"/>
            </a:pPr>
            <a:r>
              <a:t>Author(s). An Optimized Resource Allocation Approach in Limited Emergency Situations using NSGA-II. IEEE Xplore. https://ieeexplore.ieee.org/document/10429276</a:t>
            </a:r>
          </a:p>
          <a:p>
            <a:pPr>
              <a:defRPr sz="1050"/>
            </a:pPr>
            <a:r>
              <a:t>Author(s). Urban Emergency Shelter Site Selection. IEEE Xplore. https://ieeexplore.ieee.org/document/8256375</a:t>
            </a:r>
          </a:p>
          <a:p>
            <a:pPr>
              <a:defRPr sz="1050"/>
            </a:pPr>
            <a:r>
              <a:t>Author(s). Designing an Optimization Model for Dynamic Facility-Location Problem at Post-Disaster Area Considering Uncertainty. IEEE Xplore. https://ieeexplore.ieee.org/document/10031495</a:t>
            </a:r>
          </a:p>
          <a:p>
            <a:pPr>
              <a:defRPr sz="1050"/>
            </a:pPr>
            <a:r>
              <a:t>Author(s). Disaster Management System Based on GIS Web Services. IEEE Xplore. https://ieeexplore.ieee.org/document/5712855</a:t>
            </a:r>
          </a:p>
          <a:p>
            <a:pPr>
              <a:defRPr sz="1050"/>
            </a:pPr>
            <a:r>
              <a:t>Author(s). OpenStreetMap for the Disaster Management in Bangladesh. IEEE Xplore. https://ieeexplore.ieee.org/document/6079240</a:t>
            </a:r>
          </a:p>
          <a:p>
            <a:pPr>
              <a:defRPr sz="1050"/>
            </a:pPr>
            <a:r>
              <a:t>Author(s). Open Source Web-Based GIS and Database Tools for Emergency Response. IEEE Xplore. https://ieeexplore.ieee.org/document/4636686</a:t>
            </a:r>
          </a:p>
          <a:p>
            <a:pPr>
              <a:defRPr sz="1050"/>
            </a:pPr>
            <a:r>
              <a:t>Author(s). WebGIS-Based Flood Emergency Management Scenario. IEEE Xplore. https://ieeexplore.ieee.org/document/4782684</a:t>
            </a:r>
          </a:p>
          <a:p>
            <a:pPr>
              <a:defRPr sz="1050"/>
            </a:pPr>
            <a:r>
              <a:t>Author(s). GIS Support for Flood Rescue. IEEE Xplore. https://ieeexplore.ieee.org/document/4423474</a:t>
            </a:r>
          </a:p>
          <a:p>
            <a:pPr>
              <a:defRPr sz="1050"/>
            </a:pPr>
            <a:r>
              <a:t>Author(s). Risk Zoning of Flood Disaster Based on GIS: Xiangjiang River, Hunan Province, China. IEEE Xplore. https://ieeexplore.ieee.org/document/5964809</a:t>
            </a:r>
          </a:p>
          <a:p>
            <a:pPr>
              <a:defRPr sz="1050"/>
            </a:pPr>
            <a:r>
              <a:t>Sphere Association (2018). The Sphere Handbook: Humanitarian Charter and Minimum Standards in Humanitarian Response.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A8A2C149D477E4E814B4B477F0E243C" ma:contentTypeVersion="13" ma:contentTypeDescription="Create a new document." ma:contentTypeScope="" ma:versionID="89242249e9f2fc9f35c8ac40d1749aa8">
  <xsd:schema xmlns:xsd="http://www.w3.org/2001/XMLSchema" xmlns:xs="http://www.w3.org/2001/XMLSchema" xmlns:p="http://schemas.microsoft.com/office/2006/metadata/properties" xmlns:ns2="ed62f681-7444-4666-891e-c71d42de2ddf" xmlns:ns3="b8676f30-e579-463a-a8aa-821338b00374" targetNamespace="http://schemas.microsoft.com/office/2006/metadata/properties" ma:root="true" ma:fieldsID="a661edb3eb918c130b5b038713d75e6b" ns2:_="" ns3:_="">
    <xsd:import namespace="ed62f681-7444-4666-891e-c71d42de2ddf"/>
    <xsd:import namespace="b8676f30-e579-463a-a8aa-821338b0037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62f681-7444-4666-891e-c71d42de2dd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d4626717-1439-4315-99ce-985d7ba5c11b"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Location" ma:index="19" nillable="true" ma:displayName="Location" ma:indexed="true"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b8676f30-e579-463a-a8aa-821338b00374"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df08d022-328e-4f53-b2cf-c730c7a35dee}" ma:internalName="TaxCatchAll" ma:showField="CatchAllData" ma:web="b8676f30-e579-463a-a8aa-821338b0037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ed62f681-7444-4666-891e-c71d42de2ddf">
      <Terms xmlns="http://schemas.microsoft.com/office/infopath/2007/PartnerControls"/>
    </lcf76f155ced4ddcb4097134ff3c332f>
    <TaxCatchAll xmlns="b8676f30-e579-463a-a8aa-821338b00374" xsi:nil="true"/>
  </documentManagement>
</p:properties>
</file>

<file path=customXml/itemProps1.xml><?xml version="1.0" encoding="utf-8"?>
<ds:datastoreItem xmlns:ds="http://schemas.openxmlformats.org/officeDocument/2006/customXml" ds:itemID="{80799BD1-F224-430F-A4F0-5AAD34602BB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62f681-7444-4666-891e-c71d42de2ddf"/>
    <ds:schemaRef ds:uri="b8676f30-e579-463a-a8aa-821338b0037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3D2043A-A905-44DC-A627-E0BB4B155825}">
  <ds:schemaRefs>
    <ds:schemaRef ds:uri="http://schemas.microsoft.com/sharepoint/v3/contenttype/forms"/>
  </ds:schemaRefs>
</ds:datastoreItem>
</file>

<file path=customXml/itemProps3.xml><?xml version="1.0" encoding="utf-8"?>
<ds:datastoreItem xmlns:ds="http://schemas.openxmlformats.org/officeDocument/2006/customXml" ds:itemID="{C31A4896-B9C1-4471-B691-16FF8CBFF7E9}">
  <ds:schemaRefs>
    <ds:schemaRef ds:uri="http://purl.org/dc/terms/"/>
    <ds:schemaRef ds:uri="http://www.w3.org/XML/1998/namespace"/>
    <ds:schemaRef ds:uri="http://schemas.openxmlformats.org/package/2006/metadata/core-properties"/>
    <ds:schemaRef ds:uri="http://schemas.microsoft.com/office/infopath/2007/PartnerControls"/>
    <ds:schemaRef ds:uri="http://purl.org/dc/elements/1.1/"/>
    <ds:schemaRef ds:uri="http://schemas.microsoft.com/office/2006/documentManagement/types"/>
    <ds:schemaRef ds:uri="http://schemas.microsoft.com/office/2006/metadata/properties"/>
    <ds:schemaRef ds:uri="http://purl.org/dc/dcmitype/"/>
    <ds:schemaRef ds:uri="b8676f30-e579-463a-a8aa-821338b00374"/>
    <ds:schemaRef ds:uri="ed62f681-7444-4666-891e-c71d42de2ddf"/>
  </ds:schemaRefs>
</ds:datastoreItem>
</file>

<file path=docProps/app.xml><?xml version="1.0" encoding="utf-8"?>
<Properties xmlns="http://schemas.openxmlformats.org/officeDocument/2006/extended-properties" xmlns:vt="http://schemas.openxmlformats.org/officeDocument/2006/docPropsVTypes">
  <TotalTime>315</TotalTime>
  <Words>1309</Words>
  <Application>Microsoft Office PowerPoint</Application>
  <PresentationFormat>Widescreen</PresentationFormat>
  <Paragraphs>146</Paragraphs>
  <Slides>14</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Cambria</vt:lpstr>
      <vt:lpstr>Verdana</vt:lpstr>
      <vt:lpstr>Wingdings</vt:lpstr>
      <vt:lpstr>Bioinformatics</vt:lpstr>
      <vt:lpstr>PowerPoint Presentation</vt:lpstr>
      <vt:lpstr>Emergency Shelter Allocation Platform</vt:lpstr>
      <vt:lpstr>INDEX</vt:lpstr>
      <vt:lpstr>Problem Statement Number: </vt:lpstr>
      <vt:lpstr>Github Link</vt:lpstr>
      <vt:lpstr>Introduction</vt:lpstr>
      <vt:lpstr>Literature Review</vt:lpstr>
      <vt:lpstr>Architecture Diagram</vt:lpstr>
      <vt:lpstr>Analysis of Problem Statement /Output Expected</vt:lpstr>
      <vt:lpstr>Analysis of Problem Statement (contd...)</vt:lpstr>
      <vt:lpstr>Analysis of Problem Statement (contd...)</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HARSHIL KUMAR GURJAR</cp:lastModifiedBy>
  <cp:revision>47</cp:revision>
  <dcterms:modified xsi:type="dcterms:W3CDTF">2026-08-28T12:07:11Z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0x010100FA8A2C149D477E4E814B4B477F0E243C</vt:lpwstr>
  </property>
</Properties>
</file>