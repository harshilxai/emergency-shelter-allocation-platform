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8"/>
  </p:notesMasterIdLst>
  <p:sldIdLst>
    <p:sldId id="274" r:id="rId5"/>
    <p:sldId id="256" r:id="rId6"/>
    <p:sldId id="257" r:id="rId7"/>
    <p:sldId id="269" r:id="rId8"/>
    <p:sldId id="273" r:id="rId9"/>
    <p:sldId id="275" r:id="rId10"/>
    <p:sldId id="277" r:id="rId11"/>
    <p:sldId id="276" r:id="rId12"/>
    <p:sldId id="272" r:id="rId13"/>
    <p:sldId id="268" r:id="rId14"/>
    <p:sldId id="270" r:id="rId15"/>
    <p:sldId id="265" r:id="rId16"/>
    <p:sldId id="26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43" y="7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399B6F38-D768-A670-DEF3-8469058A8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ABCA4031-CC8F-236D-A27B-EA7F87420E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85DF2172-DEF1-9770-F577-039FE97135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7761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517255E8-76FD-C420-1987-D13B1E67A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29260288-5C20-329D-9AB3-D8C410F70E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17C5EB74-31E0-ABB2-15A4-4FB1F28C8E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36653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95D514E0-B1BE-2630-77D3-31C095E36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99E4099B-7B1F-A0FA-3ABB-CE9838C027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6E08A7C6-D14D-41A9-F2DD-738662370A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3338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A50E9A-5B29-3F48-C37D-89C17238E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1275"/>
            <a:ext cx="1219200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15855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4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2DD66-7A7B-3141-248C-33B219894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887" y="-20500"/>
            <a:ext cx="12264887" cy="6898999"/>
          </a:xfrm>
          <a:prstGeom prst="rect">
            <a:avLst/>
          </a:prstGeom>
        </p:spPr>
      </p:pic>
      <p:sp>
        <p:nvSpPr>
          <p:cNvPr id="200" name="TextBox 5"/>
          <p:cNvSpPr txBox="1">
            <a:spLocks noGrp="1"/>
          </p:cNvSpPr>
          <p:nvPr>
            <p:ph type="sldNum" sz="quarter" idx="2"/>
          </p:nvPr>
        </p:nvSpPr>
        <p:spPr>
          <a:xfrm>
            <a:off x="11396678" y="454968"/>
            <a:ext cx="162863" cy="24622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BBA17B-3BC2-6BF3-E9AA-D4BFBC2AD5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83" y="380240"/>
            <a:ext cx="1378341" cy="2987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9FE14F-095F-73F1-B975-3CCBF67C0C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40771"/>
            <a:ext cx="12192000" cy="4699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5EEC80A-389A-0914-B331-80471CDD52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1615" y="52673"/>
            <a:ext cx="7779079" cy="1309350"/>
          </a:xfrm>
          <a:prstGeom prst="rect">
            <a:avLst/>
          </a:prstGeom>
        </p:spPr>
      </p:pic>
      <p:sp>
        <p:nvSpPr>
          <p:cNvPr id="16" name="Rounded Rectangle 2">
            <a:extLst>
              <a:ext uri="{FF2B5EF4-FFF2-40B4-BE49-F238E27FC236}">
                <a16:creationId xmlns:a16="http://schemas.microsoft.com/office/drawing/2014/main" id="{EC0F06BD-D995-B09D-2B28-06CD559DF695}"/>
              </a:ext>
            </a:extLst>
          </p:cNvPr>
          <p:cNvSpPr/>
          <p:nvPr/>
        </p:nvSpPr>
        <p:spPr>
          <a:xfrm>
            <a:off x="-72888" y="5569149"/>
            <a:ext cx="12264887" cy="1309350"/>
          </a:xfrm>
          <a:prstGeom prst="roundRect">
            <a:avLst/>
          </a:prstGeom>
          <a:solidFill>
            <a:srgbClr val="08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FAE776-B1B4-1F6F-0EE9-2D02B291CE9E}"/>
              </a:ext>
            </a:extLst>
          </p:cNvPr>
          <p:cNvSpPr txBox="1"/>
          <p:nvPr/>
        </p:nvSpPr>
        <p:spPr>
          <a:xfrm>
            <a:off x="4748252" y="5447308"/>
            <a:ext cx="2860077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sz="2600" b="1">
                <a:solidFill>
                  <a:srgbClr val="FFFFFF"/>
                </a:solidFill>
                <a:latin typeface="Aptos"/>
              </a:rPr>
              <a:t>Presidency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0268FC-2D4B-1595-4CC0-BF00B3A0E047}"/>
              </a:ext>
            </a:extLst>
          </p:cNvPr>
          <p:cNvSpPr/>
          <p:nvPr/>
        </p:nvSpPr>
        <p:spPr>
          <a:xfrm>
            <a:off x="4837363" y="6139774"/>
            <a:ext cx="2646802" cy="45719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EFB6EA-449F-B759-D837-A2CDBD5E10E2}"/>
              </a:ext>
            </a:extLst>
          </p:cNvPr>
          <p:cNvSpPr txBox="1"/>
          <p:nvPr/>
        </p:nvSpPr>
        <p:spPr>
          <a:xfrm>
            <a:off x="2353623" y="6178261"/>
            <a:ext cx="79612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rPr sz="2200" b="1">
                <a:solidFill>
                  <a:srgbClr val="FFFFFF"/>
                </a:solidFill>
                <a:latin typeface="Aptos"/>
              </a:rPr>
              <a:t>School of Computer Science and Engineering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E6A419-D98D-646B-0945-71577D3C9949}"/>
              </a:ext>
            </a:extLst>
          </p:cNvPr>
          <p:cNvSpPr/>
          <p:nvPr/>
        </p:nvSpPr>
        <p:spPr>
          <a:xfrm flipV="1">
            <a:off x="2477862" y="6717317"/>
            <a:ext cx="7712764" cy="45719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844D43-4EA8-BF96-7FC3-15A05CEA246A}"/>
              </a:ext>
            </a:extLst>
          </p:cNvPr>
          <p:cNvSpPr txBox="1"/>
          <p:nvPr/>
        </p:nvSpPr>
        <p:spPr>
          <a:xfrm>
            <a:off x="4072463" y="1168079"/>
            <a:ext cx="4240263" cy="1569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sz="2600" b="1">
                <a:solidFill>
                  <a:srgbClr val="092D52"/>
                </a:solidFill>
                <a:latin typeface="Aptos"/>
              </a:rPr>
              <a:t>Mini Project (CSE7102)</a:t>
            </a:r>
            <a:br/>
            <a:r>
              <a:rPr sz="2600" b="1">
                <a:solidFill>
                  <a:srgbClr val="092D52"/>
                </a:solidFill>
                <a:latin typeface="Aptos"/>
              </a:rPr>
              <a:t>REVIEW-2</a:t>
            </a:r>
            <a:br/>
            <a:r>
              <a:rPr sz="2600" b="1">
                <a:solidFill>
                  <a:srgbClr val="092D52"/>
                </a:solidFill>
                <a:latin typeface="Aptos"/>
              </a:rPr>
              <a:t>25-09-2026</a:t>
            </a:r>
          </a:p>
        </p:txBody>
      </p:sp>
    </p:spTree>
    <p:extLst>
      <p:ext uri="{BB962C8B-B14F-4D97-AF65-F5344CB8AC3E}">
        <p14:creationId xmlns:p14="http://schemas.microsoft.com/office/powerpoint/2010/main" val="146604809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51140" y="951239"/>
            <a:ext cx="10363200" cy="89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sz="2600" b="1">
                <a:solidFill>
                  <a:srgbClr val="092D52"/>
                </a:solidFill>
                <a:latin typeface="Aptos"/>
              </a:rPr>
              <a:t>EMERGENCY SHELTER ALLOCATION PLATFORM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553347" y="1709355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sz="1800" b="1">
                <a:solidFill>
                  <a:srgbClr val="092D52"/>
                </a:solidFill>
                <a:latin typeface="Aptos"/>
              </a:rPr>
              <a:t>Project ID: PRJ_465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599362439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sz="1600" b="0">
                <a:solidFill>
                  <a:srgbClr val="232A30"/>
                </a:solidFill>
                <a:latin typeface="Aptos"/>
              </a:rPr>
              <a:t>Under the Supervision of,</a:t>
            </a:r>
            <a:br/>
            <a:br/>
            <a:r>
              <a:rPr sz="1600" b="0">
                <a:solidFill>
                  <a:srgbClr val="232A30"/>
                </a:solidFill>
                <a:latin typeface="Aptos"/>
              </a:rPr>
              <a:t>Irfan Rajab Bhatt</a:t>
            </a:r>
            <a:br/>
            <a:r>
              <a:rPr sz="1600" b="0">
                <a:solidFill>
                  <a:srgbClr val="232A30"/>
                </a:solidFill>
                <a:latin typeface="Aptos"/>
              </a:rPr>
              <a:t>Associate Professor</a:t>
            </a:r>
            <a:br/>
            <a:r>
              <a:rPr sz="1600" b="0">
                <a:solidFill>
                  <a:srgbClr val="232A30"/>
                </a:solidFill>
                <a:latin typeface="Aptos"/>
              </a:rPr>
              <a:t>School of Computer Science and Engineering</a:t>
            </a:r>
            <a:br/>
            <a:r>
              <a:rPr sz="1600" b="0">
                <a:solidFill>
                  <a:srgbClr val="232A30"/>
                </a:solidFill>
                <a:latin typeface="Aptos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986771" y="334089"/>
            <a:ext cx="5425083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CSS7102- Mini  Project Review-2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43044"/>
            <a:ext cx="1199449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600" b="0" dirty="0">
                <a:solidFill>
                  <a:srgbClr val="232A30"/>
                </a:solidFill>
                <a:latin typeface="Aptos"/>
              </a:rPr>
              <a:t>        Name of the Program(s): </a:t>
            </a:r>
            <a:r>
              <a:rPr lang="en-US" sz="1600" b="0" dirty="0" err="1">
                <a:solidFill>
                  <a:srgbClr val="232A30"/>
                </a:solidFill>
                <a:latin typeface="Aptos"/>
              </a:rPr>
              <a:t>B.Tech</a:t>
            </a:r>
            <a:r>
              <a:rPr lang="en-US" sz="1600" b="0" dirty="0">
                <a:solidFill>
                  <a:srgbClr val="232A30"/>
                </a:solidFill>
                <a:latin typeface="Aptos"/>
              </a:rPr>
              <a:t> in Information Science and Engineering</a:t>
            </a:r>
            <a:br>
              <a:rPr lang="en-US" sz="1600" dirty="0"/>
            </a:br>
            <a:r>
              <a:rPr lang="en-US" sz="1600" dirty="0"/>
              <a:t>      </a:t>
            </a:r>
            <a:r>
              <a:rPr lang="en-US" sz="1600" b="0" dirty="0">
                <a:solidFill>
                  <a:srgbClr val="232A30"/>
                </a:solidFill>
                <a:latin typeface="Aptos"/>
              </a:rPr>
              <a:t>Name of the </a:t>
            </a:r>
            <a:r>
              <a:rPr lang="en-US" sz="1600" b="0" dirty="0" err="1">
                <a:solidFill>
                  <a:srgbClr val="232A30"/>
                </a:solidFill>
                <a:latin typeface="Aptos"/>
              </a:rPr>
              <a:t>HoD</a:t>
            </a:r>
            <a:r>
              <a:rPr lang="en-US" sz="1600" b="0" dirty="0">
                <a:solidFill>
                  <a:srgbClr val="232A30"/>
                </a:solidFill>
                <a:latin typeface="Aptos"/>
              </a:rPr>
              <a:t> (Team Leader’s): Dr. Gopal K Shyam</a:t>
            </a:r>
            <a:br>
              <a:rPr lang="en-US" sz="1600" dirty="0"/>
            </a:br>
            <a:r>
              <a:rPr lang="en-US" sz="1600" dirty="0"/>
              <a:t>      </a:t>
            </a:r>
            <a:r>
              <a:rPr lang="en-US" sz="1600" b="0" dirty="0">
                <a:solidFill>
                  <a:srgbClr val="232A30"/>
                </a:solidFill>
                <a:latin typeface="Aptos"/>
              </a:rPr>
              <a:t>Name of the Program Project Coordinator (Team Leader’s): Irfan Rajab Bhatt</a:t>
            </a:r>
            <a:br>
              <a:rPr lang="en-US" sz="1600" dirty="0"/>
            </a:br>
            <a:r>
              <a:rPr lang="en-US" sz="1600" dirty="0"/>
              <a:t>      </a:t>
            </a:r>
            <a:r>
              <a:rPr lang="en-US" sz="1600" b="0" dirty="0">
                <a:solidFill>
                  <a:srgbClr val="232A30"/>
                </a:solidFill>
                <a:latin typeface="Aptos"/>
              </a:rPr>
              <a:t>Name of the School Project Coordinator: Mr. </a:t>
            </a:r>
            <a:r>
              <a:rPr lang="en-US" sz="1600" b="0" dirty="0" err="1">
                <a:solidFill>
                  <a:srgbClr val="232A30"/>
                </a:solidFill>
                <a:latin typeface="Aptos"/>
              </a:rPr>
              <a:t>Muthuraju</a:t>
            </a:r>
            <a:r>
              <a:rPr lang="en-US" sz="1600" b="0" dirty="0">
                <a:solidFill>
                  <a:srgbClr val="232A30"/>
                </a:solidFill>
                <a:latin typeface="Aptos"/>
              </a:rPr>
              <a:t> V</a:t>
            </a:r>
            <a:endParaRPr sz="1600" b="0" dirty="0">
              <a:solidFill>
                <a:srgbClr val="232A30"/>
              </a:solidFill>
              <a:latin typeface="Apto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669B82-28E1-6B84-884A-EF2B68034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209278"/>
              </p:ext>
            </p:extLst>
          </p:nvPr>
        </p:nvGraphicFramePr>
        <p:xfrm>
          <a:off x="429369" y="2820448"/>
          <a:ext cx="5542653" cy="1483360"/>
        </p:xfrm>
        <a:graphic>
          <a:graphicData uri="http://schemas.openxmlformats.org/drawingml/2006/table">
            <a:tbl>
              <a:tblPr firstRow="1" bandRow="1"/>
              <a:tblGrid>
                <a:gridCol w="659051">
                  <a:extLst>
                    <a:ext uri="{9D8B030D-6E8A-4147-A177-3AD203B41FA5}">
                      <a16:colId xmlns:a16="http://schemas.microsoft.com/office/drawing/2014/main" val="3892496743"/>
                    </a:ext>
                  </a:extLst>
                </a:gridCol>
                <a:gridCol w="2897486">
                  <a:extLst>
                    <a:ext uri="{9D8B030D-6E8A-4147-A177-3AD203B41FA5}">
                      <a16:colId xmlns:a16="http://schemas.microsoft.com/office/drawing/2014/main" val="1797090138"/>
                    </a:ext>
                  </a:extLst>
                </a:gridCol>
                <a:gridCol w="1986116">
                  <a:extLst>
                    <a:ext uri="{9D8B030D-6E8A-4147-A177-3AD203B41FA5}">
                      <a16:colId xmlns:a16="http://schemas.microsoft.com/office/drawing/2014/main" val="2191578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 err="1">
                          <a:solidFill>
                            <a:srgbClr val="232A30"/>
                          </a:solidFill>
                          <a:latin typeface="Aptos"/>
                        </a:rPr>
                        <a:t>Sl.No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rgbClr val="232A30"/>
                          </a:solidFill>
                          <a:latin typeface="Aptos"/>
                        </a:rPr>
                        <a:t>Student Name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rgbClr val="232A30"/>
                          </a:solidFill>
                          <a:latin typeface="Aptos"/>
                        </a:rPr>
                        <a:t>Roll Number</a:t>
                      </a:r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901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rgbClr val="232A30"/>
                          </a:solidFill>
                          <a:latin typeface="Aptos"/>
                        </a:rPr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A30"/>
                          </a:solidFill>
                          <a:latin typeface="Aptos"/>
                        </a:rPr>
                        <a:t>Sharan Poojari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rgbClr val="232A30"/>
                          </a:solidFill>
                          <a:latin typeface="Aptos"/>
                        </a:rPr>
                        <a:t>20231ISE0089</a:t>
                      </a:r>
                      <a:endParaRPr sz="1200" dirty="0">
                        <a:solidFill>
                          <a:srgbClr val="232A30"/>
                        </a:solidFill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047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rgbClr val="232A30"/>
                          </a:solidFill>
                          <a:latin typeface="Aptos"/>
                        </a:rPr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A30"/>
                          </a:solidFill>
                          <a:latin typeface="Aptos"/>
                        </a:rPr>
                        <a:t>Suhas S Kattimani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rgbClr val="232A30"/>
                          </a:solidFill>
                          <a:latin typeface="Aptos"/>
                        </a:rPr>
                        <a:t>20231ISE0090</a:t>
                      </a:r>
                      <a:endParaRPr sz="1200" dirty="0">
                        <a:solidFill>
                          <a:srgbClr val="232A30"/>
                        </a:solidFill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758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rgbClr val="232A30"/>
                          </a:solidFill>
                          <a:latin typeface="Aptos"/>
                        </a:rPr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A30"/>
                          </a:solidFill>
                          <a:latin typeface="Aptos"/>
                        </a:rPr>
                        <a:t>Harshil Gurjar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rgbClr val="232A30"/>
                          </a:solidFill>
                          <a:latin typeface="Aptos"/>
                        </a:rPr>
                        <a:t>20231ISE0056</a:t>
                      </a:r>
                      <a:endParaRPr sz="1200" dirty="0">
                        <a:solidFill>
                          <a:srgbClr val="232A30"/>
                        </a:solidFill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5755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ADAAE0D-9E2B-1BC4-51AE-E3E0CC59230D}"/>
              </a:ext>
            </a:extLst>
          </p:cNvPr>
          <p:cNvSpPr txBox="1"/>
          <p:nvPr/>
        </p:nvSpPr>
        <p:spPr>
          <a:xfrm>
            <a:off x="429369" y="2330214"/>
            <a:ext cx="61599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Group members details:</a:t>
            </a:r>
          </a:p>
        </p:txBody>
      </p:sp>
      <p:sp>
        <p:nvSpPr>
          <p:cNvPr id="5" name="Google Shape;88;p13">
            <a:extLst>
              <a:ext uri="{FF2B5EF4-FFF2-40B4-BE49-F238E27FC236}">
                <a16:creationId xmlns:a16="http://schemas.microsoft.com/office/drawing/2014/main" id="{C68A9A96-FA24-D641-CFDC-9A25FFD27478}"/>
              </a:ext>
            </a:extLst>
          </p:cNvPr>
          <p:cNvSpPr txBox="1">
            <a:spLocks/>
          </p:cNvSpPr>
          <p:nvPr/>
        </p:nvSpPr>
        <p:spPr>
          <a:xfrm>
            <a:off x="7668155" y="1709355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indent="0" algn="l">
              <a:spcBef>
                <a:spcPts val="0"/>
              </a:spcBef>
            </a:pPr>
            <a:r>
              <a:rPr sz="1800" b="1">
                <a:solidFill>
                  <a:srgbClr val="092D52"/>
                </a:solidFill>
                <a:latin typeface="Aptos"/>
              </a:rPr>
              <a:t>Panel No: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sz="2400" b="1">
                <a:solidFill>
                  <a:srgbClr val="092D52"/>
                </a:solidFill>
                <a:latin typeface="Aptos"/>
              </a:rPr>
              <a:t>INDEX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768096" y="1124712"/>
            <a:ext cx="9820656" cy="368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92D52"/>
                </a:solidFill>
                <a:latin typeface="Aptos"/>
              </a:defRPr>
            </a:pPr>
            <a:r>
              <a:rPr dirty="0"/>
              <a:t>• Problem Statement</a:t>
            </a:r>
          </a:p>
          <a:p>
            <a:pPr>
              <a:spcAft>
                <a:spcPts val="800"/>
              </a:spcAft>
              <a:defRPr sz="2000">
                <a:solidFill>
                  <a:srgbClr val="092D52"/>
                </a:solidFill>
                <a:latin typeface="Aptos"/>
              </a:defRPr>
            </a:pPr>
            <a:r>
              <a:rPr dirty="0"/>
              <a:t>• Objectives</a:t>
            </a:r>
          </a:p>
          <a:p>
            <a:pPr>
              <a:spcAft>
                <a:spcPts val="800"/>
              </a:spcAft>
              <a:defRPr sz="2000">
                <a:solidFill>
                  <a:srgbClr val="092D52"/>
                </a:solidFill>
                <a:latin typeface="Aptos"/>
              </a:defRPr>
            </a:pPr>
            <a:r>
              <a:rPr dirty="0"/>
              <a:t>• Literature / Research Understanding</a:t>
            </a:r>
          </a:p>
          <a:p>
            <a:pPr>
              <a:spcAft>
                <a:spcPts val="800"/>
              </a:spcAft>
              <a:defRPr sz="2000">
                <a:solidFill>
                  <a:srgbClr val="092D52"/>
                </a:solidFill>
                <a:latin typeface="Aptos"/>
              </a:defRPr>
            </a:pPr>
            <a:r>
              <a:rPr dirty="0"/>
              <a:t>• Methodology &amp; Architecture</a:t>
            </a:r>
          </a:p>
          <a:p>
            <a:pPr>
              <a:spcAft>
                <a:spcPts val="800"/>
              </a:spcAft>
              <a:defRPr sz="2000">
                <a:solidFill>
                  <a:srgbClr val="092D52"/>
                </a:solidFill>
                <a:latin typeface="Aptos"/>
              </a:defRPr>
            </a:pPr>
            <a:r>
              <a:rPr dirty="0"/>
              <a:t>• Implementation Progress</a:t>
            </a:r>
          </a:p>
          <a:p>
            <a:pPr>
              <a:spcAft>
                <a:spcPts val="800"/>
              </a:spcAft>
              <a:defRPr sz="2000">
                <a:solidFill>
                  <a:srgbClr val="092D52"/>
                </a:solidFill>
                <a:latin typeface="Aptos"/>
              </a:defRPr>
            </a:pPr>
            <a:r>
              <a:rPr dirty="0"/>
              <a:t>• Individual Contribution</a:t>
            </a:r>
          </a:p>
          <a:p>
            <a:pPr>
              <a:spcAft>
                <a:spcPts val="800"/>
              </a:spcAft>
              <a:defRPr sz="2000">
                <a:solidFill>
                  <a:srgbClr val="092D52"/>
                </a:solidFill>
                <a:latin typeface="Aptos"/>
              </a:defRPr>
            </a:pPr>
            <a:r>
              <a:rPr dirty="0"/>
              <a:t>• GitHub Repository</a:t>
            </a:r>
          </a:p>
          <a:p>
            <a:pPr>
              <a:spcAft>
                <a:spcPts val="800"/>
              </a:spcAft>
              <a:defRPr sz="2000">
                <a:solidFill>
                  <a:srgbClr val="092D52"/>
                </a:solidFill>
                <a:latin typeface="Aptos"/>
              </a:defRPr>
            </a:pPr>
            <a:r>
              <a:rPr dirty="0"/>
              <a:t>• Conclusion</a:t>
            </a:r>
          </a:p>
          <a:p>
            <a:pPr>
              <a:spcAft>
                <a:spcPts val="800"/>
              </a:spcAft>
              <a:defRPr sz="2000">
                <a:solidFill>
                  <a:srgbClr val="092D52"/>
                </a:solidFill>
                <a:latin typeface="Aptos"/>
              </a:defRPr>
            </a:pPr>
            <a:r>
              <a:rPr dirty="0"/>
              <a:t>• 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sz="2400" b="1">
                <a:solidFill>
                  <a:srgbClr val="092D52"/>
                </a:solidFill>
                <a:latin typeface="Aptos"/>
              </a:rPr>
              <a:t>Problem Statement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914400" y="11430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E2D2D"/>
                </a:solidFill>
                <a:latin typeface="Aptos"/>
              </a:rPr>
              <a:t>Emergency response requires a shelter that is not only nearby, but also feasible for the affected group.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39648" y="1828800"/>
            <a:ext cx="54864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8150" lvl="0" indent="-285750">
              <a:buFont typeface="Arial" panose="020B0604020202020204" pitchFamily="34" charset="0"/>
              <a:buChar char="•"/>
            </a:pPr>
            <a:r>
              <a:rPr lang="en-GB" sz="1600" dirty="0"/>
              <a:t>During floods, earthquakes, fires, cyclones and landslides, affected people often cannot tell which shelters nearby are open, how much space is left, or what facilities they offer.</a:t>
            </a:r>
          </a:p>
          <a:p>
            <a:pPr marL="438150" lvl="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438150" lvl="0" indent="-285750">
              <a:buFont typeface="Arial" panose="020B0604020202020204" pitchFamily="34" charset="0"/>
              <a:buChar char="•"/>
            </a:pPr>
            <a:r>
              <a:rPr lang="en-GB" sz="1600" dirty="0"/>
              <a:t>Heading to the nearest shelter is not always safe. It may already be full or closed, or it may not be built to handle that particular disaster type.</a:t>
            </a:r>
          </a:p>
          <a:p>
            <a:pPr marL="438150" lvl="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438150" lvl="0" indent="-285750">
              <a:buFont typeface="Arial" panose="020B0604020202020204" pitchFamily="34" charset="0"/>
              <a:buChar char="•"/>
            </a:pPr>
            <a:r>
              <a:rPr lang="en-GB" sz="1600" dirty="0"/>
              <a:t>Groups with special needs, such as an injured member or a person using a wheelchair, may reach a shelter that cannot actually support them.</a:t>
            </a:r>
          </a:p>
          <a:p>
            <a:pPr marL="438150" lvl="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438150" lvl="0" indent="-285750">
              <a:buFont typeface="Arial" panose="020B0604020202020204" pitchFamily="34" charset="0"/>
              <a:buChar char="•"/>
            </a:pPr>
            <a:r>
              <a:rPr lang="en-GB" sz="1600" dirty="0"/>
              <a:t>This wastes valuable evacuation time and pushes more people toward shelters that are already crowded, while better options nearby go unused</a:t>
            </a:r>
            <a:r>
              <a:rPr lang="en-GB" dirty="0"/>
              <a:t>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629400" y="1828800"/>
            <a:ext cx="3840480" cy="2468880"/>
          </a:xfrm>
          <a:prstGeom prst="roundRect">
            <a:avLst/>
          </a:prstGeom>
          <a:solidFill>
            <a:srgbClr val="092D52"/>
          </a:solidFill>
          <a:ln w="12700">
            <a:solidFill>
              <a:srgbClr val="F5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sz="1800" b="1" dirty="0">
                <a:solidFill>
                  <a:srgbClr val="FFFFFF"/>
                </a:solidFill>
                <a:latin typeface="Aptos"/>
              </a:rPr>
              <a:t>CURRENT GAP</a:t>
            </a:r>
            <a:br>
              <a:rPr dirty="0"/>
            </a:br>
            <a:br>
              <a:rPr dirty="0"/>
            </a:br>
            <a:r>
              <a:rPr sz="1800" b="1" dirty="0">
                <a:solidFill>
                  <a:srgbClr val="FFFFFF"/>
                </a:solidFill>
                <a:latin typeface="Aptos"/>
              </a:rPr>
              <a:t>Nearest-shelter search</a:t>
            </a:r>
            <a:br>
              <a:rPr dirty="0"/>
            </a:br>
            <a:r>
              <a:rPr sz="1800" b="1" dirty="0">
                <a:solidFill>
                  <a:srgbClr val="FFFFFF"/>
                </a:solidFill>
                <a:latin typeface="Aptos"/>
              </a:rPr>
              <a:t>↓</a:t>
            </a:r>
            <a:br>
              <a:rPr dirty="0"/>
            </a:br>
            <a:r>
              <a:rPr sz="1800" b="1" dirty="0">
                <a:solidFill>
                  <a:srgbClr val="FFFFFF"/>
                </a:solidFill>
                <a:latin typeface="Aptos"/>
              </a:rPr>
              <a:t>Overcrowding / poor fit</a:t>
            </a:r>
            <a:br>
              <a:rPr dirty="0"/>
            </a:br>
            <a:r>
              <a:rPr sz="1800" b="1" dirty="0">
                <a:solidFill>
                  <a:srgbClr val="FFFFFF"/>
                </a:solidFill>
                <a:latin typeface="Aptos"/>
              </a:rPr>
              <a:t>↓</a:t>
            </a:r>
            <a:br>
              <a:rPr dirty="0"/>
            </a:br>
            <a:r>
              <a:rPr sz="1800" b="1" dirty="0">
                <a:solidFill>
                  <a:srgbClr val="FFFFFF"/>
                </a:solidFill>
                <a:latin typeface="Aptos"/>
              </a:rPr>
              <a:t>Longer travel or unmet needs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675120" y="452628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dirty="0">
                <a:solidFill>
                  <a:srgbClr val="00827D"/>
                </a:solidFill>
                <a:latin typeface="Aptos"/>
              </a:rPr>
              <a:t>ESAP addresses the gap using hard feasibility filters + transparent multi-factor ranking.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sz="2400" b="1">
                <a:solidFill>
                  <a:srgbClr val="092D52"/>
                </a:solidFill>
                <a:latin typeface="Aptos"/>
              </a:rPr>
              <a:t>Objectives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914400" y="1234440"/>
            <a:ext cx="502920" cy="502920"/>
          </a:xfrm>
          <a:prstGeom prst="roundRect">
            <a:avLst/>
          </a:prstGeom>
          <a:solidFill>
            <a:srgbClr val="F5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554480" y="1207008"/>
            <a:ext cx="9235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A30"/>
                </a:solidFill>
                <a:latin typeface="Aptos"/>
              </a:rPr>
              <a:t>Enable fast, location-aware discovery of feasible emergency shelters.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14400" y="2084832"/>
            <a:ext cx="502920" cy="502920"/>
          </a:xfrm>
          <a:prstGeom prst="roundRect">
            <a:avLst/>
          </a:prstGeom>
          <a:solidFill>
            <a:srgbClr val="F5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554480" y="2057400"/>
            <a:ext cx="9235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A30"/>
                </a:solidFill>
                <a:latin typeface="Aptos"/>
              </a:rPr>
              <a:t>Apply capacity, status, disaster suitability and facility requirements before ranking.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14400" y="2935224"/>
            <a:ext cx="502920" cy="502920"/>
          </a:xfrm>
          <a:prstGeom prst="roundRect">
            <a:avLst/>
          </a:prstGeom>
          <a:solidFill>
            <a:srgbClr val="F5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554480" y="2907792"/>
            <a:ext cx="9235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A30"/>
                </a:solidFill>
                <a:latin typeface="Aptos"/>
              </a:rPr>
              <a:t>Rank feasible shelters using an explainable deterministic score based on distance, facilities, capacity, suitability and readiness.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914400" y="3785616"/>
            <a:ext cx="502920" cy="502920"/>
          </a:xfrm>
          <a:prstGeom prst="roundRect">
            <a:avLst/>
          </a:prstGeom>
          <a:solidFill>
            <a:srgbClr val="F5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554480" y="3758184"/>
            <a:ext cx="9235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A30"/>
                </a:solidFill>
                <a:latin typeface="Aptos"/>
              </a:rPr>
              <a:t>Provide route guidance, shelter details and score breakdowns to affected users.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914400" y="4636008"/>
            <a:ext cx="502920" cy="502920"/>
          </a:xfrm>
          <a:prstGeom prst="roundRect">
            <a:avLst/>
          </a:prstGeom>
          <a:solidFill>
            <a:srgbClr val="F5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554480" y="4608576"/>
            <a:ext cx="9235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A30"/>
                </a:solidFill>
                <a:latin typeface="Aptos"/>
              </a:rPr>
              <a:t>Give administrators tools to manage shelters, review/confirm/reassign allocations and audit history.</a:t>
            </a: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20CF3E6C-9D22-F1F7-4C96-42BCE8ACB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395F6BE3-C2E7-E383-C049-39CB89CBDC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sz="2400" b="1">
                <a:solidFill>
                  <a:srgbClr val="092D52"/>
                </a:solidFill>
                <a:latin typeface="Aptos"/>
              </a:rPr>
              <a:t>Literature / Research Understanding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4400" y="1115568"/>
            <a:ext cx="1920240" cy="502920"/>
          </a:xfrm>
          <a:prstGeom prst="rect">
            <a:avLst/>
          </a:prstGeom>
          <a:solidFill>
            <a:srgbClr val="092D52"/>
          </a:solidFill>
          <a:ln w="12700">
            <a:solidFill>
              <a:srgbClr val="09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Work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880360" y="1115568"/>
            <a:ext cx="2743200" cy="502920"/>
          </a:xfrm>
          <a:prstGeom prst="rect">
            <a:avLst/>
          </a:prstGeom>
          <a:solidFill>
            <a:srgbClr val="092D52"/>
          </a:solidFill>
          <a:ln w="12700">
            <a:solidFill>
              <a:srgbClr val="09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Approach / Finding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669280" y="1115568"/>
            <a:ext cx="2468880" cy="502920"/>
          </a:xfrm>
          <a:prstGeom prst="rect">
            <a:avLst/>
          </a:prstGeom>
          <a:solidFill>
            <a:srgbClr val="092D52"/>
          </a:solidFill>
          <a:ln w="12700">
            <a:solidFill>
              <a:srgbClr val="09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Relevance to ESAP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183879" y="1115568"/>
            <a:ext cx="2743200" cy="502920"/>
          </a:xfrm>
          <a:prstGeom prst="rect">
            <a:avLst/>
          </a:prstGeom>
          <a:solidFill>
            <a:srgbClr val="092D52"/>
          </a:solidFill>
          <a:ln w="12700">
            <a:solidFill>
              <a:srgbClr val="09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Gap / Limitation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14400" y="1664208"/>
            <a:ext cx="1920240" cy="676656"/>
          </a:xfrm>
          <a:prstGeom prst="rect">
            <a:avLst/>
          </a:prstGeom>
          <a:solidFill>
            <a:srgbClr val="F5F7F9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sz="1100" b="0">
                <a:solidFill>
                  <a:srgbClr val="232A30"/>
                </a:solidFill>
                <a:latin typeface="Aptos"/>
              </a:rPr>
              <a:t>Yang et al. [1]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880360" y="1664208"/>
            <a:ext cx="2743200" cy="676656"/>
          </a:xfrm>
          <a:prstGeom prst="rect">
            <a:avLst/>
          </a:prstGeom>
          <a:solidFill>
            <a:srgbClr val="F5F7F9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sz="1100" b="0">
                <a:solidFill>
                  <a:srgbClr val="232A30"/>
                </a:solidFill>
                <a:latin typeface="Aptos"/>
              </a:rPr>
              <a:t>CARES: routes, exits and shelters; capacity-aware evacuation.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669280" y="1664208"/>
            <a:ext cx="2468880" cy="676656"/>
          </a:xfrm>
          <a:prstGeom prst="rect">
            <a:avLst/>
          </a:prstGeom>
          <a:solidFill>
            <a:srgbClr val="F5F7F9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sz="1100" b="0">
                <a:solidFill>
                  <a:srgbClr val="232A30"/>
                </a:solidFill>
                <a:latin typeface="Aptos"/>
              </a:rPr>
              <a:t>Motivates capacity-aware allocation.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183879" y="1664208"/>
            <a:ext cx="2743200" cy="676656"/>
          </a:xfrm>
          <a:prstGeom prst="rect">
            <a:avLst/>
          </a:prstGeom>
          <a:solidFill>
            <a:srgbClr val="F5F7F9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sz="1100" b="0">
                <a:solidFill>
                  <a:srgbClr val="232A30"/>
                </a:solidFill>
                <a:latin typeface="Aptos"/>
              </a:rPr>
              <a:t>Planner-level evacuation; not an end-user web platform.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14400" y="2414016"/>
            <a:ext cx="1920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sz="1100" b="0">
                <a:solidFill>
                  <a:srgbClr val="232A30"/>
                </a:solidFill>
                <a:latin typeface="Aptos"/>
              </a:rPr>
              <a:t>Zhang et al. [2]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880360" y="2414016"/>
            <a:ext cx="27432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sz="1100" b="0">
                <a:solidFill>
                  <a:srgbClr val="232A30"/>
                </a:solidFill>
                <a:latin typeface="Aptos"/>
              </a:rPr>
              <a:t>Constraint-aware emergency resource allocation under time/cost constraints.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669280" y="2414016"/>
            <a:ext cx="24688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sz="1100" b="0">
                <a:solidFill>
                  <a:srgbClr val="232A30"/>
                </a:solidFill>
                <a:latin typeface="Aptos"/>
              </a:rPr>
              <a:t>Supports explicit feasibility constraints.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183879" y="2414016"/>
            <a:ext cx="27432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sz="1100" b="0">
                <a:solidFill>
                  <a:srgbClr val="232A30"/>
                </a:solidFill>
                <a:latin typeface="Aptos"/>
              </a:rPr>
              <a:t>Resource allocation focus, not shelter recommendation.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14400" y="3163824"/>
            <a:ext cx="1920240" cy="676656"/>
          </a:xfrm>
          <a:prstGeom prst="rect">
            <a:avLst/>
          </a:prstGeom>
          <a:solidFill>
            <a:srgbClr val="F5F7F9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sz="1100" b="0">
                <a:solidFill>
                  <a:srgbClr val="232A30"/>
                </a:solidFill>
                <a:latin typeface="Aptos"/>
              </a:rPr>
              <a:t>Wang et al. [3]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880360" y="3163824"/>
            <a:ext cx="2743200" cy="676656"/>
          </a:xfrm>
          <a:prstGeom prst="rect">
            <a:avLst/>
          </a:prstGeom>
          <a:solidFill>
            <a:srgbClr val="F5F7F9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sz="1100" b="0">
                <a:solidFill>
                  <a:srgbClr val="232A30"/>
                </a:solidFill>
                <a:latin typeface="Aptos"/>
              </a:rPr>
              <a:t>Multi-period post-disaster allocation using multi-objective optimization.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669280" y="3163824"/>
            <a:ext cx="2468880" cy="676656"/>
          </a:xfrm>
          <a:prstGeom prst="rect">
            <a:avLst/>
          </a:prstGeom>
          <a:solidFill>
            <a:srgbClr val="F5F7F9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sz="1100" b="0">
                <a:solidFill>
                  <a:srgbClr val="232A30"/>
                </a:solidFill>
                <a:latin typeface="Aptos"/>
              </a:rPr>
              <a:t>Motivates changing capacity/state.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183879" y="3163824"/>
            <a:ext cx="2743200" cy="676656"/>
          </a:xfrm>
          <a:prstGeom prst="rect">
            <a:avLst/>
          </a:prstGeom>
          <a:solidFill>
            <a:srgbClr val="F5F7F9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sz="1100" b="0">
                <a:solidFill>
                  <a:srgbClr val="232A30"/>
                </a:solidFill>
                <a:latin typeface="Aptos"/>
              </a:rPr>
              <a:t>More complex planner/optimization setting.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14400" y="3913632"/>
            <a:ext cx="1920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sz="1100" b="0">
                <a:solidFill>
                  <a:srgbClr val="232A30"/>
                </a:solidFill>
                <a:latin typeface="Aptos"/>
              </a:rPr>
              <a:t>Amiran et al. [4]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880360" y="3913632"/>
            <a:ext cx="27432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sz="1100" b="0">
                <a:solidFill>
                  <a:srgbClr val="232A30"/>
                </a:solidFill>
                <a:latin typeface="Aptos"/>
              </a:rPr>
              <a:t>ML for earthquake site selection and neighbourhood navigation.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669280" y="3913632"/>
            <a:ext cx="24688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sz="1100" b="0">
                <a:solidFill>
                  <a:srgbClr val="232A30"/>
                </a:solidFill>
                <a:latin typeface="Aptos"/>
              </a:rPr>
              <a:t>Shows value of data-driven suitability/navigation.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183879" y="3913632"/>
            <a:ext cx="27432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sz="1100" b="0">
                <a:solidFill>
                  <a:srgbClr val="232A30"/>
                </a:solidFill>
                <a:latin typeface="Aptos"/>
              </a:rPr>
              <a:t>ML-oriented and hazard-specific.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14400" y="4663440"/>
            <a:ext cx="1920240" cy="676656"/>
          </a:xfrm>
          <a:prstGeom prst="rect">
            <a:avLst/>
          </a:prstGeom>
          <a:solidFill>
            <a:srgbClr val="F5F7F9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sz="1100" b="0">
                <a:solidFill>
                  <a:srgbClr val="232A30"/>
                </a:solidFill>
                <a:latin typeface="Aptos"/>
              </a:rPr>
              <a:t>Sarma et al. [5]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880360" y="4663440"/>
            <a:ext cx="2743200" cy="676656"/>
          </a:xfrm>
          <a:prstGeom prst="rect">
            <a:avLst/>
          </a:prstGeom>
          <a:solidFill>
            <a:srgbClr val="F5F7F9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sz="1100" b="0">
                <a:solidFill>
                  <a:srgbClr val="232A30"/>
                </a:solidFill>
                <a:latin typeface="Aptos"/>
              </a:rPr>
              <a:t>Crowdsourcing + MCDM for disaster relief allocation.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669280" y="4663440"/>
            <a:ext cx="2468880" cy="676656"/>
          </a:xfrm>
          <a:prstGeom prst="rect">
            <a:avLst/>
          </a:prstGeom>
          <a:solidFill>
            <a:srgbClr val="F5F7F9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sz="1100" b="0">
                <a:solidFill>
                  <a:srgbClr val="232A30"/>
                </a:solidFill>
                <a:latin typeface="Aptos"/>
              </a:rPr>
              <a:t>Supports multi-criteria decision support.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183879" y="4663440"/>
            <a:ext cx="2743200" cy="676656"/>
          </a:xfrm>
          <a:prstGeom prst="rect">
            <a:avLst/>
          </a:prstGeom>
          <a:solidFill>
            <a:srgbClr val="F5F7F9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sz="1100" b="0">
                <a:solidFill>
                  <a:srgbClr val="232A30"/>
                </a:solidFill>
                <a:latin typeface="Aptos"/>
              </a:rPr>
              <a:t>Relief-resource focus; not shelter lifecycle management.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914400" y="5440680"/>
            <a:ext cx="10012680" cy="658368"/>
          </a:xfrm>
          <a:prstGeom prst="roundRect">
            <a:avLst/>
          </a:prstGeom>
          <a:solidFill>
            <a:srgbClr val="00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Identified research gap: a deployable, end-user-facing web service combining centralized shelter data, transparent multi-criteria ranking, route guidance and administrator-controlled occupancy updates.</a:t>
            </a:r>
          </a:p>
        </p:txBody>
      </p:sp>
    </p:spTree>
    <p:extLst>
      <p:ext uri="{BB962C8B-B14F-4D97-AF65-F5344CB8AC3E}">
        <p14:creationId xmlns:p14="http://schemas.microsoft.com/office/powerpoint/2010/main" val="1813654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6D0BC35-19ED-73A9-EE75-1137E3945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2BB17B24-7E10-E0D9-F0F4-797FC7D4A3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sz="2400" b="1">
                <a:solidFill>
                  <a:srgbClr val="092D52"/>
                </a:solidFill>
                <a:latin typeface="Aptos"/>
              </a:rPr>
              <a:t>Methodology and Architecture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B656EE7D-C165-CFED-D8E1-B5E966F089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6" name="Rounded Rectangle 115"/>
          <p:cNvSpPr/>
          <p:nvPr/>
        </p:nvSpPr>
        <p:spPr>
          <a:xfrm>
            <a:off x="868680" y="1234440"/>
            <a:ext cx="2880360" cy="914400"/>
          </a:xfrm>
          <a:prstGeom prst="roundRect">
            <a:avLst/>
          </a:prstGeom>
          <a:solidFill>
            <a:srgbClr val="09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AFFECTED USER / ADMIN</a:t>
            </a:r>
            <a:br/>
            <a:r>
              <a:rPr sz="1600" b="1">
                <a:solidFill>
                  <a:srgbClr val="FFFFFF"/>
                </a:solidFill>
                <a:latin typeface="Aptos"/>
              </a:rPr>
              <a:t>React 18 + React Router 6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68680" y="2395728"/>
            <a:ext cx="2880360" cy="114300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00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ctr"/>
            <a:r>
              <a:rPr sz="1500" b="1" dirty="0">
                <a:solidFill>
                  <a:srgbClr val="232A30"/>
                </a:solidFill>
                <a:latin typeface="Aptos"/>
              </a:rPr>
              <a:t>WEB FRONTEND</a:t>
            </a:r>
            <a:br>
              <a:rPr dirty="0"/>
            </a:br>
            <a:r>
              <a:rPr sz="1500" b="1" dirty="0">
                <a:solidFill>
                  <a:srgbClr val="232A30"/>
                </a:solidFill>
                <a:latin typeface="Aptos"/>
              </a:rPr>
              <a:t>Vite 5 • React Context API</a:t>
            </a:r>
            <a:br>
              <a:rPr dirty="0"/>
            </a:br>
            <a:r>
              <a:rPr sz="1500" b="1" dirty="0">
                <a:solidFill>
                  <a:srgbClr val="232A30"/>
                </a:solidFill>
                <a:latin typeface="Aptos"/>
              </a:rPr>
              <a:t>Leaflet + React-Leaflet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68680" y="3767328"/>
            <a:ext cx="2880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ctr"/>
            <a:r>
              <a:rPr sz="1400" b="1">
                <a:solidFill>
                  <a:srgbClr val="232A30"/>
                </a:solidFill>
                <a:latin typeface="Aptos"/>
              </a:rPr>
              <a:t>BACKEND API</a:t>
            </a:r>
            <a:br/>
            <a:r>
              <a:rPr sz="1400" b="1">
                <a:solidFill>
                  <a:srgbClr val="232A30"/>
                </a:solidFill>
                <a:latin typeface="Aptos"/>
              </a:rPr>
              <a:t>Node.js 18+ • Express 4</a:t>
            </a:r>
            <a:br/>
            <a:r>
              <a:rPr sz="1400" b="1">
                <a:solidFill>
                  <a:srgbClr val="232A30"/>
                </a:solidFill>
                <a:latin typeface="Aptos"/>
              </a:rPr>
              <a:t>JWT • Zod • Helmet • CORS • Rate Limit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251960" y="2011680"/>
            <a:ext cx="2971800" cy="1417320"/>
          </a:xfrm>
          <a:prstGeom prst="roundRect">
            <a:avLst/>
          </a:prstGeom>
          <a:solidFill>
            <a:srgbClr val="00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ALLOCATION ENGINE</a:t>
            </a:r>
            <a:br/>
            <a:r>
              <a:rPr sz="1500" b="1">
                <a:solidFill>
                  <a:srgbClr val="FFFFFF"/>
                </a:solidFill>
                <a:latin typeface="Aptos"/>
              </a:rPr>
              <a:t>Hard filters → weighted score</a:t>
            </a:r>
            <a:br/>
            <a:r>
              <a:rPr sz="1500" b="1">
                <a:solidFill>
                  <a:srgbClr val="FFFFFF"/>
                </a:solidFill>
                <a:latin typeface="Aptos"/>
              </a:rPr>
              <a:t>Deterministic ranking → explanation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818120" y="1325880"/>
            <a:ext cx="2880360" cy="1143000"/>
          </a:xfrm>
          <a:prstGeom prst="roundRect">
            <a:avLst/>
          </a:prstGeom>
          <a:solidFill>
            <a:srgbClr val="134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POSTGRESQL</a:t>
            </a:r>
            <a:br/>
            <a:r>
              <a:rPr sz="1500" b="1">
                <a:solidFill>
                  <a:srgbClr val="FFFFFF"/>
                </a:solidFill>
                <a:latin typeface="Aptos"/>
              </a:rPr>
              <a:t>9 core tables • generated capacity</a:t>
            </a:r>
            <a:br/>
            <a:r>
              <a:rPr sz="1500" b="1">
                <a:solidFill>
                  <a:srgbClr val="FFFFFF"/>
                </a:solidFill>
                <a:latin typeface="Aptos"/>
              </a:rPr>
              <a:t>triggers • audit history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7818120" y="2788920"/>
            <a:ext cx="2880360" cy="114300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00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ctr"/>
            <a:r>
              <a:rPr sz="1500" b="1">
                <a:solidFill>
                  <a:srgbClr val="232A30"/>
                </a:solidFill>
                <a:latin typeface="Aptos"/>
              </a:rPr>
              <a:t>MAP / ROUTING</a:t>
            </a:r>
            <a:br/>
            <a:r>
              <a:rPr sz="1500" b="1">
                <a:solidFill>
                  <a:srgbClr val="232A30"/>
                </a:solidFill>
                <a:latin typeface="Aptos"/>
              </a:rPr>
              <a:t>OpenStreetMap + Leaflet</a:t>
            </a:r>
            <a:br/>
            <a:r>
              <a:rPr sz="1500" b="1">
                <a:solidFill>
                  <a:srgbClr val="232A30"/>
                </a:solidFill>
                <a:latin typeface="Aptos"/>
              </a:rPr>
              <a:t>OSRM real road routing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818120" y="4251960"/>
            <a:ext cx="2880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ctr"/>
            <a:r>
              <a:rPr sz="1400" b="1">
                <a:solidFill>
                  <a:srgbClr val="232A30"/>
                </a:solidFill>
                <a:latin typeface="Aptos"/>
              </a:rPr>
              <a:t>SECURITY / LOGGING</a:t>
            </a:r>
            <a:br/>
            <a:r>
              <a:rPr sz="1400" b="1">
                <a:solidFill>
                  <a:srgbClr val="232A30"/>
                </a:solidFill>
                <a:latin typeface="Aptos"/>
              </a:rPr>
              <a:t>bcryptjs • JWT • Helmet</a:t>
            </a:r>
            <a:br/>
            <a:r>
              <a:rPr sz="1400" b="1">
                <a:solidFill>
                  <a:srgbClr val="232A30"/>
                </a:solidFill>
                <a:latin typeface="Aptos"/>
              </a:rPr>
              <a:t>Morgan • ExcelJS export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2331720" y="2148840"/>
            <a:ext cx="0" cy="246888"/>
          </a:xfrm>
          <a:prstGeom prst="line">
            <a:avLst/>
          </a:prstGeom>
          <a:ln w="27940">
            <a:solidFill>
              <a:srgbClr val="F5B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3749039" y="2743200"/>
            <a:ext cx="502921" cy="228600"/>
          </a:xfrm>
          <a:prstGeom prst="line">
            <a:avLst/>
          </a:prstGeom>
          <a:ln w="27940">
            <a:solidFill>
              <a:srgbClr val="F5B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7223760" y="1874519"/>
            <a:ext cx="594360" cy="822961"/>
          </a:xfrm>
          <a:prstGeom prst="line">
            <a:avLst/>
          </a:prstGeom>
          <a:ln w="27940">
            <a:solidFill>
              <a:srgbClr val="F5B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7223760" y="2971800"/>
            <a:ext cx="594360" cy="365760"/>
          </a:xfrm>
          <a:prstGeom prst="line">
            <a:avLst/>
          </a:prstGeom>
          <a:ln w="27940">
            <a:solidFill>
              <a:srgbClr val="008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4160520" y="37947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A646E"/>
                </a:solidFill>
                <a:latin typeface="Aptos"/>
              </a:rPr>
              <a:t>REQUEST PIPELINE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3977639" y="4224528"/>
            <a:ext cx="621792" cy="530352"/>
          </a:xfrm>
          <a:prstGeom prst="roundRect">
            <a:avLst/>
          </a:prstGeom>
          <a:solidFill>
            <a:srgbClr val="09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Request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672583" y="4224528"/>
            <a:ext cx="621792" cy="530352"/>
          </a:xfrm>
          <a:prstGeom prst="roundRect">
            <a:avLst/>
          </a:prstGeom>
          <a:solidFill>
            <a:srgbClr val="09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Hard Filter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367527" y="4224528"/>
            <a:ext cx="621792" cy="530352"/>
          </a:xfrm>
          <a:prstGeom prst="roundRect">
            <a:avLst/>
          </a:prstGeom>
          <a:solidFill>
            <a:srgbClr val="09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062472" y="4224528"/>
            <a:ext cx="621792" cy="530352"/>
          </a:xfrm>
          <a:prstGeom prst="roundRect">
            <a:avLst/>
          </a:prstGeom>
          <a:solidFill>
            <a:srgbClr val="09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Rank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757416" y="4224528"/>
            <a:ext cx="621792" cy="530352"/>
          </a:xfrm>
          <a:prstGeom prst="roundRect">
            <a:avLst/>
          </a:prstGeom>
          <a:solidFill>
            <a:srgbClr val="00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Recommend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160520" y="498348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32A30"/>
                </a:solidFill>
                <a:latin typeface="Aptos"/>
              </a:rPr>
              <a:t>Score factors: Distance 30% • Facilities 25% • Capacity 20% • Disaster suitability 20% • Readiness 5%</a:t>
            </a:r>
          </a:p>
        </p:txBody>
      </p:sp>
    </p:spTree>
    <p:extLst>
      <p:ext uri="{BB962C8B-B14F-4D97-AF65-F5344CB8AC3E}">
        <p14:creationId xmlns:p14="http://schemas.microsoft.com/office/powerpoint/2010/main" val="3966353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1C8B1B47-DF01-E1F4-26F3-14B9F826E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73128998-8B2C-F90B-C9A2-EF57AD9682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sz="2400" b="1">
                <a:solidFill>
                  <a:srgbClr val="092D52"/>
                </a:solidFill>
                <a:latin typeface="Aptos"/>
              </a:rPr>
              <a:t>Implementation Progress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914400" y="1078992"/>
            <a:ext cx="2240280" cy="548640"/>
          </a:xfrm>
          <a:prstGeom prst="roundRect">
            <a:avLst/>
          </a:prstGeom>
          <a:solidFill>
            <a:srgbClr val="00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Aptos"/>
              </a:rPr>
              <a:t>≈ 50% COMPLETE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383280" y="1143000"/>
            <a:ext cx="6949440" cy="411480"/>
          </a:xfrm>
          <a:prstGeom prst="roundRect">
            <a:avLst/>
          </a:prstGeom>
          <a:solidFill>
            <a:srgbClr val="E1E6EA"/>
          </a:solidFill>
          <a:ln w="1270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endParaRPr/>
          </a:p>
        </p:txBody>
      </p:sp>
      <p:sp>
        <p:nvSpPr>
          <p:cNvPr id="118" name="Rounded Rectangle 117"/>
          <p:cNvSpPr/>
          <p:nvPr/>
        </p:nvSpPr>
        <p:spPr>
          <a:xfrm>
            <a:off x="3383280" y="1143000"/>
            <a:ext cx="3474720" cy="411480"/>
          </a:xfrm>
          <a:prstGeom prst="roundRect">
            <a:avLst/>
          </a:prstGeom>
          <a:solidFill>
            <a:srgbClr val="00827D"/>
          </a:solidFill>
          <a:ln w="12700">
            <a:solidFill>
              <a:srgbClr val="00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3401568" y="1627632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46E"/>
                </a:solidFill>
                <a:latin typeface="Aptos"/>
              </a:rPr>
              <a:t>Review-2 milestone: backend verified; core frontend flows/build verified; final UI work remains.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4400" y="20574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92D52"/>
                </a:solidFill>
                <a:latin typeface="Aptos"/>
              </a:rPr>
              <a:t>Authentication &amp; security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063240" y="205740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A30"/>
                </a:solidFill>
                <a:latin typeface="Aptos"/>
              </a:rPr>
              <a:t>JWT login/register, bcrypt password hashing, admin passkey, validation, Helmet, CORS, rate limiting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9738360" y="2057400"/>
            <a:ext cx="1143000" cy="347472"/>
          </a:xfrm>
          <a:prstGeom prst="roundRect">
            <a:avLst/>
          </a:prstGeom>
          <a:solidFill>
            <a:srgbClr val="2A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DONE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14400" y="2633472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92D52"/>
                </a:solidFill>
                <a:latin typeface="Aptos"/>
              </a:rPr>
              <a:t>Shelter &amp; facility management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063240" y="2633472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A30"/>
                </a:solidFill>
                <a:latin typeface="Aptos"/>
              </a:rPr>
              <a:t>Shelter CRUD, lifecycle states, occupancy, capacity estimator, database triggers/generated capacity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9738360" y="2633472"/>
            <a:ext cx="1143000" cy="347472"/>
          </a:xfrm>
          <a:prstGeom prst="roundRect">
            <a:avLst/>
          </a:prstGeom>
          <a:solidFill>
            <a:srgbClr val="2A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DONE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14400" y="3209544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92D52"/>
                </a:solidFill>
                <a:latin typeface="Aptos"/>
              </a:rPr>
              <a:t>Allocation engine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063240" y="3209544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A30"/>
                </a:solidFill>
                <a:latin typeface="Aptos"/>
              </a:rPr>
              <a:t>Hard filters + 0–100 weighted score + deterministic ordering + explainable breakdown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9738360" y="3209544"/>
            <a:ext cx="1143000" cy="347472"/>
          </a:xfrm>
          <a:prstGeom prst="roundRect">
            <a:avLst/>
          </a:prstGeom>
          <a:solidFill>
            <a:srgbClr val="2A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DONE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14400" y="3785616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92D52"/>
                </a:solidFill>
                <a:latin typeface="Aptos"/>
              </a:rPr>
              <a:t>Admin allocation &amp; history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063240" y="3785616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A30"/>
                </a:solidFill>
                <a:latin typeface="Aptos"/>
              </a:rPr>
              <a:t>Keep/Change allocation, audit trail, CSV export, admin requests/allocations/history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9738360" y="3785616"/>
            <a:ext cx="1143000" cy="347472"/>
          </a:xfrm>
          <a:prstGeom prst="roundRect">
            <a:avLst/>
          </a:prstGeom>
          <a:solidFill>
            <a:srgbClr val="2A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DONE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14400" y="436168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92D52"/>
                </a:solidFill>
                <a:latin typeface="Aptos"/>
              </a:rPr>
              <a:t>Frontend application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063240" y="4361688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A30"/>
                </a:solidFill>
                <a:latin typeface="Aptos"/>
              </a:rPr>
              <a:t>User flow, dashboard, maps, results, admin pages, theme system; lifecycle UI still pending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9738360" y="4361688"/>
            <a:ext cx="1143000" cy="347472"/>
          </a:xfrm>
          <a:prstGeom prst="roundRect">
            <a:avLst/>
          </a:prstGeom>
          <a:solidFill>
            <a:srgbClr val="F5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IN PROGRESS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14400" y="49377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92D52"/>
                </a:solidFill>
                <a:latin typeface="Aptos"/>
              </a:rPr>
              <a:t>Testing / verification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063240" y="493776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A30"/>
                </a:solidFill>
                <a:latin typeface="Aptos"/>
              </a:rPr>
              <a:t>Backend smoke checks and frontend build/core-flow browser checks completed; full suites need updating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9738360" y="4937760"/>
            <a:ext cx="1143000" cy="347472"/>
          </a:xfrm>
          <a:prstGeom prst="roundRect">
            <a:avLst/>
          </a:prstGeom>
          <a:solidFill>
            <a:srgbClr val="F5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IN PROGRESS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14400" y="55321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BE2D2D"/>
                </a:solidFill>
                <a:latin typeface="Aptos"/>
              </a:rPr>
              <a:t>Largest remaining item: admin UI for potential-facility verification / activation; additional UI fields, reservation/holding, road-distance ranking and full test-suite updates remain.</a:t>
            </a:r>
          </a:p>
        </p:txBody>
      </p:sp>
    </p:spTree>
    <p:extLst>
      <p:ext uri="{BB962C8B-B14F-4D97-AF65-F5344CB8AC3E}">
        <p14:creationId xmlns:p14="http://schemas.microsoft.com/office/powerpoint/2010/main" val="385819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sz="2400" b="1">
                <a:solidFill>
                  <a:srgbClr val="092D52"/>
                </a:solidFill>
                <a:latin typeface="Aptos"/>
              </a:rPr>
              <a:t>Individual Contribution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914400" y="1234440"/>
            <a:ext cx="2423160" cy="960120"/>
          </a:xfrm>
          <a:prstGeom prst="roundRect">
            <a:avLst/>
          </a:prstGeom>
          <a:solidFill>
            <a:srgbClr val="09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Sharan Poojari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520440" y="1234440"/>
            <a:ext cx="7132320" cy="96012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lang="en-IN" sz="1400" b="0" dirty="0">
                <a:solidFill>
                  <a:srgbClr val="232A30"/>
                </a:solidFill>
                <a:latin typeface="Aptos"/>
              </a:rPr>
              <a:t>Problem analysis ,literature review, </a:t>
            </a:r>
            <a:r>
              <a:rPr lang="en-IN" dirty="0">
                <a:solidFill>
                  <a:srgbClr val="232A30"/>
                </a:solidFill>
                <a:latin typeface="Aptos"/>
              </a:rPr>
              <a:t>t</a:t>
            </a:r>
            <a:r>
              <a:rPr lang="en-IN" sz="1400" b="0" dirty="0">
                <a:solidFill>
                  <a:srgbClr val="232A30"/>
                </a:solidFill>
                <a:latin typeface="Aptos"/>
              </a:rPr>
              <a:t>echnology and API selection, and project documentation</a:t>
            </a:r>
            <a:endParaRPr sz="1400" b="0" dirty="0">
              <a:solidFill>
                <a:srgbClr val="232A30"/>
              </a:solidFill>
              <a:latin typeface="Aptos"/>
            </a:endParaRPr>
          </a:p>
        </p:txBody>
      </p:sp>
      <p:sp>
        <p:nvSpPr>
          <p:cNvPr id="118" name="Rounded Rectangle 117"/>
          <p:cNvSpPr/>
          <p:nvPr/>
        </p:nvSpPr>
        <p:spPr>
          <a:xfrm>
            <a:off x="914400" y="2560320"/>
            <a:ext cx="2423160" cy="960120"/>
          </a:xfrm>
          <a:prstGeom prst="roundRect">
            <a:avLst/>
          </a:prstGeom>
          <a:solidFill>
            <a:srgbClr val="09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Suhas S Kattimani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3520440" y="2560320"/>
            <a:ext cx="7132320" cy="96012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lang="en-IN" sz="1400" b="0" dirty="0">
                <a:solidFill>
                  <a:srgbClr val="232A30"/>
                </a:solidFill>
                <a:latin typeface="Aptos"/>
              </a:rPr>
              <a:t>Frontend development(React, Leaflet map integration, results and admin pages), and system architecture planning</a:t>
            </a:r>
            <a:endParaRPr sz="1400" b="0" dirty="0">
              <a:solidFill>
                <a:srgbClr val="232A30"/>
              </a:solidFill>
              <a:latin typeface="Aptos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914400" y="3886200"/>
            <a:ext cx="2423160" cy="960120"/>
          </a:xfrm>
          <a:prstGeom prst="roundRect">
            <a:avLst/>
          </a:prstGeom>
          <a:solidFill>
            <a:srgbClr val="09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Harshil Gurjar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3520440" y="3886200"/>
            <a:ext cx="7132320" cy="96012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lang="en-IN" sz="1400" b="0" dirty="0">
                <a:solidFill>
                  <a:srgbClr val="232A30"/>
                </a:solidFill>
                <a:latin typeface="Aptos"/>
              </a:rPr>
              <a:t>Backend and database design (Node.js, Express, PostgreSQL), the allocation-scoring engine and </a:t>
            </a:r>
            <a:r>
              <a:rPr lang="en-IN" sz="1400" b="0" dirty="0" err="1">
                <a:solidFill>
                  <a:srgbClr val="232A30"/>
                </a:solidFill>
                <a:latin typeface="Aptos"/>
              </a:rPr>
              <a:t>Github</a:t>
            </a:r>
            <a:r>
              <a:rPr lang="en-IN" sz="1400" b="0" dirty="0">
                <a:solidFill>
                  <a:srgbClr val="232A30"/>
                </a:solidFill>
                <a:latin typeface="Aptos"/>
              </a:rPr>
              <a:t> repository setup</a:t>
            </a:r>
            <a:endParaRPr sz="1400" b="0" dirty="0">
              <a:solidFill>
                <a:srgbClr val="232A30"/>
              </a:solidFill>
              <a:latin typeface="Aptos"/>
            </a:endParaRPr>
          </a:p>
        </p:txBody>
      </p:sp>
      <p:sp>
        <p:nvSpPr>
          <p:cNvPr id="122" name="Rounded Rectangle 121"/>
          <p:cNvSpPr/>
          <p:nvPr/>
        </p:nvSpPr>
        <p:spPr>
          <a:xfrm>
            <a:off x="914400" y="5303520"/>
            <a:ext cx="9738360" cy="594360"/>
          </a:xfrm>
          <a:prstGeom prst="round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lvl="0" algn="ctr"/>
            <a:r>
              <a:rPr lang="en-GB" dirty="0"/>
              <a:t>All three members jointly worked on the execution plan, workflow design and the supporting project documents.</a:t>
            </a: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sz="2400" b="1">
                <a:solidFill>
                  <a:srgbClr val="092D52"/>
                </a:solidFill>
                <a:latin typeface="Aptos"/>
              </a:rPr>
              <a:t>GitHub Repository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914400" y="1234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092D52"/>
                </a:solidFill>
                <a:latin typeface="Aptos"/>
              </a:rPr>
              <a:t>https://github.com/HarshilxAI/Emergency-Shelter-Allocation-Platform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051560" y="2057400"/>
            <a:ext cx="3017520" cy="2148840"/>
          </a:xfrm>
          <a:prstGeom prst="roundRect">
            <a:avLst/>
          </a:prstGeom>
          <a:solidFill>
            <a:srgbClr val="09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REPOSITORY CONTENT</a:t>
            </a:r>
            <a:br/>
            <a:br/>
            <a:r>
              <a:rPr sz="1500" b="1">
                <a:solidFill>
                  <a:srgbClr val="FFFFFF"/>
                </a:solidFill>
                <a:latin typeface="Aptos"/>
              </a:rPr>
              <a:t>Frontend</a:t>
            </a:r>
            <a:br/>
            <a:r>
              <a:rPr sz="1500" b="1">
                <a:solidFill>
                  <a:srgbClr val="FFFFFF"/>
                </a:solidFill>
                <a:latin typeface="Aptos"/>
              </a:rPr>
              <a:t>Backend</a:t>
            </a:r>
            <a:br/>
            <a:r>
              <a:rPr sz="1500" b="1">
                <a:solidFill>
                  <a:srgbClr val="FFFFFF"/>
                </a:solidFill>
                <a:latin typeface="Aptos"/>
              </a:rPr>
              <a:t>Database schema &amp; seeds</a:t>
            </a:r>
            <a:br/>
            <a:r>
              <a:rPr sz="1500" b="1">
                <a:solidFill>
                  <a:srgbClr val="FFFFFF"/>
                </a:solidFill>
                <a:latin typeface="Aptos"/>
              </a:rPr>
              <a:t>Testing scripts</a:t>
            </a:r>
            <a:br/>
            <a:r>
              <a:rPr sz="1500" b="1">
                <a:solidFill>
                  <a:srgbClr val="FFFFFF"/>
                </a:solidFill>
                <a:latin typeface="Aptos"/>
              </a:rPr>
              <a:t>Review documents</a:t>
            </a:r>
            <a:br/>
            <a:r>
              <a:rPr sz="1500" b="1">
                <a:solidFill>
                  <a:srgbClr val="FFFFFF"/>
                </a:solidFill>
                <a:latin typeface="Aptos"/>
              </a:rPr>
              <a:t>Current status &amp; planning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434840" y="2057400"/>
            <a:ext cx="3017520" cy="2148840"/>
          </a:xfrm>
          <a:prstGeom prst="roundRect">
            <a:avLst/>
          </a:prstGeom>
          <a:solidFill>
            <a:srgbClr val="00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IMPLEMENTATION EVIDENCE</a:t>
            </a:r>
            <a:br/>
            <a:br/>
            <a:r>
              <a:rPr sz="1500" b="1">
                <a:solidFill>
                  <a:srgbClr val="FFFFFF"/>
                </a:solidFill>
                <a:latin typeface="Aptos"/>
              </a:rPr>
              <a:t>Allocation engine</a:t>
            </a:r>
            <a:br/>
            <a:r>
              <a:rPr sz="1500" b="1">
                <a:solidFill>
                  <a:srgbClr val="FFFFFF"/>
                </a:solidFill>
                <a:latin typeface="Aptos"/>
              </a:rPr>
              <a:t>REST APIs</a:t>
            </a:r>
            <a:br/>
            <a:r>
              <a:rPr sz="1500" b="1">
                <a:solidFill>
                  <a:srgbClr val="FFFFFF"/>
                </a:solidFill>
                <a:latin typeface="Aptos"/>
              </a:rPr>
              <a:t>Authentication</a:t>
            </a:r>
            <a:br/>
            <a:r>
              <a:rPr sz="1500" b="1">
                <a:solidFill>
                  <a:srgbClr val="FFFFFF"/>
                </a:solidFill>
                <a:latin typeface="Aptos"/>
              </a:rPr>
              <a:t>Admin workflows</a:t>
            </a:r>
            <a:br/>
            <a:r>
              <a:rPr sz="1500" b="1">
                <a:solidFill>
                  <a:srgbClr val="FFFFFF"/>
                </a:solidFill>
                <a:latin typeface="Aptos"/>
              </a:rPr>
              <a:t>Maps &amp; routing</a:t>
            </a:r>
            <a:br/>
            <a:r>
              <a:rPr sz="1500" b="1">
                <a:solidFill>
                  <a:srgbClr val="FFFFFF"/>
                </a:solidFill>
                <a:latin typeface="Aptos"/>
              </a:rPr>
              <a:t>Audit history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7818120" y="2057400"/>
            <a:ext cx="3017520" cy="2148840"/>
          </a:xfrm>
          <a:prstGeom prst="roundRect">
            <a:avLst/>
          </a:prstGeom>
          <a:solidFill>
            <a:srgbClr val="F5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REVIEW-2 STATE</a:t>
            </a:r>
            <a:br/>
            <a:br/>
            <a:r>
              <a:rPr sz="1500" b="1">
                <a:solidFill>
                  <a:srgbClr val="FFFFFF"/>
                </a:solidFill>
                <a:latin typeface="Aptos"/>
              </a:rPr>
              <a:t>≈50% complete</a:t>
            </a:r>
            <a:br/>
            <a:r>
              <a:rPr sz="1500" b="1">
                <a:solidFill>
                  <a:srgbClr val="FFFFFF"/>
                </a:solidFill>
                <a:latin typeface="Aptos"/>
              </a:rPr>
              <a:t>Backend verified</a:t>
            </a:r>
            <a:br/>
            <a:r>
              <a:rPr sz="1500" b="1">
                <a:solidFill>
                  <a:srgbClr val="FFFFFF"/>
                </a:solidFill>
                <a:latin typeface="Aptos"/>
              </a:rPr>
              <a:t>Core UI flows verified</a:t>
            </a:r>
            <a:br/>
            <a:r>
              <a:rPr sz="1500" b="1">
                <a:solidFill>
                  <a:srgbClr val="FFFFFF"/>
                </a:solidFill>
                <a:latin typeface="Aptos"/>
              </a:rPr>
              <a:t>Build passes</a:t>
            </a:r>
            <a:br/>
            <a:r>
              <a:rPr sz="1500" b="1">
                <a:solidFill>
                  <a:srgbClr val="FFFFFF"/>
                </a:solidFill>
                <a:latin typeface="Aptos"/>
              </a:rPr>
              <a:t>Final UI integration pending</a:t>
            </a: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sz="2400" b="1">
                <a:solidFill>
                  <a:srgbClr val="092D52"/>
                </a:solidFill>
                <a:latin typeface="Aptos"/>
              </a:rPr>
              <a:t>Conclusion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6" name="Rounded Rectangle 115"/>
          <p:cNvSpPr/>
          <p:nvPr/>
        </p:nvSpPr>
        <p:spPr>
          <a:xfrm>
            <a:off x="914400" y="1280160"/>
            <a:ext cx="3063240" cy="1874520"/>
          </a:xfrm>
          <a:prstGeom prst="roundRect">
            <a:avLst/>
          </a:prstGeom>
          <a:solidFill>
            <a:srgbClr val="09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WHAT IS BUILT</a:t>
            </a:r>
            <a:br>
              <a:rPr dirty="0"/>
            </a:br>
            <a:r>
              <a:rPr sz="1600" b="1" dirty="0">
                <a:solidFill>
                  <a:srgbClr val="FFFFFF"/>
                </a:solidFill>
                <a:latin typeface="Aptos"/>
              </a:rPr>
              <a:t>Capacity-aware shelter recommendation</a:t>
            </a:r>
            <a:br>
              <a:rPr dirty="0"/>
            </a:br>
            <a:r>
              <a:rPr sz="1600" b="1" dirty="0">
                <a:solidFill>
                  <a:srgbClr val="FFFFFF"/>
                </a:solidFill>
                <a:latin typeface="Aptos"/>
              </a:rPr>
              <a:t>Explainable deterministic scoring</a:t>
            </a:r>
            <a:br>
              <a:rPr dirty="0"/>
            </a:br>
            <a:r>
              <a:rPr sz="1600" b="1" dirty="0">
                <a:solidFill>
                  <a:srgbClr val="FFFFFF"/>
                </a:solidFill>
                <a:latin typeface="Aptos"/>
              </a:rPr>
              <a:t>User + admin workflows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160520" y="1280160"/>
            <a:ext cx="3063240" cy="1874520"/>
          </a:xfrm>
          <a:prstGeom prst="roundRect">
            <a:avLst/>
          </a:prstGeom>
          <a:solidFill>
            <a:srgbClr val="00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WHAT IS VERIFIED</a:t>
            </a:r>
            <a:br/>
            <a:r>
              <a:rPr sz="1600" b="1">
                <a:solidFill>
                  <a:srgbClr val="FFFFFF"/>
                </a:solidFill>
                <a:latin typeface="Aptos"/>
              </a:rPr>
              <a:t>Backend allocation flows</a:t>
            </a:r>
            <a:br/>
            <a:r>
              <a:rPr sz="1600" b="1">
                <a:solidFill>
                  <a:srgbClr val="FFFFFF"/>
                </a:solidFill>
                <a:latin typeface="Aptos"/>
              </a:rPr>
              <a:t>Admin confirm/reassign/history</a:t>
            </a:r>
            <a:br/>
            <a:r>
              <a:rPr sz="1600" b="1">
                <a:solidFill>
                  <a:srgbClr val="FFFFFF"/>
                </a:solidFill>
                <a:latin typeface="Aptos"/>
              </a:rPr>
              <a:t>Frontend build + core browser flows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7406640" y="1280160"/>
            <a:ext cx="3063240" cy="1874520"/>
          </a:xfrm>
          <a:prstGeom prst="roundRect">
            <a:avLst/>
          </a:prstGeom>
          <a:solidFill>
            <a:srgbClr val="F5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WHAT REMAINS</a:t>
            </a:r>
            <a:br>
              <a:rPr dirty="0"/>
            </a:br>
            <a:r>
              <a:rPr sz="1500" b="1" dirty="0">
                <a:solidFill>
                  <a:srgbClr val="FFFFFF"/>
                </a:solidFill>
                <a:latin typeface="Aptos"/>
              </a:rPr>
              <a:t>Facility lifecycle UI</a:t>
            </a:r>
            <a:br>
              <a:rPr dirty="0"/>
            </a:br>
            <a:r>
              <a:rPr sz="1500" b="1" dirty="0">
                <a:solidFill>
                  <a:srgbClr val="FFFFFF"/>
                </a:solidFill>
                <a:latin typeface="Aptos"/>
              </a:rPr>
              <a:t>Additional form fields</a:t>
            </a:r>
            <a:br>
              <a:rPr dirty="0"/>
            </a:br>
            <a:r>
              <a:rPr sz="1500" b="1" dirty="0">
                <a:solidFill>
                  <a:srgbClr val="FFFFFF"/>
                </a:solidFill>
                <a:latin typeface="Aptos"/>
              </a:rPr>
              <a:t>Reservation / road-distance ranking</a:t>
            </a:r>
            <a:br>
              <a:rPr dirty="0"/>
            </a:br>
            <a:r>
              <a:rPr sz="1500" b="1" dirty="0">
                <a:solidFill>
                  <a:srgbClr val="FFFFFF"/>
                </a:solidFill>
                <a:latin typeface="Aptos"/>
              </a:rPr>
              <a:t>Full regression test update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4400" y="3429000"/>
            <a:ext cx="95097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lvl="0" algn="just"/>
            <a:r>
              <a:rPr lang="en-GB" sz="2000" b="1" dirty="0"/>
              <a:t>The current version is about 50% complete and uses fictional demo data. The main work remaining is the facility-verification admin screen, space reservation, and testing against real shelter data.</a:t>
            </a: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sz="2400" b="1">
                <a:solidFill>
                  <a:srgbClr val="092D52"/>
                </a:solidFill>
                <a:latin typeface="Aptos"/>
              </a:rPr>
              <a:t>References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812800" y="1033272"/>
            <a:ext cx="10241280" cy="5370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</a:pPr>
            <a:r>
              <a:rPr lang="en-GB" sz="1200" b="1" dirty="0"/>
              <a:t>[1] </a:t>
            </a:r>
            <a:r>
              <a:rPr lang="en-GB" sz="1200" dirty="0"/>
              <a:t>K. Yang, A. H. Shekhar, F. U. Rehman, H. </a:t>
            </a:r>
            <a:r>
              <a:rPr lang="en-GB" sz="1200" dirty="0" err="1"/>
              <a:t>Lahza</a:t>
            </a:r>
            <a:r>
              <a:rPr lang="en-GB" sz="1200" dirty="0"/>
              <a:t>, S. </a:t>
            </a:r>
            <a:r>
              <a:rPr lang="en-GB" sz="1200" dirty="0" err="1"/>
              <a:t>Basalamah</a:t>
            </a:r>
            <a:r>
              <a:rPr lang="en-GB" sz="1200" dirty="0"/>
              <a:t>, S. Shekhar, I. Ahmed, and A. Ghafoor, "Intelligent shelter allotment for emergency evacuation planning: A case study of Makkah," IEEE Intell. Syst., vol. 30, no. 5, pp. 66-76, 2015.</a:t>
            </a:r>
          </a:p>
          <a:p>
            <a:pPr marL="342900" indent="-342900">
              <a:spcBef>
                <a:spcPts val="600"/>
              </a:spcBef>
            </a:pPr>
            <a:r>
              <a:rPr lang="en-GB" sz="1200" b="1" dirty="0"/>
              <a:t>[2] </a:t>
            </a:r>
            <a:r>
              <a:rPr lang="en-GB" sz="1200" dirty="0"/>
              <a:t>J. Zhang, M. Zhang, F. Ren, and J. Liu, "An innovation approach for optimal resource allocation in emergency management," IEEE Trans. </a:t>
            </a:r>
            <a:r>
              <a:rPr lang="en-GB" sz="1200" dirty="0" err="1"/>
              <a:t>Comput</a:t>
            </a:r>
            <a:r>
              <a:rPr lang="en-GB" sz="1200" dirty="0"/>
              <a:t>., 2016.</a:t>
            </a:r>
          </a:p>
          <a:p>
            <a:pPr marL="342900" indent="-342900">
              <a:spcBef>
                <a:spcPts val="600"/>
              </a:spcBef>
            </a:pPr>
            <a:r>
              <a:rPr lang="en-GB" sz="1200" b="1" dirty="0"/>
              <a:t>[3] </a:t>
            </a:r>
            <a:r>
              <a:rPr lang="en-GB" sz="1200" dirty="0"/>
              <a:t>F. Wang, Z. Pei, L. Dong, and J. Ma, "Emergency resource allocation for multi-period post-disaster using multi-objective cellular genetic algorithm," IEEE Access, vol. 8, pp. 82255-82265, 2020.</a:t>
            </a:r>
          </a:p>
          <a:p>
            <a:pPr marL="342900" indent="-342900">
              <a:spcBef>
                <a:spcPts val="600"/>
              </a:spcBef>
            </a:pPr>
            <a:r>
              <a:rPr lang="en-GB" sz="1200" b="1" dirty="0"/>
              <a:t>[4] </a:t>
            </a:r>
            <a:r>
              <a:rPr lang="en-GB" sz="1200" dirty="0"/>
              <a:t>A. Amiran, B. Behnam, and S. </a:t>
            </a:r>
            <a:r>
              <a:rPr lang="en-GB" sz="1200" dirty="0" err="1"/>
              <a:t>Seyedin</a:t>
            </a:r>
            <a:r>
              <a:rPr lang="en-GB" sz="1200" dirty="0"/>
              <a:t>, "Machine learning for earthquake emergency evacuation: Site selection and </a:t>
            </a:r>
            <a:r>
              <a:rPr lang="en-GB" sz="1200" dirty="0" err="1"/>
              <a:t>neighborhood</a:t>
            </a:r>
            <a:r>
              <a:rPr lang="en-GB" sz="1200" dirty="0"/>
              <a:t> navigation," IEEE Access, vol. 13, pp. 91595-91610, 2025.</a:t>
            </a:r>
          </a:p>
          <a:p>
            <a:pPr marL="342900" indent="-342900">
              <a:spcBef>
                <a:spcPts val="600"/>
              </a:spcBef>
            </a:pPr>
            <a:r>
              <a:rPr lang="en-GB" sz="1200" b="1" dirty="0"/>
              <a:t>[5] </a:t>
            </a:r>
            <a:r>
              <a:rPr lang="en-GB" sz="1200" dirty="0"/>
              <a:t>D. Sarma, A. Das, U. K. Bera, and A. Singh, "A cost minimization resource allocation model for disaster relief operations with an information crowdsourcing-based MCDM approach," IEEE Trans. Eng. Manag., vol. 69, no. 5, pp. 2454-2474, 2022.</a:t>
            </a:r>
          </a:p>
          <a:p>
            <a:pPr marL="342900" indent="-342900">
              <a:spcBef>
                <a:spcPts val="600"/>
              </a:spcBef>
            </a:pPr>
            <a:r>
              <a:rPr lang="en-GB" sz="1200" b="1" dirty="0"/>
              <a:t>[6] </a:t>
            </a:r>
            <a:r>
              <a:rPr lang="en-GB" sz="1200" dirty="0"/>
              <a:t>D. Li, Y. Li, and L. Wang, "Model and algorithms for emergency service facility location problem," in Proc. 2009 IITA Int. Conf. Services Sci., Manag. Eng. (SSME), pp. 15-18.</a:t>
            </a:r>
          </a:p>
          <a:p>
            <a:pPr marL="342900" indent="-342900">
              <a:spcBef>
                <a:spcPts val="600"/>
              </a:spcBef>
            </a:pPr>
            <a:r>
              <a:rPr lang="en-GB" sz="1200" b="1" dirty="0"/>
              <a:t>[7] </a:t>
            </a:r>
            <a:r>
              <a:rPr lang="en-GB" sz="1200" dirty="0"/>
              <a:t>L. Tanti, S. Efendi, M. S. Lydia, and H. </a:t>
            </a:r>
            <a:r>
              <a:rPr lang="en-GB" sz="1200" dirty="0" err="1"/>
              <a:t>Mawengkang</a:t>
            </a:r>
            <a:r>
              <a:rPr lang="en-GB" sz="1200" dirty="0"/>
              <a:t>, "Designing an optimization model for dynamic facility-location problem at post-disaster area considering uncertainty," in Proc. 2022 4th Int. Conf. </a:t>
            </a:r>
            <a:r>
              <a:rPr lang="en-GB" sz="1200" dirty="0" err="1"/>
              <a:t>Cybern</a:t>
            </a:r>
            <a:r>
              <a:rPr lang="en-GB" sz="1200" dirty="0"/>
              <a:t>. Intell. Syst. (ICORIS), pp. 1-6.</a:t>
            </a:r>
          </a:p>
          <a:p>
            <a:pPr marL="342900" indent="-342900">
              <a:spcBef>
                <a:spcPts val="600"/>
              </a:spcBef>
            </a:pPr>
            <a:r>
              <a:rPr lang="en-GB" sz="1200" b="1" dirty="0"/>
              <a:t>[8] </a:t>
            </a:r>
            <a:r>
              <a:rPr lang="en-GB" sz="1200" dirty="0"/>
              <a:t>S. Cui, S. Liu, X. Tang, and T. Zhu, "Emergency material allocation problem considering post-disaster impact," in Proc. 2019 8th Int. Conf. Ind. Technol. Manag. (ICITM), pp. 290-294.</a:t>
            </a:r>
          </a:p>
          <a:p>
            <a:pPr marL="342900" indent="-342900">
              <a:spcBef>
                <a:spcPts val="600"/>
              </a:spcBef>
            </a:pPr>
            <a:r>
              <a:rPr lang="en-GB" sz="1200" b="1" dirty="0"/>
              <a:t>[9] </a:t>
            </a:r>
            <a:r>
              <a:rPr lang="en-GB" sz="1200" dirty="0"/>
              <a:t>O. Rodriguez-Espindola, "Multi-period model for disaster management in simultaneous disasters," IEEE Trans. Eng. Manag., vol. 71, pp. 4971-4984, 2024.</a:t>
            </a:r>
          </a:p>
          <a:p>
            <a:pPr marL="342900" indent="-342900">
              <a:spcBef>
                <a:spcPts val="600"/>
              </a:spcBef>
            </a:pPr>
            <a:r>
              <a:rPr lang="en-GB" sz="1200" b="1" dirty="0"/>
              <a:t>[10] </a:t>
            </a:r>
            <a:r>
              <a:rPr lang="en-GB" sz="1200" dirty="0"/>
              <a:t>B. Rajalakshmi, P. Aswini, H. P. </a:t>
            </a:r>
            <a:r>
              <a:rPr lang="en-GB" sz="1200" dirty="0" err="1"/>
              <a:t>Thethi</a:t>
            </a:r>
            <a:r>
              <a:rPr lang="en-GB" sz="1200" dirty="0"/>
              <a:t>, H. R. Goyal, J. Sravanthi, and A. A. Hameed, "Utilizing artificial intelligence for efficient resource allocation and logistics in humanitarian aid," in Proc. 2024 1st Int. Conf. Sustain. </a:t>
            </a:r>
            <a:r>
              <a:rPr lang="en-GB" sz="1200" dirty="0" err="1"/>
              <a:t>Comput</a:t>
            </a:r>
            <a:r>
              <a:rPr lang="en-GB" sz="1200" dirty="0"/>
              <a:t>. </a:t>
            </a:r>
            <a:r>
              <a:rPr lang="en-GB" sz="1200" dirty="0" err="1"/>
              <a:t>Integr</a:t>
            </a:r>
            <a:r>
              <a:rPr lang="en-GB" sz="1200" dirty="0"/>
              <a:t>. Commun. Changing Landscape AI (ICSCAI), pp. 1-6.</a:t>
            </a:r>
          </a:p>
          <a:p>
            <a:pPr marL="342900" indent="-342900">
              <a:spcBef>
                <a:spcPts val="600"/>
              </a:spcBef>
            </a:pPr>
            <a:r>
              <a:rPr lang="en-GB" sz="1200" b="1" dirty="0"/>
              <a:t>[11] </a:t>
            </a:r>
            <a:r>
              <a:rPr lang="en-GB" sz="1200" dirty="0"/>
              <a:t>Sphere Association, The Sphere Handbook: Humanitarian Charter and Minimum Standards in Humanitarian Response, 4th ed. Geneva, Switzerland, 2018.</a:t>
            </a:r>
          </a:p>
          <a:p>
            <a:pPr marL="342900" indent="-342900">
              <a:spcBef>
                <a:spcPts val="600"/>
              </a:spcBef>
            </a:pPr>
            <a:endParaRPr lang="en-GB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672" y="1593809"/>
            <a:ext cx="3742444" cy="37829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62f681-7444-4666-891e-c71d42de2ddf">
      <Terms xmlns="http://schemas.microsoft.com/office/infopath/2007/PartnerControls"/>
    </lcf76f155ced4ddcb4097134ff3c332f>
    <TaxCatchAll xmlns="b8676f30-e579-463a-a8aa-821338b0037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A2C149D477E4E814B4B477F0E243C" ma:contentTypeVersion="13" ma:contentTypeDescription="Create a new document." ma:contentTypeScope="" ma:versionID="89242249e9f2fc9f35c8ac40d1749aa8">
  <xsd:schema xmlns:xsd="http://www.w3.org/2001/XMLSchema" xmlns:xs="http://www.w3.org/2001/XMLSchema" xmlns:p="http://schemas.microsoft.com/office/2006/metadata/properties" xmlns:ns2="ed62f681-7444-4666-891e-c71d42de2ddf" xmlns:ns3="b8676f30-e579-463a-a8aa-821338b00374" targetNamespace="http://schemas.microsoft.com/office/2006/metadata/properties" ma:root="true" ma:fieldsID="a661edb3eb918c130b5b038713d75e6b" ns2:_="" ns3:_="">
    <xsd:import namespace="ed62f681-7444-4666-891e-c71d42de2ddf"/>
    <xsd:import namespace="b8676f30-e579-463a-a8aa-821338b003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62f681-7444-4666-891e-c71d42de2d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4626717-1439-4315-99ce-985d7ba5c1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676f30-e579-463a-a8aa-821338b0037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f08d022-328e-4f53-b2cf-c730c7a35dee}" ma:internalName="TaxCatchAll" ma:showField="CatchAllData" ma:web="b8676f30-e579-463a-a8aa-821338b003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31A4896-B9C1-4471-B691-16FF8CBFF7E9}">
  <ds:schemaRefs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b8676f30-e579-463a-a8aa-821338b00374"/>
    <ds:schemaRef ds:uri="ed62f681-7444-4666-891e-c71d42de2ddf"/>
  </ds:schemaRefs>
</ds:datastoreItem>
</file>

<file path=customXml/itemProps2.xml><?xml version="1.0" encoding="utf-8"?>
<ds:datastoreItem xmlns:ds="http://schemas.openxmlformats.org/officeDocument/2006/customXml" ds:itemID="{13D2043A-A905-44DC-A627-E0BB4B1558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799BD1-F224-430F-A4F0-5AAD34602B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62f681-7444-4666-891e-c71d42de2ddf"/>
    <ds:schemaRef ds:uri="b8676f30-e579-463a-a8aa-821338b003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1723</Words>
  <Application>Microsoft Office PowerPoint</Application>
  <PresentationFormat>Widescreen</PresentationFormat>
  <Paragraphs>154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Cambria</vt:lpstr>
      <vt:lpstr>Verdana</vt:lpstr>
      <vt:lpstr>Bioinformatics</vt:lpstr>
      <vt:lpstr>PowerPoint Presentation</vt:lpstr>
      <vt:lpstr>EMERGENCY SHELTER ALLOCATION PLATFORM</vt:lpstr>
      <vt:lpstr>INDEX</vt:lpstr>
      <vt:lpstr>Problem Statement</vt:lpstr>
      <vt:lpstr>Objectives</vt:lpstr>
      <vt:lpstr>Literature / Research Understanding</vt:lpstr>
      <vt:lpstr>Methodology and Architecture</vt:lpstr>
      <vt:lpstr>Implementation Progress</vt:lpstr>
      <vt:lpstr>Individual Contribution</vt:lpstr>
      <vt:lpstr>GitHub Repository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Suhas S</cp:lastModifiedBy>
  <cp:revision>48</cp:revision>
  <dcterms:modified xsi:type="dcterms:W3CDTF">2026-09-25T18:21:15Z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0x010100FA8A2C149D477E4E814B4B477F0E243C</vt:lpwstr>
  </property>
</Properties>
</file>