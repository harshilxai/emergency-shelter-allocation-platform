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8"/>
  </p:notesMasterIdLst>
  <p:sldIdLst>
    <p:sldId id="274" r:id="rId5"/>
    <p:sldId id="256" r:id="rId6"/>
    <p:sldId id="257" r:id="rId7"/>
    <p:sldId id="269" r:id="rId8"/>
    <p:sldId id="273" r:id="rId9"/>
    <p:sldId id="275" r:id="rId10"/>
    <p:sldId id="277" r:id="rId11"/>
    <p:sldId id="276" r:id="rId12"/>
    <p:sldId id="272" r:id="rId13"/>
    <p:sldId id="268" r:id="rId14"/>
    <p:sldId id="270" r:id="rId15"/>
    <p:sldId id="265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99B6F38-D768-A670-DEF3-8469058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BCA4031-CC8F-236D-A27B-EA7F874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5DF2172-DEF1-9770-F577-039FE9713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761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255E8-76FD-C420-1987-D13B1E67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260288-5C20-329D-9AB3-D8C410F70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C5EB74-31E0-ABB2-15A4-4FB1F28C8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665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5D514E0-B1BE-2630-77D3-31C095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9E4099B-7B1F-A0FA-3ABB-CE9838C0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E08A7C6-D14D-41A9-F2DD-73866237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338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2DD66-7A7B-3141-248C-33B2198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87" y="-20500"/>
            <a:ext cx="12264887" cy="6898999"/>
          </a:xfrm>
          <a:prstGeom prst="rect">
            <a:avLst/>
          </a:prstGeom>
        </p:spPr>
      </p:pic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5EEC80A-389A-0914-B331-80471CDD5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1615" y="52673"/>
            <a:ext cx="7779079" cy="1309350"/>
          </a:xfrm>
          <a:prstGeom prst="rect">
            <a:avLst/>
          </a:prstGeom>
        </p:spPr>
      </p:pic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C0F06BD-D995-B09D-2B28-06CD559DF695}"/>
              </a:ext>
            </a:extLst>
          </p:cNvPr>
          <p:cNvSpPr/>
          <p:nvPr/>
        </p:nvSpPr>
        <p:spPr>
          <a:xfrm>
            <a:off x="-72888" y="5569149"/>
            <a:ext cx="12264887" cy="1309350"/>
          </a:xfrm>
          <a:prstGeom prst="roundRect">
            <a:avLst/>
          </a:prstGeom>
          <a:solidFill>
            <a:srgbClr val="08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AE776-B1B4-1F6F-0EE9-2D02B291CE9E}"/>
              </a:ext>
            </a:extLst>
          </p:cNvPr>
          <p:cNvSpPr txBox="1"/>
          <p:nvPr/>
        </p:nvSpPr>
        <p:spPr>
          <a:xfrm>
            <a:off x="4748252" y="5447308"/>
            <a:ext cx="2860077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Presidency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0268FC-2D4B-1595-4CC0-BF00B3A0E047}"/>
              </a:ext>
            </a:extLst>
          </p:cNvPr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FB6EA-449F-B759-D837-A2CDBD5E10E2}"/>
              </a:ext>
            </a:extLst>
          </p:cNvPr>
          <p:cNvSpPr txBox="1"/>
          <p:nvPr/>
        </p:nvSpPr>
        <p:spPr>
          <a:xfrm>
            <a:off x="2353623" y="6178261"/>
            <a:ext cx="79612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sz="3200" dirty="0"/>
              <a:t>School of Computer Science</a:t>
            </a:r>
            <a:r>
              <a:rPr lang="en-IN" sz="3200" dirty="0"/>
              <a:t> </a:t>
            </a:r>
            <a:r>
              <a:rPr sz="3200" dirty="0"/>
              <a:t>and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6A419-D98D-646B-0945-71577D3C9949}"/>
              </a:ext>
            </a:extLst>
          </p:cNvPr>
          <p:cNvSpPr/>
          <p:nvPr/>
        </p:nvSpPr>
        <p:spPr>
          <a:xfrm flipV="1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44D43-4EA8-BF96-7FC3-15A05CEA246A}"/>
              </a:ext>
            </a:extLst>
          </p:cNvPr>
          <p:cNvSpPr txBox="1"/>
          <p:nvPr/>
        </p:nvSpPr>
        <p:spPr>
          <a:xfrm>
            <a:off x="4072463" y="1168079"/>
            <a:ext cx="4240263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Mini Project (CSE7102)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REVIEW-1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29-08-2026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51140" y="951239"/>
            <a:ext cx="10363200" cy="89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7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Project ID: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59936243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Review-2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Program(s):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(Team Leader’s):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(Team Leader’s)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r.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Muthuraju V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69B82-28E1-6B84-884A-EF2B68034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291382"/>
              </p:ext>
            </p:extLst>
          </p:nvPr>
        </p:nvGraphicFramePr>
        <p:xfrm>
          <a:off x="429369" y="2820448"/>
          <a:ext cx="5542653" cy="1483360"/>
        </p:xfrm>
        <a:graphic>
          <a:graphicData uri="http://schemas.openxmlformats.org/drawingml/2006/table">
            <a:tbl>
              <a:tblPr firstRow="1" bandRow="1"/>
              <a:tblGrid>
                <a:gridCol w="659051">
                  <a:extLst>
                    <a:ext uri="{9D8B030D-6E8A-4147-A177-3AD203B41FA5}">
                      <a16:colId xmlns:a16="http://schemas.microsoft.com/office/drawing/2014/main" val="3892496743"/>
                    </a:ext>
                  </a:extLst>
                </a:gridCol>
                <a:gridCol w="2897486">
                  <a:extLst>
                    <a:ext uri="{9D8B030D-6E8A-4147-A177-3AD203B41FA5}">
                      <a16:colId xmlns:a16="http://schemas.microsoft.com/office/drawing/2014/main" val="1797090138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191578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Sl.No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Student Name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Roll Number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75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75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DAAE0D-9E2B-1BC4-51AE-E3E0CC59230D}"/>
              </a:ext>
            </a:extLst>
          </p:cNvPr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Group members details: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C68A9A96-FA24-D641-CFDC-9A25FFD27478}"/>
              </a:ext>
            </a:extLst>
          </p:cNvPr>
          <p:cNvSpPr txBox="1">
            <a:spLocks/>
          </p:cNvSpPr>
          <p:nvPr/>
        </p:nvSpPr>
        <p:spPr>
          <a:xfrm>
            <a:off x="7668155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Panel No:</a:t>
            </a:r>
          </a:p>
          <a:p>
            <a:pPr marL="0" indent="0" algn="l"/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NDEX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Problem statement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Objectives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Literature/research understanding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Methodology and architecture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Implementation progress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Individual contribution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GB" dirty="0">
                <a:solidFill>
                  <a:srgbClr val="FF0000"/>
                </a:solidFill>
              </a:rPr>
              <a:t>Clearly define the problem being addressed, the existing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GB" dirty="0">
                <a:solidFill>
                  <a:srgbClr val="FF0000"/>
                </a:solidFill>
              </a:rPr>
              <a:t>issue/gap, who is affected, and why the problem needs to be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GB" dirty="0">
                <a:solidFill>
                  <a:srgbClr val="FF0000"/>
                </a:solidFill>
              </a:rPr>
              <a:t>solved. Keep it specific to the project.</a:t>
            </a:r>
            <a:endParaRPr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List </a:t>
            </a:r>
            <a:r>
              <a:rPr lang="en-GB" b="1" dirty="0">
                <a:solidFill>
                  <a:srgbClr val="FF0000"/>
                </a:solidFill>
              </a:rPr>
              <a:t>3–5 clear and measurable objectives</a:t>
            </a:r>
            <a:r>
              <a:rPr lang="en-GB" dirty="0">
                <a:solidFill>
                  <a:srgbClr val="FF0000"/>
                </a:solidFill>
              </a:rPr>
              <a:t> of the project.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Objectives should directly address the identified problem and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explain what the project aims to achieve.</a:t>
            </a: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0CF3E6C-9D22-F1F7-4C96-42BCE8AC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5F6BE3-C2E7-E383-C049-39CB89CB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Literature/research understanding 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E2DF033-1663-A121-868A-192390F88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Present key existing studies/projects related to the problem.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Mention important findings, technologies/approaches used,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limitations of existing work, and the </a:t>
            </a:r>
            <a:r>
              <a:rPr lang="en-GB" b="1" dirty="0">
                <a:solidFill>
                  <a:srgbClr val="FF0000"/>
                </a:solidFill>
              </a:rPr>
              <a:t>research gap identified</a:t>
            </a:r>
            <a:r>
              <a:rPr lang="en-GB" dirty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654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D0BC35-19ED-73A9-EE75-1137E39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BB17B24-7E10-E0D9-F0F4-797FC7D4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Methodology and Architecture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656EE7D-C165-CFED-D8E1-B5E966F08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Explain the proposed approach to solve the problem. Include a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b="1" dirty="0">
                <a:solidFill>
                  <a:srgbClr val="FF0000"/>
                </a:solidFill>
              </a:rPr>
              <a:t>system architecture/block diagram</a:t>
            </a:r>
            <a:r>
              <a:rPr lang="en-GB" dirty="0">
                <a:solidFill>
                  <a:srgbClr val="FF0000"/>
                </a:solidFill>
              </a:rPr>
              <a:t>, workflow, major modules,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technologies used, and explain how the components interact.</a:t>
            </a: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35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8B1B47-DF01-E1F4-26F3-14B9F82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128998-8B2C-F90B-C9A2-EF57AD96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Implementation Progress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5B056FAF-9BF2-46B4-CC0B-9C32D2D94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Clearly show </a:t>
            </a:r>
            <a:r>
              <a:rPr lang="en-GB" b="1" dirty="0">
                <a:solidFill>
                  <a:srgbClr val="FF0000"/>
                </a:solidFill>
              </a:rPr>
              <a:t>what has been implemented so far</a:t>
            </a:r>
            <a:r>
              <a:rPr lang="en-GB" dirty="0">
                <a:solidFill>
                  <a:srgbClr val="FF0000"/>
                </a:solidFill>
              </a:rPr>
              <a:t>. Mention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completed modules/features, technologies implemented,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screenshots/code/output, testing status, and percentage of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code/work completed. </a:t>
            </a:r>
            <a:r>
              <a:rPr lang="en-GB" b="1" dirty="0">
                <a:solidFill>
                  <a:srgbClr val="FF0000"/>
                </a:solidFill>
              </a:rPr>
              <a:t>Minimum 50% implementation is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b="1" dirty="0">
                <a:solidFill>
                  <a:srgbClr val="FF0000"/>
                </a:solidFill>
              </a:rPr>
              <a:t>expected for Review–2.</a:t>
            </a: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Individual Contribution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Clearly specify the contribution of </a:t>
            </a:r>
            <a:r>
              <a:rPr lang="en-GB" b="1" dirty="0">
                <a:solidFill>
                  <a:srgbClr val="FF0000"/>
                </a:solidFill>
              </a:rPr>
              <a:t>each team member</a:t>
            </a:r>
            <a:r>
              <a:rPr lang="en-GB" dirty="0">
                <a:solidFill>
                  <a:srgbClr val="FF0000"/>
                </a:solidFill>
              </a:rPr>
              <a:t>. Mention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GB" dirty="0">
                <a:solidFill>
                  <a:srgbClr val="FF0000"/>
                </a:solidFill>
              </a:rPr>
              <a:t>the modules/tasks handled by each student, work completed, technical responsibilities, and their individual contribution to the current implementation.</a:t>
            </a: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Add APA Citation for all references.</a:t>
            </a:r>
          </a:p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 the below link for various APA styles :</a:t>
            </a:r>
          </a:p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https://www.indeed.com/career-advice/career-development/how-to-cite-a-research-paper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389</Words>
  <Application>Microsoft Office PowerPoint</Application>
  <PresentationFormat>Widescreen</PresentationFormat>
  <Paragraphs>86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Verdana</vt:lpstr>
      <vt:lpstr>Wingdings</vt:lpstr>
      <vt:lpstr>Bioinformatics</vt:lpstr>
      <vt:lpstr>PowerPoint Presentation</vt:lpstr>
      <vt:lpstr>PROJECT TITLE</vt:lpstr>
      <vt:lpstr>INDEX</vt:lpstr>
      <vt:lpstr>Problem Statement: </vt:lpstr>
      <vt:lpstr>Objectives</vt:lpstr>
      <vt:lpstr>Literature/research understanding </vt:lpstr>
      <vt:lpstr>Methodology and Architecture</vt:lpstr>
      <vt:lpstr>Implementation Progress</vt:lpstr>
      <vt:lpstr>Individual Contribution</vt:lpstr>
      <vt:lpstr>Github Link</vt:lpstr>
      <vt:lpstr>Conclusion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Muthuraju V</cp:lastModifiedBy>
  <cp:revision>47</cp:revision>
  <dcterms:modified xsi:type="dcterms:W3CDTF">2026-09-23T15:03:18Z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